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Sequence-similarity evidence next to the model predictions. Not a fourth EC predictor.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Steps 1 and 2 are the reference build. Steps 3 to 5 are one user request. The search code between them is a plain function with no web framework in it, so EnzymeX calls it from its existing scheduled job rather than taking any of my web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here is exotic and nothing conflicts. The web layer I used is FastAPI only because it was a standalone test server; the search code itself imports no web framework, so the Pyramid side needs no rewrite. BLAST+, HMMER, MAFFT and MMseqs2 are binaries rather than pip packages, which is why the environment is micromamba.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structural decision. Everything expensive runs offline; a request only reads files, so a misconfigured credential is unreachable from the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E-value depends on search space size and statistical model. BLAST and phmmer search all references, hmmscan searches the profile set. Recommendation: BLAST always, profiles optional, phmmer off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Superoxide dismutase has Cu/Zn, Mn/Fe and Ni enzymes under EC 1.15.1.1. A single per-EC profile would merge unrelated folds into a model that still produces confident-looking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BLAST versions, his parameters, identical top hit on every comparable query. Full test suite passes. On the leakage-controlled slice blastp top-hit EC agreement was 87.7%, but that cohort is truth-selected and narrow.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SwissProt_PDB_2022 set, a proxy for the real EnzymeX copy. Profiles were not built on this generation, so hmmscan figures come from the smaller fixture build. Without subject coverage the page would report a fusion partner's EC at near-perfect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access first. Schema check and rebuild are about a day each once granted. DIAMOND and blastp answer the same question at different sensitivity; my recommendation is BLAST always, profiles optional, phmmer off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3931920" cy="1014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60604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400" b="1">
                <a:solidFill>
                  <a:srgbClr val="18212B"/>
                </a:solidFill>
                <a:latin typeface="Malgun Gothic"/>
              </a:rPr>
              <a:t>BLAST and HMMER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349300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0">
                <a:solidFill>
                  <a:srgbClr val="52565B"/>
                </a:solidFill>
                <a:latin typeface="Malgun Gothic"/>
              </a:rPr>
              <a:t>Sequence similarity search for the result page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" y="4206240"/>
            <a:ext cx="1024128" cy="310896"/>
          </a:xfrm>
          <a:prstGeom prst="roundRect">
            <a:avLst/>
          </a:prstGeom>
          <a:solidFill>
            <a:srgbClr val="EAF4F7"/>
          </a:solidFill>
          <a:ln w="889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4215383"/>
            <a:ext cx="9509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1">
                <a:solidFill>
                  <a:srgbClr val="176B87"/>
                </a:solidFill>
                <a:latin typeface="Malgun Gothic"/>
              </a:rPr>
              <a:t>blastp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4206240"/>
            <a:ext cx="1115568" cy="310896"/>
          </a:xfrm>
          <a:prstGeom prst="roundRect">
            <a:avLst/>
          </a:prstGeom>
          <a:solidFill>
            <a:srgbClr val="EAF6F1"/>
          </a:solidFill>
          <a:ln w="8890">
            <a:solidFill>
              <a:srgbClr val="EA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9696" y="4215383"/>
            <a:ext cx="10424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1">
                <a:solidFill>
                  <a:srgbClr val="167C5A"/>
                </a:solidFill>
                <a:latin typeface="Malgun Gothic"/>
              </a:rPr>
              <a:t>phmmer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4206240"/>
            <a:ext cx="1188720" cy="310896"/>
          </a:xfrm>
          <a:prstGeom prst="roundRect">
            <a:avLst/>
          </a:prstGeom>
          <a:solidFill>
            <a:srgbClr val="F1EEFA"/>
          </a:solidFill>
          <a:ln w="8890">
            <a:solidFill>
              <a:srgbClr val="F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2424" y="4215383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50" b="1">
                <a:solidFill>
                  <a:srgbClr val="6554A4"/>
                </a:solidFill>
                <a:latin typeface="Malgun Gothic"/>
              </a:rPr>
              <a:t>hmmscan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58064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18212B"/>
                </a:solidFill>
                <a:latin typeface="Malgun Gothic"/>
              </a:rPr>
              <a:t>Vansh Sehrawat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615391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>
                <a:solidFill>
                  <a:srgbClr val="667085"/>
                </a:solidFill>
                <a:latin typeface="Malgun Gothic"/>
              </a:rPr>
              <a:t>August 4th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Workflow: what happens, and 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2048256" cy="420624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1   Export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Read the copied table once. Keep Swiss-Prot and PDB, drop bad rows, remove duplicates.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7" y="3310128"/>
            <a:ext cx="1682497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7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PyMySQL  -&gt;  FASTA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29484" y="2596896"/>
            <a:ext cx="137160" cy="219456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71215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71215" y="1481328"/>
            <a:ext cx="2048256" cy="420624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54096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2  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Turn that FASTA into files searchable in milliseconds, and cluster it into families.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54096" y="3310128"/>
            <a:ext cx="1682496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54096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makeblastdb, MMseqs2,</a:t>
            </a:r>
            <a:br/>
            <a:r>
              <a:rPr sz="950" b="0">
                <a:solidFill>
                  <a:srgbClr val="667085"/>
                </a:solidFill>
                <a:latin typeface="Consolas"/>
              </a:rPr>
              <a:t>MAFFT, hmmbuild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42331" y="2596896"/>
            <a:ext cx="137160" cy="219456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84064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4064" y="1481328"/>
            <a:ext cx="2048256" cy="420624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66944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3   Submit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A user pastes a sequence. It is parsed and checked before anything runs.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266944" y="3310128"/>
            <a:ext cx="1682496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66944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web form  -&gt;  FASTA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55179" y="2596896"/>
            <a:ext cx="137160" cy="219456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96912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96912" y="1481328"/>
            <a:ext cx="2048256" cy="420624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79792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4   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All three searches run against the built files. No database is touched.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79792" y="3310128"/>
            <a:ext cx="1682496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79792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blastp, phmmer, hmmscan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368028" y="2596896"/>
            <a:ext cx="137160" cy="219456"/>
          </a:xfrm>
          <a:prstGeom prst="rightArrow">
            <a:avLst/>
          </a:prstGeom>
          <a:solidFill>
            <a:srgbClr val="D9DEE7"/>
          </a:solidFill>
          <a:ln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509760" y="1481328"/>
            <a:ext cx="204825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9760" y="1481328"/>
            <a:ext cx="2048256" cy="420624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157276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5   Show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2048256"/>
            <a:ext cx="1700784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8212B"/>
                </a:solidFill>
                <a:latin typeface="Malgun Gothic"/>
              </a:rPr>
              <a:t>Attach EC, source and description to each hit, then render the tables.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692640" y="3310128"/>
            <a:ext cx="1682496" cy="0"/>
          </a:xfrm>
          <a:prstGeom prst="line">
            <a:avLst/>
          </a:prstGeom>
          <a:ln w="127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692640" y="340156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Consolas"/>
              </a:rPr>
              <a:t>SQLite  -&gt;  HTML, CSV, JSON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4169663"/>
            <a:ext cx="4261104" cy="1170432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435254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B71A1A"/>
                </a:solidFill>
                <a:latin typeface="Malgun Gothic"/>
              </a:rPr>
              <a:t>OFFLINE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47872" y="437083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1">
                <a:solidFill>
                  <a:srgbClr val="B71A1A"/>
                </a:solidFill>
                <a:latin typeface="Malgun Gothic"/>
              </a:rPr>
              <a:t>minutes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54880"/>
            <a:ext cx="371246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18212B"/>
                </a:solidFill>
                <a:latin typeface="Malgun Gothic"/>
              </a:rPr>
              <a:t>Runs on a schedule after each database refresh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84064" y="4169663"/>
            <a:ext cx="6455664" cy="1170432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58383" y="435254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176B87"/>
                </a:solidFill>
                <a:latin typeface="Malgun Gothic"/>
              </a:rPr>
              <a:t>ONLINE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68128" y="437083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300" b="1">
                <a:solidFill>
                  <a:srgbClr val="176B87"/>
                </a:solidFill>
                <a:latin typeface="Malgun Gothic"/>
              </a:rPr>
              <a:t>seconds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58383" y="4754880"/>
            <a:ext cx="590702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18212B"/>
                </a:solidFill>
                <a:latin typeface="Malgun Gothic"/>
              </a:rPr>
              <a:t>Runs per user request, inside the existing job queue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577840"/>
            <a:ext cx="10881360" cy="56692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74243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1">
                <a:solidFill>
                  <a:srgbClr val="52565B"/>
                </a:solidFill>
                <a:latin typeface="Malgun Gothic"/>
              </a:rPr>
              <a:t>Step 1 is the only database connection in the entire flow. Everything after it reads files written by step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63040"/>
            <a:ext cx="5285232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63040"/>
            <a:ext cx="5285232" cy="45720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This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975104"/>
            <a:ext cx="5248656" cy="420624"/>
          </a:xfrm>
          <a:prstGeom prst="rect">
            <a:avLst/>
          </a:prstGeom>
          <a:solidFill>
            <a:srgbClr val="FBECEC"/>
          </a:solidFill>
          <a:ln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299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0299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Python 3.11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4871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FastAPI + Jinja2, served by uvicorn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2889504"/>
            <a:ext cx="5248656" cy="420624"/>
          </a:xfrm>
          <a:prstGeom prst="rect">
            <a:avLst/>
          </a:prstGeom>
          <a:solidFill>
            <a:srgbClr val="FBECEC"/>
          </a:solidFill>
          <a:ln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443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29443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Pydantic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015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Databases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34015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MySQL read-only for the build, SQLite for search metadata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" y="3803904"/>
            <a:ext cx="5248656" cy="420624"/>
          </a:xfrm>
          <a:prstGeom prst="rect">
            <a:avLst/>
          </a:prstGeom>
          <a:solidFill>
            <a:srgbClr val="FBECEC"/>
          </a:solidFill>
          <a:ln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587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38587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BLAST+ 2.16.0, HMMER 3.4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159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Build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1448" y="43159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MMseqs2, MAFFT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" y="4718304"/>
            <a:ext cx="5248656" cy="420624"/>
          </a:xfrm>
          <a:prstGeom prst="rect">
            <a:avLst/>
          </a:prstGeom>
          <a:solidFill>
            <a:srgbClr val="FBECEC"/>
          </a:solidFill>
          <a:ln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73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41448" y="47731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2303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Environment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1448" y="5230368"/>
            <a:ext cx="32278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micromamba, Docker Compose or systemd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5352" y="1463040"/>
            <a:ext cx="5294376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352" y="1463040"/>
            <a:ext cx="5294376" cy="457200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1384" y="1572768"/>
            <a:ext cx="478231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EnzymeX, existing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1975104"/>
            <a:ext cx="5257800" cy="420624"/>
          </a:xfrm>
          <a:prstGeom prst="rect">
            <a:avLst/>
          </a:prstGeom>
          <a:solidFill>
            <a:srgbClr val="EAF4F7"/>
          </a:solidFill>
          <a:ln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1384" y="20299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Language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20299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01384" y="2487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Web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4871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Pyramid, behind uWSGI and nginx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889504"/>
            <a:ext cx="5257800" cy="420624"/>
          </a:xfrm>
          <a:prstGeom prst="rect">
            <a:avLst/>
          </a:prstGeom>
          <a:solidFill>
            <a:srgbClr val="EAF4F7"/>
          </a:solidFill>
          <a:ln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01384" y="29443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Templates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8431" y="29443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Jinja2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1384" y="34015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Database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8431" y="34015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MySQL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803904"/>
            <a:ext cx="5257800" cy="420624"/>
          </a:xfrm>
          <a:prstGeom prst="rect">
            <a:avLst/>
          </a:prstGeom>
          <a:solidFill>
            <a:srgbClr val="EAF4F7"/>
          </a:solidFill>
          <a:ln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01384" y="38587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Models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8431" y="38587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ECPICK, HIT-EC, CLEAN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01384" y="43159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Similarity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28431" y="43159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DIAMOND, Clustal Omega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4718304"/>
            <a:ext cx="5257800" cy="420624"/>
          </a:xfrm>
          <a:prstGeom prst="rect">
            <a:avLst/>
          </a:prstGeom>
          <a:solidFill>
            <a:srgbClr val="EAF4F7"/>
          </a:solidFill>
          <a:ln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4773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Jobs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28431" y="47731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scheduler with a runner table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01384" y="52303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1">
                <a:solidFill>
                  <a:srgbClr val="52565B"/>
                </a:solidFill>
                <a:latin typeface="Malgun Gothic"/>
              </a:rPr>
              <a:t>Data pulling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5230368"/>
            <a:ext cx="323697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18212B"/>
                </a:solidFill>
                <a:latin typeface="Malgun Gothic"/>
              </a:rPr>
              <a:t>cron, quarterly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8368" y="5806440"/>
            <a:ext cx="10881360" cy="56692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597103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1">
                <a:solidFill>
                  <a:srgbClr val="52565B"/>
                </a:solidFill>
                <a:latin typeface="Malgun Gothic"/>
              </a:rPr>
              <a:t>Same language, same database engine. The integration point is one function call from the existing scheduler.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Build once, search many times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63040"/>
            <a:ext cx="5285232" cy="3200400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19072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176B87"/>
                </a:solidFill>
                <a:latin typeface="Malgun Gothic"/>
              </a:rPr>
              <a:t>Offline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40280"/>
            <a:ext cx="4736592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The only step that opens the database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Filters, deduplicates, writes FASTA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Builds the BLAST index and the profiles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One build ID on every artifact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Minutes, on a schedule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463040"/>
            <a:ext cx="5294376" cy="3200400"/>
          </a:xfrm>
          <a:prstGeom prst="roundRect">
            <a:avLst/>
          </a:prstGeom>
          <a:solidFill>
            <a:srgbClr val="EAF6F1"/>
          </a:solidFill>
          <a:ln w="12700">
            <a:solidFill>
              <a:srgbClr val="EA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719072"/>
            <a:ext cx="47457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167C5A"/>
                </a:solidFill>
                <a:latin typeface="Malgun Gothic"/>
              </a:rPr>
              <a:t>Online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240280"/>
            <a:ext cx="4745736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Reads the built files only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No database connection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Metadata from the same build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Seconds per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98348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983480"/>
            <a:ext cx="82296" cy="91440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B71A1A"/>
                </a:solidFill>
                <a:latin typeface="Malgun Gothic"/>
              </a:rPr>
              <a:t>No DB at request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589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2565B"/>
                </a:solidFill>
                <a:latin typeface="Malgun Gothic"/>
              </a:rPr>
              <a:t>cannot slow or leak the database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5" y="498348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5" y="4983480"/>
            <a:ext cx="82296" cy="914400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176B87"/>
                </a:solidFill>
                <a:latin typeface="Malgun Gothic"/>
              </a:rPr>
              <a:t>One build 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54589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2565B"/>
                </a:solidFill>
                <a:latin typeface="Malgun Gothic"/>
              </a:rPr>
              <a:t>hit and EC label from one snapshot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4983480"/>
            <a:ext cx="34747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4983480"/>
            <a:ext cx="82296" cy="914400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51389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>
                <a:solidFill>
                  <a:srgbClr val="167C5A"/>
                </a:solidFill>
                <a:latin typeface="Malgun Gothic"/>
              </a:rPr>
              <a:t>Slow work done once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589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>
                <a:solidFill>
                  <a:srgbClr val="52565B"/>
                </a:solidFill>
                <a:latin typeface="Malgun Gothic"/>
              </a:rPr>
              <a:t>indexing off the request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Three searches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08760"/>
            <a:ext cx="3520440" cy="109728"/>
          </a:xfrm>
          <a:prstGeom prst="rect">
            <a:avLst/>
          </a:prstGeom>
          <a:solidFill>
            <a:srgbClr val="176B87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>
                <a:solidFill>
                  <a:srgbClr val="176B87"/>
                </a:solidFill>
                <a:latin typeface="Malgun Gothic"/>
              </a:rPr>
              <a:t>blastp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Malgun Gothic"/>
              </a:rPr>
              <a:t>pairwise alignment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Every reference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Identity and coverage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Default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50876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508760"/>
            <a:ext cx="3520440" cy="109728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10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>
                <a:solidFill>
                  <a:srgbClr val="167C5A"/>
                </a:solidFill>
                <a:latin typeface="Malgun Gothic"/>
              </a:rPr>
              <a:t>phmmer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Malgun Gothic"/>
              </a:rPr>
              <a:t>query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97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Every reference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Different statistics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4-5x slower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508760"/>
            <a:ext cx="352044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508760"/>
            <a:ext cx="3520440" cy="109728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1810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1">
                <a:solidFill>
                  <a:srgbClr val="6554A4"/>
                </a:solidFill>
                <a:latin typeface="Malgun Gothic"/>
              </a:rPr>
              <a:t>hmmscan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>
                <a:solidFill>
                  <a:srgbClr val="667085"/>
                </a:solidFill>
                <a:latin typeface="Malgun Gothic"/>
              </a:rPr>
              <a:t>family profiles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2697480"/>
            <a:ext cx="3017520" cy="173736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QC-passing families only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Finds distant relatives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>
                <a:solidFill>
                  <a:srgbClr val="18212B"/>
                </a:solidFill>
                <a:latin typeface="Malgun Gothic"/>
              </a:rPr>
              <a:t>•  Returns a family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029200"/>
            <a:ext cx="10881360" cy="914400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23036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A76500"/>
                </a:solidFill>
                <a:latin typeface="Malgun Gothic"/>
              </a:rPr>
              <a:t>Three separate tables, never merged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7784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0">
                <a:solidFill>
                  <a:srgbClr val="A76500"/>
                </a:solidFill>
                <a:latin typeface="Malgun Gothic"/>
              </a:rPr>
              <a:t>E-values are not comparable across methods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Profile HMMs are built by sequence, not by 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63040"/>
            <a:ext cx="5285232" cy="2377440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19072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B71A1A"/>
                </a:solidFill>
                <a:latin typeface="Malgun Gothic"/>
              </a:rPr>
              <a:t>Not one profile per 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40280"/>
            <a:ext cx="4736592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An EC names a reaction, not a family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Same reaction, unrelated folds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Merging them models nothing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463040"/>
            <a:ext cx="5294376" cy="2377440"/>
          </a:xfrm>
          <a:prstGeom prst="roundRect">
            <a:avLst/>
          </a:prstGeom>
          <a:solidFill>
            <a:srgbClr val="F1EEFA"/>
          </a:solidFill>
          <a:ln w="12700">
            <a:solidFill>
              <a:srgbClr val="F1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719072"/>
            <a:ext cx="47457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6554A4"/>
                </a:solidFill>
                <a:latin typeface="Malgun Gothic"/>
              </a:rPr>
              <a:t>One profile per cluster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240280"/>
            <a:ext cx="4745736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MMseqs2, 35% identity / 80% coverage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QC gates, then MAFFT and hmmbuild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EC attached after, purity reported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14800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18212B"/>
                </a:solidFill>
                <a:latin typeface="Malgun Gothic"/>
              </a:rPr>
              <a:t>One EC number, many sequence families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5262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526280"/>
            <a:ext cx="82296" cy="960120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46725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6554A4"/>
                </a:solidFill>
                <a:latin typeface="Malgun Gothic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1297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glutathione transferase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45262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4526280"/>
            <a:ext cx="82296" cy="960120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6" y="46725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6554A4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51297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carbonic anhydrase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45262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4526280"/>
            <a:ext cx="82296" cy="960120"/>
          </a:xfrm>
          <a:prstGeom prst="rect">
            <a:avLst/>
          </a:prstGeom>
          <a:solidFill>
            <a:srgbClr val="6554A4"/>
          </a:solidFill>
          <a:ln>
            <a:solidFill>
              <a:srgbClr val="6554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6725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6554A4"/>
                </a:solidFill>
                <a:latin typeface="Malgun Gothic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51297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superoxide dismutase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715000"/>
            <a:ext cx="10881360" cy="502920"/>
          </a:xfrm>
          <a:prstGeom prst="roundRect">
            <a:avLst/>
          </a:prstGeom>
          <a:solidFill>
            <a:srgbClr val="EAF6F1"/>
          </a:solidFill>
          <a:ln w="12700">
            <a:solidFill>
              <a:srgbClr val="EAF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8521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1">
                <a:solidFill>
                  <a:srgbClr val="167C5A"/>
                </a:solidFill>
                <a:latin typeface="Malgun Gothic"/>
              </a:rPr>
              <a:t>A human Mn-SOD query matches only the Mn/Fe families, none of the Cu/Zn 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Validation against the existing BLAST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54480"/>
            <a:ext cx="10881360" cy="1691640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400" b="1">
                <a:solidFill>
                  <a:srgbClr val="176B87"/>
                </a:solidFill>
                <a:latin typeface="Malgun Gothic"/>
              </a:rPr>
              <a:t>452 / 452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700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176B87"/>
                </a:solidFill>
                <a:latin typeface="Malgun Gothic"/>
              </a:rPr>
              <a:t>identical top hit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965960"/>
            <a:ext cx="6217920" cy="1188720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Beomsu's query set, his parameters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BLAST+ 2.5, evalue 1e-5, max_target_seqs 100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>
                <a:solidFill>
                  <a:srgbClr val="18212B"/>
                </a:solidFill>
                <a:latin typeface="Malgun Gothic"/>
              </a:rPr>
              <a:t>•  Confirms the pipeline reproduces the existing 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118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3611880"/>
            <a:ext cx="82296" cy="960120"/>
          </a:xfrm>
          <a:prstGeom prst="rect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7581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52565B"/>
                </a:solidFill>
                <a:latin typeface="Malgun Gothic"/>
              </a:rPr>
              <a:t>450 / 452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2153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same top-25 subject 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36118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3611880"/>
            <a:ext cx="82296" cy="960120"/>
          </a:xfrm>
          <a:prstGeom prst="rect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37581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52565B"/>
                </a:solidFill>
                <a:latin typeface="Malgun Gothic"/>
              </a:rPr>
              <a:t>447 / 452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2153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same top score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61188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3611880"/>
            <a:ext cx="82296" cy="960120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3758184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167C5A"/>
                </a:solidFill>
                <a:latin typeface="Malgun Gothic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421538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provenance mismatches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92040"/>
            <a:ext cx="10881360" cy="1051560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1">
                <a:solidFill>
                  <a:srgbClr val="A76500"/>
                </a:solidFill>
                <a:latin typeface="Malgun Gothic"/>
              </a:rPr>
              <a:t>This is a correctness check, not an accuracy 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4681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50" b="0">
                <a:solidFill>
                  <a:srgbClr val="A76500"/>
                </a:solidFill>
                <a:latin typeface="Malgun Gothic"/>
              </a:rPr>
              <a:t>EC agreement was measured separately, on a narrow leakage-controlled slice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Rebuilt on real Swiss-Prot and PDB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08760"/>
            <a:ext cx="82296" cy="960120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55063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B71A1A"/>
                </a:solidFill>
                <a:latin typeface="Malgun Gothic"/>
              </a:rPr>
              <a:t>272,112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1226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references built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50876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4256" y="1508760"/>
            <a:ext cx="82296" cy="960120"/>
          </a:xfrm>
          <a:prstGeom prst="rect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655063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52565B"/>
                </a:solidFill>
                <a:latin typeface="Malgun Gothic"/>
              </a:rPr>
              <a:t>4.5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11226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offline build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508760"/>
            <a:ext cx="3520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508760"/>
            <a:ext cx="82296" cy="960120"/>
          </a:xfrm>
          <a:prstGeom prst="rect">
            <a:avLst/>
          </a:prstGeom>
          <a:solidFill>
            <a:srgbClr val="167C5A"/>
          </a:solidFill>
          <a:ln>
            <a:solidFill>
              <a:srgbClr val="167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655063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1">
                <a:solidFill>
                  <a:srgbClr val="167C5A"/>
                </a:solidFill>
                <a:latin typeface="Malgun Gothic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11226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>
                <a:solidFill>
                  <a:srgbClr val="52565B"/>
                </a:solidFill>
                <a:latin typeface="Malgun Gothic"/>
              </a:rPr>
              <a:t>search code changes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63347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 b="0">
                <a:solidFill>
                  <a:srgbClr val="667085"/>
                </a:solidFill>
                <a:latin typeface="Malgun Gothic"/>
              </a:rPr>
              <a:t>231,577 Swiss-Prot  ·  40,535 PDB  ·  blastp 1.8 s and phmmer 7.1 s per query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063240"/>
            <a:ext cx="5285232" cy="2788920"/>
          </a:xfrm>
          <a:prstGeom prst="roundRect">
            <a:avLst/>
          </a:prstGeom>
          <a:solidFill>
            <a:srgbClr val="FFF5DF"/>
          </a:solidFill>
          <a:ln w="12700">
            <a:solidFill>
              <a:srgbClr val="FFF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319272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A76500"/>
                </a:solidFill>
                <a:latin typeface="Malgun Gothic"/>
              </a:rPr>
              <a:t>What real data exposed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840480"/>
            <a:ext cx="4736592" cy="1783079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GFP is not an enzyme, but returns 25 hits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All are PDB fusion constructs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15 carry an EC, 8 different values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None of them belong to GFP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063240"/>
            <a:ext cx="5294376" cy="2788920"/>
          </a:xfrm>
          <a:prstGeom prst="roundRect">
            <a:avLst/>
          </a:prstGeom>
          <a:solidFill>
            <a:srgbClr val="EAF4F7"/>
          </a:solidFill>
          <a:ln w="12700">
            <a:solidFill>
              <a:srgbClr val="EA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319272"/>
            <a:ext cx="474573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176B87"/>
                </a:solidFill>
                <a:latin typeface="Malgun Gothic"/>
              </a:rPr>
              <a:t>What already catches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3840480"/>
            <a:ext cx="4745736" cy="1783079"/>
          </a:xfrm>
          <a:prstGeom prst="rect">
            <a:avLst/>
          </a:prstGeom>
          <a:noFill/>
        </p:spPr>
        <p:txBody>
          <a:bodyPr wrap="square" lIns="18288" rIns="18288" tIns="18288" bIns="18288">
            <a:no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Query coverage 1.00, subject coverage 0.55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The gap is the fusion signature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Computed from merged HSP intervals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>
                <a:solidFill>
                  <a:srgbClr val="18212B"/>
                </a:solidFill>
                <a:latin typeface="Malgun Gothic"/>
              </a:rPr>
              <a:t>•  BLAST+ has no subject-coverage field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1">
                <a:solidFill>
                  <a:srgbClr val="18212B"/>
                </a:solidFill>
                <a:latin typeface="Malgun Gothic"/>
              </a:rPr>
              <a:t>What I need, and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566928"/>
            <a:ext cx="3200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0">
                <a:solidFill>
                  <a:srgbClr val="667085"/>
                </a:solidFill>
                <a:latin typeface="Malgun Gothic"/>
              </a:rPr>
              <a:t>9</a:t>
            </a:r>
          </a:p>
        </p:txBody>
      </p:sp>
      <p:sp>
        <p:nvSpPr>
          <p:cNvPr id="5" name="Oval 4"/>
          <p:cNvSpPr/>
          <p:nvPr/>
        </p:nvSpPr>
        <p:spPr>
          <a:xfrm>
            <a:off x="749808" y="1600200"/>
            <a:ext cx="475488" cy="475488"/>
          </a:xfrm>
          <a:prstGeom prst="ellipse">
            <a:avLst/>
          </a:prstGeom>
          <a:solidFill>
            <a:srgbClr val="B71A1A"/>
          </a:solidFill>
          <a:ln>
            <a:solidFill>
              <a:srgbClr val="B7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682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87552" y="2103120"/>
            <a:ext cx="0" cy="594360"/>
          </a:xfrm>
          <a:prstGeom prst="line">
            <a:avLst/>
          </a:prstGeom>
          <a:ln w="254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481328" y="1545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B71A1A"/>
                </a:solidFill>
                <a:latin typeface="Malgun Gothic"/>
              </a:rPr>
              <a:t>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892807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Read-only database copy and the EnzymeX repository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2743200"/>
            <a:ext cx="475488" cy="475488"/>
          </a:xfrm>
          <a:prstGeom prst="ellipse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825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87552" y="3246120"/>
            <a:ext cx="0" cy="594360"/>
          </a:xfrm>
          <a:prstGeom prst="line">
            <a:avLst/>
          </a:prstGeom>
          <a:ln w="254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481328" y="2688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52565B"/>
                </a:solidFill>
                <a:latin typeface="Malgun Gothic"/>
              </a:rPr>
              <a:t>Verify the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03580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Primary key, storage engine, source labels, UniprotID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886200"/>
            <a:ext cx="475488" cy="475488"/>
          </a:xfrm>
          <a:prstGeom prst="ellipse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968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7552" y="4389120"/>
            <a:ext cx="0" cy="594360"/>
          </a:xfrm>
          <a:prstGeom prst="line">
            <a:avLst/>
          </a:prstGeom>
          <a:ln w="25400">
            <a:solidFill>
              <a:srgbClr val="D9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81328" y="3831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52565B"/>
                </a:solidFill>
                <a:latin typeface="Malgun Gothic"/>
              </a:rPr>
              <a:t>Rebuild on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17880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Re-measure, and build the profile layer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5029200"/>
            <a:ext cx="475488" cy="475488"/>
          </a:xfrm>
          <a:prstGeom prst="ellipse">
            <a:avLst/>
          </a:prstGeom>
          <a:solidFill>
            <a:srgbClr val="52565B"/>
          </a:solidFill>
          <a:ln>
            <a:solidFill>
              <a:srgbClr val="525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51114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974336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52565B"/>
                </a:solidFill>
                <a:latin typeface="Malgun Gothic"/>
              </a:rPr>
              <a:t>Wire into the scheduler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532180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50" b="0">
                <a:solidFill>
                  <a:srgbClr val="52565B"/>
                </a:solidFill>
                <a:latin typeface="Malgun Gothic"/>
              </a:rPr>
              <a:t>Alongside ECPICK, HIT-EC and CLEAN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85632" y="1508760"/>
            <a:ext cx="3054096" cy="4434840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0" y="17830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1">
                <a:solidFill>
                  <a:srgbClr val="B71A1A"/>
                </a:solidFill>
                <a:latin typeface="Malgun Gothic"/>
              </a:rPr>
              <a:t>To decide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2468880"/>
            <a:ext cx="24871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60604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DIAMOND and BLAST both on the page, or one?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3703320"/>
            <a:ext cx="24871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38404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50" b="1">
                <a:solidFill>
                  <a:srgbClr val="18212B"/>
                </a:solidFill>
                <a:latin typeface="Malgun Gothic"/>
              </a:rPr>
              <a:t>phmmer by default, or optional?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12064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>
                <a:solidFill>
                  <a:srgbClr val="B71A1A"/>
                </a:solidFill>
                <a:latin typeface="Malgun Gothic"/>
              </a:rPr>
              <a:t>Access is the blocker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BLAST and HMMER for EnzymeX</dc:title>
  <dc:subject/>
  <dc:creator>Vansh Sehrawat</dc:creator>
  <cp:keywords/>
  <dc:description/>
  <cp:lastModifiedBy>Vansh Sehrawat</cp:lastModifiedBy>
  <cp:revision>1</cp:revision>
  <dcterms:created xsi:type="dcterms:W3CDTF">2026-08-02T12:00:00Z</dcterms:created>
  <dcterms:modified xsi:type="dcterms:W3CDTF">2026-08-02T12:00:00Z</dcterms:modified>
  <cp:category/>
</cp:coreProperties>
</file>