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independent prototype. Nothing has been deployed to or changed in the official EnzymeX codebase. The goal was to validate the reference-building, search, metadata, and output flow before production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core is independent of the FastAPI test interface. EnzymeX can call the same run_search service from its existing Pyramid scheduled-job pipeline. A user search reads only the built artifacts, so there is no database connection at request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accounting closes exactly: 2,677 rows minus 930 unselected sources, 53 QC failures, and 120 selected-source exact duplicates leaves 1,574 canonical references. Eight PDB-first duplicate groups were promoted to Swiss-Prot canonical metadata. The fixture's PDB labels are synthetic, so this proves the source-policy code but not genuine PDB ingestion.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blastp and phmmer cover the whole exported reference set. hmmscan covers only families that pass profile quality control. Profiles are built from sequence clusters rather than EC numbers because one EC can include unrelated folds. The application defaults shown here differ from the exact BLAST reproduction, which used Beomsu's E-value of 1e-5.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BLAST writes a custom 13-column outfmt 6 TSV. phmmer and hmmscan each write tblout for sequence-level hits and domtblout for domain coordinates and scores. The parsers normalize those raw files and attach EC/source metadata from the matching reference build. The web header records the job ID, reference build ID, query count, total runtime, and export links. CSV is one row per hit, while JSON keeps the nested job, query, method, and hit structure. No-hit and failed methods still emit a status row. HMMER does not report the same percent identity quantity as BLAST, so that field is left empty rather than invented.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cross-version result is exact raw top-hit agreement for every comparable query in the 500-query reproduction cohort. Exact top score also matched for 447 of 452. The smaller EC table is useful for checking behavior on labels that the development reference actually covers, but it must not be presented as overall EnzymeX accuracy. It supports BLAST as the default sequence evidence and profile HMMs as optional family evidence; it does not justify running slower phmmer for every production job. Read the last two rows together. hmmscan is not the most accurate method: on the identical 279-query cohort the sequence methods are perfect and hmmscan misses seven. The profile-common slice is the easiest part of the selected cohort, so its higher percentage reflects the cohort, not the method. Outside that slice BLAST produced hits for 35 of 70 queries and its top hit shared an EC for 27, which is where the 87.68% comes from.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positive sequence is a human mitochondrial manganese superoxide dismutase. The methods agree on close relatives and the profile layer selects the correct Mn/Fe families without selecting unrelated Cu/Zn proteins that share the same EC. GFP returns no hits from all three methods. That is not a claim that a no-hit protein is not an enzyme; it only says this reference set has no detectable relative under the current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SwissProt_PDB_2022 set from the datax-lab HIT-EC repository is 273,500 rows, loaded into a separate database so the fixture build stays intact. It is a proxy for the real EnzymeX copy, not the copy itself, but it is genuine PDB provenance rather than synthetic labels. Nothing in the search code changed; the only new file is a loader script. GFP is the useful result. PDB is full of fusion constructs where GFP is joined to another protein for imaging, so a GFP query matches the GFP half at near-perfect identity and inherits the partner's EC number. The query covers the full alignment while the subject does not, and that asymmetry is the tell. This failure mode could not appear in the fixture, which contains no real PDB entries. Also note the positive control is now a self-match: P04179 is present in this set at 100% identity, so the held-out positive demo still needs the fixture build.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uncertainty is the actual EnzymeX schema and genuine PDB provenance, not the standalone search implementation. The first meeting outcome should be read-only access. The other decisions are product choices: how BLAST relates to DIAMOND and whether slower phmmer should run by default. Production deployment also needs versioned reference generations with an atomic active-generation switch.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914400" y="658368"/>
            <a:ext cx="4069080" cy="1049578"/>
          </a:xfrm>
          <a:prstGeom prst="rect">
            <a:avLst/>
          </a:prstGeom>
        </p:spPr>
      </p:pic>
      <p:sp>
        <p:nvSpPr>
          <p:cNvPr id="4" name="Rounded Rectangle 3"/>
          <p:cNvSpPr/>
          <p:nvPr/>
        </p:nvSpPr>
        <p:spPr>
          <a:xfrm>
            <a:off x="9070848" y="731520"/>
            <a:ext cx="2148840" cy="310896"/>
          </a:xfrm>
          <a:prstGeom prst="roundRect">
            <a:avLst/>
          </a:prstGeom>
          <a:solidFill>
            <a:srgbClr val="FBECEC"/>
          </a:solidFill>
          <a:ln w="889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07424" y="740664"/>
            <a:ext cx="2075688" cy="256032"/>
          </a:xfrm>
          <a:prstGeom prst="rect">
            <a:avLst/>
          </a:prstGeom>
          <a:noFill/>
        </p:spPr>
        <p:txBody>
          <a:bodyPr wrap="square" lIns="0" rIns="0" tIns="0" bIns="0" anchor="ctr">
            <a:noAutofit/>
          </a:bodyPr>
          <a:lstStyle/>
          <a:p>
            <a:pPr algn="ctr"/>
            <a:r>
              <a:rPr sz="1050" b="1">
                <a:solidFill>
                  <a:srgbClr val="B71A1A"/>
                </a:solidFill>
                <a:latin typeface="Malgun Gothic"/>
              </a:rPr>
              <a:t>STANDALONE VALIDATION</a:t>
            </a:r>
          </a:p>
        </p:txBody>
      </p:sp>
      <p:sp>
        <p:nvSpPr>
          <p:cNvPr id="6" name="TextBox 5"/>
          <p:cNvSpPr txBox="1"/>
          <p:nvPr/>
        </p:nvSpPr>
        <p:spPr>
          <a:xfrm>
            <a:off x="914400" y="2057400"/>
            <a:ext cx="9966960" cy="1325880"/>
          </a:xfrm>
          <a:prstGeom prst="rect">
            <a:avLst/>
          </a:prstGeom>
          <a:noFill/>
        </p:spPr>
        <p:txBody>
          <a:bodyPr wrap="square" lIns="0" rIns="0" tIns="0" bIns="0" anchor="ctr">
            <a:noAutofit/>
          </a:bodyPr>
          <a:lstStyle/>
          <a:p>
            <a:pPr algn="l"/>
            <a:r>
              <a:rPr sz="3800" b="1">
                <a:solidFill>
                  <a:srgbClr val="18212B"/>
                </a:solidFill>
                <a:latin typeface="Malgun Gothic"/>
              </a:rPr>
              <a:t>BLAST + HMMER evidence</a:t>
            </a:r>
            <a:br/>
            <a:r>
              <a:rPr sz="3800" b="1">
                <a:solidFill>
                  <a:srgbClr val="18212B"/>
                </a:solidFill>
                <a:latin typeface="Malgun Gothic"/>
              </a:rPr>
              <a:t>for EnzymeX</a:t>
            </a:r>
          </a:p>
        </p:txBody>
      </p:sp>
      <p:sp>
        <p:nvSpPr>
          <p:cNvPr id="7" name="TextBox 6"/>
          <p:cNvSpPr txBox="1"/>
          <p:nvPr/>
        </p:nvSpPr>
        <p:spPr>
          <a:xfrm>
            <a:off x="941832" y="3584448"/>
            <a:ext cx="9875520" cy="566928"/>
          </a:xfrm>
          <a:prstGeom prst="rect">
            <a:avLst/>
          </a:prstGeom>
          <a:noFill/>
        </p:spPr>
        <p:txBody>
          <a:bodyPr wrap="square" lIns="0" rIns="0" tIns="0" bIns="0" anchor="t">
            <a:noAutofit/>
          </a:bodyPr>
          <a:lstStyle/>
          <a:p>
            <a:pPr algn="l"/>
            <a:r>
              <a:rPr sz="1800" b="0">
                <a:solidFill>
                  <a:srgbClr val="52565B"/>
                </a:solidFill>
                <a:latin typeface="Malgun Gothic"/>
              </a:rPr>
              <a:t>Swiss-Prot + PDB source-policy fixture build, search output, and external fold validation</a:t>
            </a:r>
          </a:p>
        </p:txBody>
      </p:sp>
      <p:sp>
        <p:nvSpPr>
          <p:cNvPr id="8" name="Rounded Rectangle 7"/>
          <p:cNvSpPr/>
          <p:nvPr/>
        </p:nvSpPr>
        <p:spPr>
          <a:xfrm>
            <a:off x="941832" y="4480560"/>
            <a:ext cx="1024128"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489704"/>
            <a:ext cx="950976" cy="256032"/>
          </a:xfrm>
          <a:prstGeom prst="rect">
            <a:avLst/>
          </a:prstGeom>
          <a:noFill/>
        </p:spPr>
        <p:txBody>
          <a:bodyPr wrap="square" lIns="0" rIns="0" tIns="0" bIns="0" anchor="ctr">
            <a:noAutofit/>
          </a:bodyPr>
          <a:lstStyle/>
          <a:p>
            <a:pPr algn="ctr"/>
            <a:r>
              <a:rPr sz="1050" b="1">
                <a:solidFill>
                  <a:srgbClr val="176B87"/>
                </a:solidFill>
                <a:latin typeface="Malgun Gothic"/>
              </a:rPr>
              <a:t>blastp</a:t>
            </a:r>
          </a:p>
        </p:txBody>
      </p:sp>
      <p:sp>
        <p:nvSpPr>
          <p:cNvPr id="10" name="Rounded Rectangle 9"/>
          <p:cNvSpPr/>
          <p:nvPr/>
        </p:nvSpPr>
        <p:spPr>
          <a:xfrm>
            <a:off x="2103120" y="4480560"/>
            <a:ext cx="1115568"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9696" y="4489704"/>
            <a:ext cx="1042415" cy="256032"/>
          </a:xfrm>
          <a:prstGeom prst="rect">
            <a:avLst/>
          </a:prstGeom>
          <a:noFill/>
        </p:spPr>
        <p:txBody>
          <a:bodyPr wrap="square" lIns="0" rIns="0" tIns="0" bIns="0" anchor="ctr">
            <a:noAutofit/>
          </a:bodyPr>
          <a:lstStyle/>
          <a:p>
            <a:pPr algn="ctr"/>
            <a:r>
              <a:rPr sz="1050" b="1">
                <a:solidFill>
                  <a:srgbClr val="167C5A"/>
                </a:solidFill>
                <a:latin typeface="Malgun Gothic"/>
              </a:rPr>
              <a:t>phmmer</a:t>
            </a:r>
          </a:p>
        </p:txBody>
      </p:sp>
      <p:sp>
        <p:nvSpPr>
          <p:cNvPr id="12" name="Rounded Rectangle 11"/>
          <p:cNvSpPr/>
          <p:nvPr/>
        </p:nvSpPr>
        <p:spPr>
          <a:xfrm>
            <a:off x="3364992" y="4480560"/>
            <a:ext cx="1581912"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01568" y="4489704"/>
            <a:ext cx="1508760" cy="256032"/>
          </a:xfrm>
          <a:prstGeom prst="rect">
            <a:avLst/>
          </a:prstGeom>
          <a:noFill/>
        </p:spPr>
        <p:txBody>
          <a:bodyPr wrap="square" lIns="0" rIns="0" tIns="0" bIns="0" anchor="ctr">
            <a:noAutofit/>
          </a:bodyPr>
          <a:lstStyle/>
          <a:p>
            <a:pPr algn="ctr"/>
            <a:r>
              <a:rPr sz="1050" b="1">
                <a:solidFill>
                  <a:srgbClr val="6554A4"/>
                </a:solidFill>
                <a:latin typeface="Malgun Gothic"/>
              </a:rPr>
              <a:t>profile HMMs</a:t>
            </a:r>
          </a:p>
        </p:txBody>
      </p:sp>
      <p:sp>
        <p:nvSpPr>
          <p:cNvPr id="14" name="TextBox 13"/>
          <p:cNvSpPr txBox="1"/>
          <p:nvPr/>
        </p:nvSpPr>
        <p:spPr>
          <a:xfrm>
            <a:off x="941832" y="5971032"/>
            <a:ext cx="7772400" cy="256032"/>
          </a:xfrm>
          <a:prstGeom prst="rect">
            <a:avLst/>
          </a:prstGeom>
          <a:noFill/>
        </p:spPr>
        <p:txBody>
          <a:bodyPr wrap="square" lIns="0" rIns="0" tIns="0" bIns="0" anchor="t">
            <a:noAutofit/>
          </a:bodyPr>
          <a:lstStyle/>
          <a:p>
            <a:pPr algn="l"/>
            <a:r>
              <a:rPr sz="1200" b="0">
                <a:solidFill>
                  <a:srgbClr val="667085"/>
                </a:solidFill>
                <a:latin typeface="Malgun Gothic"/>
              </a:rPr>
              <a:t>Vansh Sehrawat  |  EnzymeX meeting  |  August 2026</a:t>
            </a:r>
          </a:p>
        </p:txBody>
      </p:sp>
      <p:sp>
        <p:nvSpPr>
          <p:cNvPr id="15" name="TextBox 14"/>
          <p:cNvSpPr txBox="1"/>
          <p:nvPr/>
        </p:nvSpPr>
        <p:spPr>
          <a:xfrm>
            <a:off x="8961120" y="5971032"/>
            <a:ext cx="2258568" cy="256032"/>
          </a:xfrm>
          <a:prstGeom prst="rect">
            <a:avLst/>
          </a:prstGeom>
          <a:noFill/>
        </p:spPr>
        <p:txBody>
          <a:bodyPr wrap="square" lIns="0" rIns="0" tIns="0" bIns="0" anchor="t">
            <a:noAutofit/>
          </a:bodyPr>
          <a:lstStyle/>
          <a:p>
            <a:pPr algn="r"/>
            <a:r>
              <a:rPr sz="1100" b="0">
                <a:solidFill>
                  <a:srgbClr val="667085"/>
                </a:solidFill>
                <a:latin typeface="Consolas"/>
              </a:rPr>
              <a:t>Build 32abd580b689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WHAT WAS BUILT</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The search layer is working end to end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2</a:t>
            </a:r>
          </a:p>
        </p:txBody>
      </p:sp>
      <p:sp>
        <p:nvSpPr>
          <p:cNvPr id="6" name="Rounded Rectangle 5"/>
          <p:cNvSpPr/>
          <p:nvPr/>
        </p:nvSpPr>
        <p:spPr>
          <a:xfrm>
            <a:off x="658368" y="1298448"/>
            <a:ext cx="10881360" cy="530352"/>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26464"/>
            <a:ext cx="10424160" cy="219456"/>
          </a:xfrm>
          <a:prstGeom prst="rect">
            <a:avLst/>
          </a:prstGeom>
          <a:noFill/>
        </p:spPr>
        <p:txBody>
          <a:bodyPr wrap="square" lIns="0" rIns="0" tIns="0" bIns="0" anchor="t">
            <a:noAutofit/>
          </a:bodyPr>
          <a:lstStyle/>
          <a:p>
            <a:pPr algn="ctr"/>
            <a:r>
              <a:rPr sz="1250" b="1">
                <a:solidFill>
                  <a:srgbClr val="B71A1A"/>
                </a:solidFill>
                <a:latin typeface="Malgun Gothic"/>
              </a:rPr>
              <a:t>Current boundary: a standalone test server. The official EnzymeX codebase and live service are untouched.</a:t>
            </a:r>
          </a:p>
        </p:txBody>
      </p:sp>
      <p:sp>
        <p:nvSpPr>
          <p:cNvPr id="8" name="Rounded Rectangle 7"/>
          <p:cNvSpPr/>
          <p:nvPr/>
        </p:nvSpPr>
        <p:spPr>
          <a:xfrm>
            <a:off x="658368"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04672" y="2368296"/>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1</a:t>
            </a:r>
          </a:p>
        </p:txBody>
      </p:sp>
      <p:sp>
        <p:nvSpPr>
          <p:cNvPr id="11" name="TextBox 10"/>
          <p:cNvSpPr txBox="1"/>
          <p:nvPr/>
        </p:nvSpPr>
        <p:spPr>
          <a:xfrm>
            <a:off x="1316736"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Copied DB</a:t>
            </a:r>
          </a:p>
        </p:txBody>
      </p:sp>
      <p:sp>
        <p:nvSpPr>
          <p:cNvPr id="12" name="TextBox 11"/>
          <p:cNvSpPr txBox="1"/>
          <p:nvPr/>
        </p:nvSpPr>
        <p:spPr>
          <a:xfrm>
            <a:off x="1316736"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read-only</a:t>
            </a:r>
          </a:p>
        </p:txBody>
      </p:sp>
      <p:sp>
        <p:nvSpPr>
          <p:cNvPr id="13" name="Right Arrow 12"/>
          <p:cNvSpPr/>
          <p:nvPr/>
        </p:nvSpPr>
        <p:spPr>
          <a:xfrm>
            <a:off x="2496311"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71215"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17520" y="23682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26663"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2</a:t>
            </a:r>
          </a:p>
        </p:txBody>
      </p:sp>
      <p:sp>
        <p:nvSpPr>
          <p:cNvPr id="17" name="TextBox 16"/>
          <p:cNvSpPr txBox="1"/>
          <p:nvPr/>
        </p:nvSpPr>
        <p:spPr>
          <a:xfrm>
            <a:off x="3529583"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Offline build</a:t>
            </a:r>
          </a:p>
        </p:txBody>
      </p:sp>
      <p:sp>
        <p:nvSpPr>
          <p:cNvPr id="18" name="TextBox 17"/>
          <p:cNvSpPr txBox="1"/>
          <p:nvPr/>
        </p:nvSpPr>
        <p:spPr>
          <a:xfrm>
            <a:off x="3529583"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FASTA + indexes</a:t>
            </a:r>
          </a:p>
        </p:txBody>
      </p:sp>
      <p:sp>
        <p:nvSpPr>
          <p:cNvPr id="19" name="Right Arrow 18"/>
          <p:cNvSpPr/>
          <p:nvPr/>
        </p:nvSpPr>
        <p:spPr>
          <a:xfrm>
            <a:off x="4709159"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84064"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230368" y="23682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9512"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3</a:t>
            </a:r>
          </a:p>
        </p:txBody>
      </p:sp>
      <p:sp>
        <p:nvSpPr>
          <p:cNvPr id="23" name="TextBox 22"/>
          <p:cNvSpPr txBox="1"/>
          <p:nvPr/>
        </p:nvSpPr>
        <p:spPr>
          <a:xfrm>
            <a:off x="5742431"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FASTA input</a:t>
            </a:r>
          </a:p>
        </p:txBody>
      </p:sp>
      <p:sp>
        <p:nvSpPr>
          <p:cNvPr id="24" name="TextBox 23"/>
          <p:cNvSpPr txBox="1"/>
          <p:nvPr/>
        </p:nvSpPr>
        <p:spPr>
          <a:xfrm>
            <a:off x="5742431"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web submission</a:t>
            </a:r>
          </a:p>
        </p:txBody>
      </p:sp>
      <p:sp>
        <p:nvSpPr>
          <p:cNvPr id="25" name="Right Arrow 24"/>
          <p:cNvSpPr/>
          <p:nvPr/>
        </p:nvSpPr>
        <p:spPr>
          <a:xfrm>
            <a:off x="6922007"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296912"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443215" y="2368296"/>
            <a:ext cx="457200" cy="457200"/>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0"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4</a:t>
            </a:r>
          </a:p>
        </p:txBody>
      </p:sp>
      <p:sp>
        <p:nvSpPr>
          <p:cNvPr id="29" name="TextBox 28"/>
          <p:cNvSpPr txBox="1"/>
          <p:nvPr/>
        </p:nvSpPr>
        <p:spPr>
          <a:xfrm>
            <a:off x="7955279"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3 searches</a:t>
            </a:r>
          </a:p>
        </p:txBody>
      </p:sp>
      <p:sp>
        <p:nvSpPr>
          <p:cNvPr id="30" name="TextBox 29"/>
          <p:cNvSpPr txBox="1"/>
          <p:nvPr/>
        </p:nvSpPr>
        <p:spPr>
          <a:xfrm>
            <a:off x="7955279"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BLAST + HMMER</a:t>
            </a:r>
          </a:p>
        </p:txBody>
      </p:sp>
      <p:sp>
        <p:nvSpPr>
          <p:cNvPr id="31" name="Right Arrow 30"/>
          <p:cNvSpPr/>
          <p:nvPr/>
        </p:nvSpPr>
        <p:spPr>
          <a:xfrm>
            <a:off x="9134855" y="2542032"/>
            <a:ext cx="292608" cy="310896"/>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509760" y="2148840"/>
            <a:ext cx="1773936" cy="111556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56064" y="2368296"/>
            <a:ext cx="457200" cy="457200"/>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65208" y="2441448"/>
            <a:ext cx="438912" cy="201168"/>
          </a:xfrm>
          <a:prstGeom prst="rect">
            <a:avLst/>
          </a:prstGeom>
          <a:noFill/>
        </p:spPr>
        <p:txBody>
          <a:bodyPr wrap="square" lIns="0" rIns="0" tIns="0" bIns="0" anchor="t">
            <a:noAutofit/>
          </a:bodyPr>
          <a:lstStyle/>
          <a:p>
            <a:pPr algn="ctr"/>
            <a:r>
              <a:rPr sz="1200" b="1">
                <a:solidFill>
                  <a:srgbClr val="FFFFFF"/>
                </a:solidFill>
                <a:latin typeface="Malgun Gothic"/>
              </a:rPr>
              <a:t>5</a:t>
            </a:r>
          </a:p>
        </p:txBody>
      </p:sp>
      <p:sp>
        <p:nvSpPr>
          <p:cNvPr id="35" name="TextBox 34"/>
          <p:cNvSpPr txBox="1"/>
          <p:nvPr/>
        </p:nvSpPr>
        <p:spPr>
          <a:xfrm>
            <a:off x="10168128" y="2286000"/>
            <a:ext cx="1024128" cy="274320"/>
          </a:xfrm>
          <a:prstGeom prst="rect">
            <a:avLst/>
          </a:prstGeom>
          <a:noFill/>
        </p:spPr>
        <p:txBody>
          <a:bodyPr wrap="square" lIns="0" rIns="0" tIns="0" bIns="0" anchor="t">
            <a:noAutofit/>
          </a:bodyPr>
          <a:lstStyle/>
          <a:p>
            <a:pPr algn="l"/>
            <a:r>
              <a:rPr sz="1150" b="1">
                <a:solidFill>
                  <a:srgbClr val="18212B"/>
                </a:solidFill>
                <a:latin typeface="Malgun Gothic"/>
              </a:rPr>
              <a:t>Results</a:t>
            </a:r>
          </a:p>
        </p:txBody>
      </p:sp>
      <p:sp>
        <p:nvSpPr>
          <p:cNvPr id="36" name="TextBox 35"/>
          <p:cNvSpPr txBox="1"/>
          <p:nvPr/>
        </p:nvSpPr>
        <p:spPr>
          <a:xfrm>
            <a:off x="10168128" y="2615184"/>
            <a:ext cx="1024128" cy="347472"/>
          </a:xfrm>
          <a:prstGeom prst="rect">
            <a:avLst/>
          </a:prstGeom>
          <a:noFill/>
        </p:spPr>
        <p:txBody>
          <a:bodyPr wrap="square" lIns="0" rIns="0" tIns="0" bIns="0" anchor="t">
            <a:noAutofit/>
          </a:bodyPr>
          <a:lstStyle/>
          <a:p>
            <a:pPr algn="l"/>
            <a:r>
              <a:rPr sz="919" b="0">
                <a:solidFill>
                  <a:srgbClr val="667085"/>
                </a:solidFill>
                <a:latin typeface="Malgun Gothic"/>
              </a:rPr>
              <a:t>HTML + CSV + JSON</a:t>
            </a:r>
          </a:p>
        </p:txBody>
      </p:sp>
      <p:sp>
        <p:nvSpPr>
          <p:cNvPr id="37" name="Rounded Rectangle 36"/>
          <p:cNvSpPr/>
          <p:nvPr/>
        </p:nvSpPr>
        <p:spPr>
          <a:xfrm>
            <a:off x="658368" y="3794760"/>
            <a:ext cx="3474720" cy="21579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041648"/>
            <a:ext cx="2971800" cy="329184"/>
          </a:xfrm>
          <a:prstGeom prst="rect">
            <a:avLst/>
          </a:prstGeom>
          <a:noFill/>
        </p:spPr>
        <p:txBody>
          <a:bodyPr wrap="square" lIns="0" rIns="0" tIns="0" bIns="0" anchor="t">
            <a:noAutofit/>
          </a:bodyPr>
          <a:lstStyle/>
          <a:p>
            <a:pPr algn="l"/>
            <a:r>
              <a:rPr sz="1700" b="1">
                <a:solidFill>
                  <a:srgbClr val="B71A1A"/>
                </a:solidFill>
                <a:latin typeface="Malgun Gothic"/>
              </a:rPr>
              <a:t>Reference builder</a:t>
            </a:r>
          </a:p>
        </p:txBody>
      </p:sp>
      <p:sp>
        <p:nvSpPr>
          <p:cNvPr id="39" name="TextBox 38"/>
          <p:cNvSpPr txBox="1"/>
          <p:nvPr/>
        </p:nvSpPr>
        <p:spPr>
          <a:xfrm>
            <a:off x="886968" y="4535424"/>
            <a:ext cx="2990088" cy="987552"/>
          </a:xfrm>
          <a:prstGeom prst="rect">
            <a:avLst/>
          </a:prstGeom>
          <a:noFill/>
        </p:spPr>
        <p:txBody>
          <a:bodyPr wrap="square" lIns="0" rIns="0" tIns="0" bIns="0" anchor="t">
            <a:noAutofit/>
          </a:bodyPr>
          <a:lstStyle/>
          <a:p>
            <a:pPr algn="l">
              <a:lnSpc>
                <a:spcPct val="105000"/>
              </a:lnSpc>
            </a:pPr>
            <a:r>
              <a:rPr sz="1300" b="0">
                <a:solidFill>
                  <a:srgbClr val="52565B"/>
                </a:solidFill>
                <a:latin typeface="Malgun Gothic"/>
              </a:rPr>
              <a:t>QC, source filtering, exact-sequence deduplication, metadata, and a versioned manifest.</a:t>
            </a:r>
          </a:p>
        </p:txBody>
      </p:sp>
      <p:sp>
        <p:nvSpPr>
          <p:cNvPr id="40" name="Rounded Rectangle 39"/>
          <p:cNvSpPr/>
          <p:nvPr/>
        </p:nvSpPr>
        <p:spPr>
          <a:xfrm>
            <a:off x="4334255" y="3794760"/>
            <a:ext cx="3474720" cy="21579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62855" y="4041648"/>
            <a:ext cx="2971800" cy="329184"/>
          </a:xfrm>
          <a:prstGeom prst="rect">
            <a:avLst/>
          </a:prstGeom>
          <a:noFill/>
        </p:spPr>
        <p:txBody>
          <a:bodyPr wrap="square" lIns="0" rIns="0" tIns="0" bIns="0" anchor="t">
            <a:noAutofit/>
          </a:bodyPr>
          <a:lstStyle/>
          <a:p>
            <a:pPr algn="l"/>
            <a:r>
              <a:rPr sz="1700" b="1">
                <a:solidFill>
                  <a:srgbClr val="18212B"/>
                </a:solidFill>
                <a:latin typeface="Malgun Gothic"/>
              </a:rPr>
              <a:t>Search service</a:t>
            </a:r>
          </a:p>
        </p:txBody>
      </p:sp>
      <p:sp>
        <p:nvSpPr>
          <p:cNvPr id="42" name="TextBox 41"/>
          <p:cNvSpPr txBox="1"/>
          <p:nvPr/>
        </p:nvSpPr>
        <p:spPr>
          <a:xfrm>
            <a:off x="4562855" y="4535424"/>
            <a:ext cx="2990088" cy="987552"/>
          </a:xfrm>
          <a:prstGeom prst="rect">
            <a:avLst/>
          </a:prstGeom>
          <a:noFill/>
        </p:spPr>
        <p:txBody>
          <a:bodyPr wrap="square" lIns="0" rIns="0" tIns="0" bIns="0" anchor="t">
            <a:noAutofit/>
          </a:bodyPr>
          <a:lstStyle/>
          <a:p>
            <a:pPr algn="l">
              <a:lnSpc>
                <a:spcPct val="105000"/>
              </a:lnSpc>
            </a:pPr>
            <a:r>
              <a:rPr sz="1300" b="0">
                <a:solidFill>
                  <a:srgbClr val="52565B"/>
                </a:solidFill>
                <a:latin typeface="Malgun Gothic"/>
              </a:rPr>
              <a:t>blastp, phmmer, and hmmscan run through one framework-independent service boundary.</a:t>
            </a:r>
          </a:p>
        </p:txBody>
      </p:sp>
      <p:sp>
        <p:nvSpPr>
          <p:cNvPr id="43" name="Rounded Rectangle 42"/>
          <p:cNvSpPr/>
          <p:nvPr/>
        </p:nvSpPr>
        <p:spPr>
          <a:xfrm>
            <a:off x="8010144" y="3794760"/>
            <a:ext cx="3474720" cy="21579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38744" y="4041648"/>
            <a:ext cx="2971800" cy="329184"/>
          </a:xfrm>
          <a:prstGeom prst="rect">
            <a:avLst/>
          </a:prstGeom>
          <a:noFill/>
        </p:spPr>
        <p:txBody>
          <a:bodyPr wrap="square" lIns="0" rIns="0" tIns="0" bIns="0" anchor="t">
            <a:noAutofit/>
          </a:bodyPr>
          <a:lstStyle/>
          <a:p>
            <a:pPr algn="l"/>
            <a:r>
              <a:rPr sz="1700" b="1">
                <a:solidFill>
                  <a:srgbClr val="18212B"/>
                </a:solidFill>
                <a:latin typeface="Malgun Gothic"/>
              </a:rPr>
              <a:t>Result interface</a:t>
            </a:r>
          </a:p>
        </p:txBody>
      </p:sp>
      <p:sp>
        <p:nvSpPr>
          <p:cNvPr id="45" name="TextBox 44"/>
          <p:cNvSpPr txBox="1"/>
          <p:nvPr/>
        </p:nvSpPr>
        <p:spPr>
          <a:xfrm>
            <a:off x="8238744" y="4535424"/>
            <a:ext cx="2990088" cy="987552"/>
          </a:xfrm>
          <a:prstGeom prst="rect">
            <a:avLst/>
          </a:prstGeom>
          <a:noFill/>
        </p:spPr>
        <p:txBody>
          <a:bodyPr wrap="square" lIns="0" rIns="0" tIns="0" bIns="0" anchor="t">
            <a:noAutofit/>
          </a:bodyPr>
          <a:lstStyle/>
          <a:p>
            <a:pPr algn="l">
              <a:lnSpc>
                <a:spcPct val="105000"/>
              </a:lnSpc>
            </a:pPr>
            <a:r>
              <a:rPr sz="1300" b="0">
                <a:solidFill>
                  <a:srgbClr val="52565B"/>
                </a:solidFill>
                <a:latin typeface="Malgun Gothic"/>
              </a:rPr>
              <a:t>Separate evidence tables, explicit method status, and downloadable CSV and JSON output.</a:t>
            </a:r>
          </a:p>
        </p:txBody>
      </p:sp>
      <p:cxnSp>
        <p:nvCxnSpPr>
          <p:cNvPr id="46" name="Connector 45"/>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REFERENCE BUILD</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One selected-source fixture export feeds every method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3</a:t>
            </a:r>
          </a:p>
        </p:txBody>
      </p:sp>
      <p:sp>
        <p:nvSpPr>
          <p:cNvPr id="6" name="Rounded Rectangle 5"/>
          <p:cNvSpPr/>
          <p:nvPr/>
        </p:nvSpPr>
        <p:spPr>
          <a:xfrm>
            <a:off x="65836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54480"/>
            <a:ext cx="1353312" cy="384048"/>
          </a:xfrm>
          <a:prstGeom prst="rect">
            <a:avLst/>
          </a:prstGeom>
          <a:noFill/>
        </p:spPr>
        <p:txBody>
          <a:bodyPr wrap="square" lIns="0" rIns="0" tIns="0" bIns="0" anchor="t">
            <a:noAutofit/>
          </a:bodyPr>
          <a:lstStyle/>
          <a:p>
            <a:pPr algn="ctr"/>
            <a:r>
              <a:rPr sz="2300" b="1">
                <a:solidFill>
                  <a:srgbClr val="52565B"/>
                </a:solidFill>
                <a:latin typeface="Malgun Gothic"/>
              </a:rPr>
              <a:t>2,677</a:t>
            </a:r>
          </a:p>
        </p:txBody>
      </p:sp>
      <p:sp>
        <p:nvSpPr>
          <p:cNvPr id="8" name="TextBox 7"/>
          <p:cNvSpPr txBox="1"/>
          <p:nvPr/>
        </p:nvSpPr>
        <p:spPr>
          <a:xfrm>
            <a:off x="76809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copied rows</a:t>
            </a:r>
          </a:p>
        </p:txBody>
      </p:sp>
      <p:sp>
        <p:nvSpPr>
          <p:cNvPr id="9" name="Right Arrow 8"/>
          <p:cNvSpPr/>
          <p:nvPr/>
        </p:nvSpPr>
        <p:spPr>
          <a:xfrm>
            <a:off x="2286000" y="1773936"/>
            <a:ext cx="228600" cy="292608"/>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7860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88336" y="1554480"/>
            <a:ext cx="1353312" cy="384048"/>
          </a:xfrm>
          <a:prstGeom prst="rect">
            <a:avLst/>
          </a:prstGeom>
          <a:noFill/>
        </p:spPr>
        <p:txBody>
          <a:bodyPr wrap="square" lIns="0" rIns="0" tIns="0" bIns="0" anchor="t">
            <a:noAutofit/>
          </a:bodyPr>
          <a:lstStyle/>
          <a:p>
            <a:pPr algn="ctr"/>
            <a:r>
              <a:rPr sz="2300" b="1">
                <a:solidFill>
                  <a:srgbClr val="176B87"/>
                </a:solidFill>
                <a:latin typeface="Malgun Gothic"/>
              </a:rPr>
              <a:t>1,694</a:t>
            </a:r>
          </a:p>
        </p:txBody>
      </p:sp>
      <p:sp>
        <p:nvSpPr>
          <p:cNvPr id="12" name="TextBox 11"/>
          <p:cNvSpPr txBox="1"/>
          <p:nvPr/>
        </p:nvSpPr>
        <p:spPr>
          <a:xfrm>
            <a:off x="268833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valid selected rows</a:t>
            </a:r>
          </a:p>
        </p:txBody>
      </p:sp>
      <p:sp>
        <p:nvSpPr>
          <p:cNvPr id="13" name="Right Arrow 12"/>
          <p:cNvSpPr/>
          <p:nvPr/>
        </p:nvSpPr>
        <p:spPr>
          <a:xfrm>
            <a:off x="4206240" y="1773936"/>
            <a:ext cx="228600" cy="292608"/>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49884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554480"/>
            <a:ext cx="1353312" cy="384048"/>
          </a:xfrm>
          <a:prstGeom prst="rect">
            <a:avLst/>
          </a:prstGeom>
          <a:noFill/>
        </p:spPr>
        <p:txBody>
          <a:bodyPr wrap="square" lIns="0" rIns="0" tIns="0" bIns="0" anchor="t">
            <a:noAutofit/>
          </a:bodyPr>
          <a:lstStyle/>
          <a:p>
            <a:pPr algn="ctr"/>
            <a:r>
              <a:rPr sz="2300" b="1">
                <a:solidFill>
                  <a:srgbClr val="A76500"/>
                </a:solidFill>
                <a:latin typeface="Malgun Gothic"/>
              </a:rPr>
              <a:t>120</a:t>
            </a:r>
          </a:p>
        </p:txBody>
      </p:sp>
      <p:sp>
        <p:nvSpPr>
          <p:cNvPr id="16" name="TextBox 15"/>
          <p:cNvSpPr txBox="1"/>
          <p:nvPr/>
        </p:nvSpPr>
        <p:spPr>
          <a:xfrm>
            <a:off x="460857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exact duplicates</a:t>
            </a:r>
          </a:p>
        </p:txBody>
      </p:sp>
      <p:sp>
        <p:nvSpPr>
          <p:cNvPr id="17" name="Right Arrow 16"/>
          <p:cNvSpPr/>
          <p:nvPr/>
        </p:nvSpPr>
        <p:spPr>
          <a:xfrm>
            <a:off x="6126480" y="1773936"/>
            <a:ext cx="228600" cy="292608"/>
          </a:xfrm>
          <a:prstGeom prst="rightArrow">
            <a:avLst/>
          </a:prstGeom>
          <a:solidFill>
            <a:srgbClr val="D9DEE7"/>
          </a:solidFill>
          <a:ln>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19088" y="1389888"/>
            <a:ext cx="1572768" cy="107899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1353312" cy="384048"/>
          </a:xfrm>
          <a:prstGeom prst="rect">
            <a:avLst/>
          </a:prstGeom>
          <a:noFill/>
        </p:spPr>
        <p:txBody>
          <a:bodyPr wrap="square" lIns="0" rIns="0" tIns="0" bIns="0" anchor="t">
            <a:noAutofit/>
          </a:bodyPr>
          <a:lstStyle/>
          <a:p>
            <a:pPr algn="ctr"/>
            <a:r>
              <a:rPr sz="2300" b="1">
                <a:solidFill>
                  <a:srgbClr val="B71A1A"/>
                </a:solidFill>
                <a:latin typeface="Malgun Gothic"/>
              </a:rPr>
              <a:t>1,574</a:t>
            </a:r>
          </a:p>
        </p:txBody>
      </p:sp>
      <p:sp>
        <p:nvSpPr>
          <p:cNvPr id="20" name="TextBox 19"/>
          <p:cNvSpPr txBox="1"/>
          <p:nvPr/>
        </p:nvSpPr>
        <p:spPr>
          <a:xfrm>
            <a:off x="6528816" y="1993392"/>
            <a:ext cx="1353312" cy="237744"/>
          </a:xfrm>
          <a:prstGeom prst="rect">
            <a:avLst/>
          </a:prstGeom>
          <a:noFill/>
        </p:spPr>
        <p:txBody>
          <a:bodyPr wrap="square" lIns="0" rIns="0" tIns="0" bIns="0" anchor="t">
            <a:noAutofit/>
          </a:bodyPr>
          <a:lstStyle/>
          <a:p>
            <a:pPr algn="ctr"/>
            <a:r>
              <a:rPr sz="1050" b="1">
                <a:solidFill>
                  <a:srgbClr val="667085"/>
                </a:solidFill>
                <a:latin typeface="Malgun Gothic"/>
              </a:rPr>
              <a:t>canonical refs</a:t>
            </a:r>
          </a:p>
        </p:txBody>
      </p:sp>
      <p:sp>
        <p:nvSpPr>
          <p:cNvPr id="21" name="TextBox 20"/>
          <p:cNvSpPr txBox="1"/>
          <p:nvPr/>
        </p:nvSpPr>
        <p:spPr>
          <a:xfrm>
            <a:off x="1801368" y="2578608"/>
            <a:ext cx="3566160" cy="256032"/>
          </a:xfrm>
          <a:prstGeom prst="rect">
            <a:avLst/>
          </a:prstGeom>
          <a:noFill/>
        </p:spPr>
        <p:txBody>
          <a:bodyPr wrap="square" lIns="0" rIns="0" tIns="0" bIns="0" anchor="t">
            <a:noAutofit/>
          </a:bodyPr>
          <a:lstStyle/>
          <a:p>
            <a:pPr algn="ctr"/>
            <a:r>
              <a:rPr sz="1050" b="0">
                <a:solidFill>
                  <a:srgbClr val="667085"/>
                </a:solidFill>
                <a:latin typeface="Malgun Gothic"/>
              </a:rPr>
              <a:t>-930 unselected  •  -53 QC failures</a:t>
            </a:r>
          </a:p>
        </p:txBody>
      </p:sp>
      <p:sp>
        <p:nvSpPr>
          <p:cNvPr id="22" name="TextBox 21"/>
          <p:cNvSpPr txBox="1"/>
          <p:nvPr/>
        </p:nvSpPr>
        <p:spPr>
          <a:xfrm>
            <a:off x="6199632" y="2578608"/>
            <a:ext cx="1828800" cy="329184"/>
          </a:xfrm>
          <a:prstGeom prst="rect">
            <a:avLst/>
          </a:prstGeom>
          <a:noFill/>
        </p:spPr>
        <p:txBody>
          <a:bodyPr wrap="square" lIns="0" rIns="0" tIns="0" bIns="0" anchor="t">
            <a:noAutofit/>
          </a:bodyPr>
          <a:lstStyle/>
          <a:p>
            <a:pPr algn="ctr"/>
            <a:r>
              <a:rPr sz="950" b="0">
                <a:solidFill>
                  <a:srgbClr val="A76500"/>
                </a:solidFill>
                <a:latin typeface="Malgun Gothic"/>
              </a:rPr>
              <a:t>merged, not discarded from provenance</a:t>
            </a:r>
          </a:p>
        </p:txBody>
      </p:sp>
      <p:sp>
        <p:nvSpPr>
          <p:cNvPr id="23" name="TextBox 22"/>
          <p:cNvSpPr txBox="1"/>
          <p:nvPr/>
        </p:nvSpPr>
        <p:spPr>
          <a:xfrm>
            <a:off x="658368" y="3063240"/>
            <a:ext cx="3657600" cy="292608"/>
          </a:xfrm>
          <a:prstGeom prst="rect">
            <a:avLst/>
          </a:prstGeom>
          <a:noFill/>
        </p:spPr>
        <p:txBody>
          <a:bodyPr wrap="square" lIns="0" rIns="0" tIns="0" bIns="0" anchor="t">
            <a:noAutofit/>
          </a:bodyPr>
          <a:lstStyle/>
          <a:p>
            <a:pPr algn="l"/>
            <a:r>
              <a:rPr sz="1600" b="1">
                <a:solidFill>
                  <a:srgbClr val="18212B"/>
                </a:solidFill>
                <a:latin typeface="Malgun Gothic"/>
              </a:rPr>
              <a:t>Canonical fixture source labels</a:t>
            </a:r>
          </a:p>
        </p:txBody>
      </p:sp>
      <p:sp>
        <p:nvSpPr>
          <p:cNvPr id="24" name="Rectangle 23"/>
          <p:cNvSpPr/>
          <p:nvPr/>
        </p:nvSpPr>
        <p:spPr>
          <a:xfrm>
            <a:off x="658368" y="3520440"/>
            <a:ext cx="6429998" cy="493776"/>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88366" y="3520440"/>
            <a:ext cx="866913" cy="493776"/>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3611880"/>
            <a:ext cx="6155678" cy="219456"/>
          </a:xfrm>
          <a:prstGeom prst="rect">
            <a:avLst/>
          </a:prstGeom>
          <a:noFill/>
        </p:spPr>
        <p:txBody>
          <a:bodyPr wrap="square" lIns="0" rIns="0" tIns="0" bIns="0" anchor="t">
            <a:noAutofit/>
          </a:bodyPr>
          <a:lstStyle/>
          <a:p>
            <a:pPr algn="l"/>
            <a:r>
              <a:rPr sz="1150" b="1">
                <a:solidFill>
                  <a:srgbClr val="FFFFFF"/>
                </a:solidFill>
                <a:latin typeface="Malgun Gothic"/>
              </a:rPr>
              <a:t>Swiss-Prot  1,387  (88.1%)</a:t>
            </a:r>
          </a:p>
        </p:txBody>
      </p:sp>
      <p:sp>
        <p:nvSpPr>
          <p:cNvPr id="27" name="TextBox 26"/>
          <p:cNvSpPr txBox="1"/>
          <p:nvPr/>
        </p:nvSpPr>
        <p:spPr>
          <a:xfrm>
            <a:off x="7134086" y="3611880"/>
            <a:ext cx="775473" cy="219456"/>
          </a:xfrm>
          <a:prstGeom prst="rect">
            <a:avLst/>
          </a:prstGeom>
          <a:noFill/>
        </p:spPr>
        <p:txBody>
          <a:bodyPr wrap="square" lIns="0" rIns="0" tIns="0" bIns="0" anchor="t">
            <a:noAutofit/>
          </a:bodyPr>
          <a:lstStyle/>
          <a:p>
            <a:pPr algn="ctr"/>
            <a:r>
              <a:rPr sz="1050" b="1">
                <a:solidFill>
                  <a:srgbClr val="FFFFFF"/>
                </a:solidFill>
                <a:latin typeface="Malgun Gothic"/>
              </a:rPr>
              <a:t>PDB 187</a:t>
            </a:r>
          </a:p>
        </p:txBody>
      </p:sp>
      <p:sp>
        <p:nvSpPr>
          <p:cNvPr id="28" name="Rounded Rectangle 27"/>
          <p:cNvSpPr/>
          <p:nvPr/>
        </p:nvSpPr>
        <p:spPr>
          <a:xfrm>
            <a:off x="658368" y="4434840"/>
            <a:ext cx="20116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434840"/>
            <a:ext cx="82296" cy="1042415"/>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562855"/>
            <a:ext cx="1691640" cy="384048"/>
          </a:xfrm>
          <a:prstGeom prst="rect">
            <a:avLst/>
          </a:prstGeom>
          <a:noFill/>
        </p:spPr>
        <p:txBody>
          <a:bodyPr wrap="square" lIns="0" rIns="0" tIns="0" bIns="0" anchor="t">
            <a:noAutofit/>
          </a:bodyPr>
          <a:lstStyle/>
          <a:p>
            <a:pPr algn="l"/>
            <a:r>
              <a:rPr sz="2400" b="1">
                <a:solidFill>
                  <a:srgbClr val="6554A4"/>
                </a:solidFill>
                <a:latin typeface="Malgun Gothic"/>
              </a:rPr>
              <a:t>47</a:t>
            </a:r>
          </a:p>
        </p:txBody>
      </p:sp>
      <p:sp>
        <p:nvSpPr>
          <p:cNvPr id="31" name="TextBox 30"/>
          <p:cNvSpPr txBox="1"/>
          <p:nvPr/>
        </p:nvSpPr>
        <p:spPr>
          <a:xfrm>
            <a:off x="868680" y="4965192"/>
            <a:ext cx="1691640" cy="256032"/>
          </a:xfrm>
          <a:prstGeom prst="rect">
            <a:avLst/>
          </a:prstGeom>
          <a:noFill/>
        </p:spPr>
        <p:txBody>
          <a:bodyPr wrap="square" lIns="0" rIns="0" tIns="0" bIns="0" anchor="t">
            <a:noAutofit/>
          </a:bodyPr>
          <a:lstStyle/>
          <a:p>
            <a:pPr algn="l"/>
            <a:r>
              <a:rPr sz="1150" b="1">
                <a:solidFill>
                  <a:srgbClr val="18212B"/>
                </a:solidFill>
                <a:latin typeface="Malgun Gothic"/>
              </a:rPr>
              <a:t>profile HMMs</a:t>
            </a:r>
          </a:p>
        </p:txBody>
      </p:sp>
      <p:sp>
        <p:nvSpPr>
          <p:cNvPr id="32" name="TextBox 31"/>
          <p:cNvSpPr txBox="1"/>
          <p:nvPr/>
        </p:nvSpPr>
        <p:spPr>
          <a:xfrm>
            <a:off x="868680" y="5230368"/>
            <a:ext cx="1691640" cy="164592"/>
          </a:xfrm>
          <a:prstGeom prst="rect">
            <a:avLst/>
          </a:prstGeom>
          <a:noFill/>
        </p:spPr>
        <p:txBody>
          <a:bodyPr wrap="square" lIns="0" rIns="0" tIns="0" bIns="0" anchor="t">
            <a:noAutofit/>
          </a:bodyPr>
          <a:lstStyle/>
          <a:p>
            <a:pPr algn="l"/>
            <a:r>
              <a:rPr sz="850" b="0">
                <a:solidFill>
                  <a:srgbClr val="667085"/>
                </a:solidFill>
                <a:latin typeface="Malgun Gothic"/>
              </a:rPr>
              <a:t>201 clusters evaluated</a:t>
            </a:r>
          </a:p>
        </p:txBody>
      </p:sp>
      <p:sp>
        <p:nvSpPr>
          <p:cNvPr id="33" name="Rounded Rectangle 32"/>
          <p:cNvSpPr/>
          <p:nvPr/>
        </p:nvSpPr>
        <p:spPr>
          <a:xfrm>
            <a:off x="2852928" y="4434840"/>
            <a:ext cx="22402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852928" y="4434840"/>
            <a:ext cx="82296" cy="1042415"/>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63240" y="4562855"/>
            <a:ext cx="1920240" cy="384048"/>
          </a:xfrm>
          <a:prstGeom prst="rect">
            <a:avLst/>
          </a:prstGeom>
          <a:noFill/>
        </p:spPr>
        <p:txBody>
          <a:bodyPr wrap="square" lIns="0" rIns="0" tIns="0" bIns="0" anchor="t">
            <a:noAutofit/>
          </a:bodyPr>
          <a:lstStyle/>
          <a:p>
            <a:pPr algn="l"/>
            <a:r>
              <a:rPr sz="2400" b="1">
                <a:solidFill>
                  <a:srgbClr val="6554A4"/>
                </a:solidFill>
                <a:latin typeface="Malgun Gothic"/>
              </a:rPr>
              <a:t>1,352</a:t>
            </a:r>
          </a:p>
        </p:txBody>
      </p:sp>
      <p:sp>
        <p:nvSpPr>
          <p:cNvPr id="36" name="TextBox 35"/>
          <p:cNvSpPr txBox="1"/>
          <p:nvPr/>
        </p:nvSpPr>
        <p:spPr>
          <a:xfrm>
            <a:off x="3063240" y="4965192"/>
            <a:ext cx="1920240" cy="256032"/>
          </a:xfrm>
          <a:prstGeom prst="rect">
            <a:avLst/>
          </a:prstGeom>
          <a:noFill/>
        </p:spPr>
        <p:txBody>
          <a:bodyPr wrap="square" lIns="0" rIns="0" tIns="0" bIns="0" anchor="t">
            <a:noAutofit/>
          </a:bodyPr>
          <a:lstStyle/>
          <a:p>
            <a:pPr algn="l"/>
            <a:r>
              <a:rPr sz="1150" b="1">
                <a:solidFill>
                  <a:srgbClr val="18212B"/>
                </a:solidFill>
                <a:latin typeface="Malgun Gothic"/>
              </a:rPr>
              <a:t>references in profiles</a:t>
            </a:r>
          </a:p>
        </p:txBody>
      </p:sp>
      <p:sp>
        <p:nvSpPr>
          <p:cNvPr id="37" name="TextBox 36"/>
          <p:cNvSpPr txBox="1"/>
          <p:nvPr/>
        </p:nvSpPr>
        <p:spPr>
          <a:xfrm>
            <a:off x="3063240" y="5230368"/>
            <a:ext cx="1920240" cy="164592"/>
          </a:xfrm>
          <a:prstGeom prst="rect">
            <a:avLst/>
          </a:prstGeom>
          <a:noFill/>
        </p:spPr>
        <p:txBody>
          <a:bodyPr wrap="square" lIns="0" rIns="0" tIns="0" bIns="0" anchor="t">
            <a:noAutofit/>
          </a:bodyPr>
          <a:lstStyle/>
          <a:p>
            <a:pPr algn="l"/>
            <a:r>
              <a:rPr sz="850" b="0">
                <a:solidFill>
                  <a:srgbClr val="667085"/>
                </a:solidFill>
                <a:latin typeface="Malgun Gothic"/>
              </a:rPr>
              <a:t>85.9% profile coverage</a:t>
            </a:r>
          </a:p>
        </p:txBody>
      </p:sp>
      <p:sp>
        <p:nvSpPr>
          <p:cNvPr id="38" name="Rounded Rectangle 37"/>
          <p:cNvSpPr/>
          <p:nvPr/>
        </p:nvSpPr>
        <p:spPr>
          <a:xfrm>
            <a:off x="5276088" y="4434840"/>
            <a:ext cx="22402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76088" y="4434840"/>
            <a:ext cx="82296" cy="1042415"/>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0" y="4562855"/>
            <a:ext cx="1920240" cy="384048"/>
          </a:xfrm>
          <a:prstGeom prst="rect">
            <a:avLst/>
          </a:prstGeom>
          <a:noFill/>
        </p:spPr>
        <p:txBody>
          <a:bodyPr wrap="square" lIns="0" rIns="0" tIns="0" bIns="0" anchor="t">
            <a:noAutofit/>
          </a:bodyPr>
          <a:lstStyle/>
          <a:p>
            <a:pPr algn="l"/>
            <a:r>
              <a:rPr sz="2400" b="1">
                <a:solidFill>
                  <a:srgbClr val="6554A4"/>
                </a:solidFill>
                <a:latin typeface="Malgun Gothic"/>
              </a:rPr>
              <a:t>0.9994</a:t>
            </a:r>
          </a:p>
        </p:txBody>
      </p:sp>
      <p:sp>
        <p:nvSpPr>
          <p:cNvPr id="41" name="TextBox 40"/>
          <p:cNvSpPr txBox="1"/>
          <p:nvPr/>
        </p:nvSpPr>
        <p:spPr>
          <a:xfrm>
            <a:off x="5486400" y="4965192"/>
            <a:ext cx="1920240" cy="256032"/>
          </a:xfrm>
          <a:prstGeom prst="rect">
            <a:avLst/>
          </a:prstGeom>
          <a:noFill/>
        </p:spPr>
        <p:txBody>
          <a:bodyPr wrap="square" lIns="0" rIns="0" tIns="0" bIns="0" anchor="t">
            <a:noAutofit/>
          </a:bodyPr>
          <a:lstStyle/>
          <a:p>
            <a:pPr algn="l"/>
            <a:r>
              <a:rPr sz="1150" b="1">
                <a:solidFill>
                  <a:srgbClr val="18212B"/>
                </a:solidFill>
                <a:latin typeface="Malgun Gothic"/>
              </a:rPr>
              <a:t>mean EC purity</a:t>
            </a:r>
          </a:p>
        </p:txBody>
      </p:sp>
      <p:sp>
        <p:nvSpPr>
          <p:cNvPr id="42" name="TextBox 41"/>
          <p:cNvSpPr txBox="1"/>
          <p:nvPr/>
        </p:nvSpPr>
        <p:spPr>
          <a:xfrm>
            <a:off x="5486400" y="5230368"/>
            <a:ext cx="1920240" cy="164592"/>
          </a:xfrm>
          <a:prstGeom prst="rect">
            <a:avLst/>
          </a:prstGeom>
          <a:noFill/>
        </p:spPr>
        <p:txBody>
          <a:bodyPr wrap="square" lIns="0" rIns="0" tIns="0" bIns="0" anchor="t">
            <a:noAutofit/>
          </a:bodyPr>
          <a:lstStyle/>
          <a:p>
            <a:pPr algn="l"/>
            <a:r>
              <a:rPr sz="850" b="0">
                <a:solidFill>
                  <a:srgbClr val="667085"/>
                </a:solidFill>
                <a:latin typeface="Malgun Gothic"/>
              </a:rPr>
              <a:t>12 consensus EC labels</a:t>
            </a:r>
          </a:p>
        </p:txBody>
      </p:sp>
      <p:sp>
        <p:nvSpPr>
          <p:cNvPr id="43" name="Rounded Rectangle 42"/>
          <p:cNvSpPr/>
          <p:nvPr/>
        </p:nvSpPr>
        <p:spPr>
          <a:xfrm>
            <a:off x="8247888" y="1389888"/>
            <a:ext cx="3291840" cy="498348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03920" y="1664208"/>
            <a:ext cx="2788920" cy="512064"/>
          </a:xfrm>
          <a:prstGeom prst="rect">
            <a:avLst/>
          </a:prstGeom>
          <a:noFill/>
        </p:spPr>
        <p:txBody>
          <a:bodyPr wrap="square" lIns="0" rIns="0" tIns="0" bIns="0" anchor="t">
            <a:noAutofit/>
          </a:bodyPr>
          <a:lstStyle/>
          <a:p>
            <a:pPr algn="l"/>
            <a:r>
              <a:rPr sz="1600" b="1">
                <a:solidFill>
                  <a:srgbClr val="B71A1A"/>
                </a:solidFill>
                <a:latin typeface="Malgun Gothic"/>
              </a:rPr>
              <a:t>Cross-source duplicates</a:t>
            </a:r>
          </a:p>
        </p:txBody>
      </p:sp>
      <p:sp>
        <p:nvSpPr>
          <p:cNvPr id="45" name="TextBox 44"/>
          <p:cNvSpPr txBox="1"/>
          <p:nvPr/>
        </p:nvSpPr>
        <p:spPr>
          <a:xfrm>
            <a:off x="8503920" y="2340864"/>
            <a:ext cx="2743200" cy="2468880"/>
          </a:xfrm>
          <a:prstGeom prst="rect">
            <a:avLst/>
          </a:prstGeom>
          <a:noFill/>
        </p:spPr>
        <p:txBody>
          <a:bodyPr wrap="square" lIns="18288" rIns="18288" tIns="18288" bIns="18288">
            <a:noAutofit/>
          </a:bodyPr>
          <a:lstStyle/>
          <a:p>
            <a:pPr>
              <a:lnSpc>
                <a:spcPct val="105000"/>
              </a:lnSpc>
              <a:spcAft>
                <a:spcPts val="800"/>
              </a:spcAft>
            </a:pPr>
            <a:r>
              <a:rPr sz="1300">
                <a:solidFill>
                  <a:srgbClr val="18212B"/>
                </a:solidFill>
                <a:latin typeface="Malgun Gothic"/>
              </a:rPr>
              <a:t>•  All three methods use the same selected export.</a:t>
            </a:r>
          </a:p>
          <a:p>
            <a:pPr>
              <a:lnSpc>
                <a:spcPct val="105000"/>
              </a:lnSpc>
              <a:spcAft>
                <a:spcPts val="800"/>
              </a:spcAft>
            </a:pPr>
            <a:r>
              <a:rPr sz="1300">
                <a:solidFill>
                  <a:srgbClr val="18212B"/>
                </a:solidFill>
                <a:latin typeface="Malgun Gothic"/>
              </a:rPr>
              <a:t>•  Swiss-Prot is the canonical row for an exact cross-source duplicate.</a:t>
            </a:r>
          </a:p>
          <a:p>
            <a:pPr>
              <a:lnSpc>
                <a:spcPct val="105000"/>
              </a:lnSpc>
              <a:spcAft>
                <a:spcPts val="800"/>
              </a:spcAft>
            </a:pPr>
            <a:r>
              <a:rPr sz="1300">
                <a:solidFill>
                  <a:srgbClr val="18212B"/>
                </a:solidFill>
                <a:latin typeface="Malgun Gothic"/>
              </a:rPr>
              <a:t>•  The duplicate PDB row stays traceable as provenance.</a:t>
            </a:r>
          </a:p>
          <a:p>
            <a:pPr>
              <a:lnSpc>
                <a:spcPct val="105000"/>
              </a:lnSpc>
              <a:spcAft>
                <a:spcPts val="800"/>
              </a:spcAft>
            </a:pPr>
            <a:r>
              <a:rPr sz="1300">
                <a:solidFill>
                  <a:srgbClr val="18212B"/>
                </a:solidFill>
                <a:latin typeface="Malgun Gothic"/>
              </a:rPr>
              <a:t>•  Fields from separate rows are never merged.</a:t>
            </a:r>
          </a:p>
        </p:txBody>
      </p:sp>
      <p:sp>
        <p:nvSpPr>
          <p:cNvPr id="46" name="Rounded Rectangle 45"/>
          <p:cNvSpPr/>
          <p:nvPr/>
        </p:nvSpPr>
        <p:spPr>
          <a:xfrm>
            <a:off x="8503920" y="5148072"/>
            <a:ext cx="2788920" cy="896112"/>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677656" y="5285232"/>
            <a:ext cx="2441448" cy="603504"/>
          </a:xfrm>
          <a:prstGeom prst="rect">
            <a:avLst/>
          </a:prstGeom>
          <a:noFill/>
        </p:spPr>
        <p:txBody>
          <a:bodyPr wrap="square" lIns="0" rIns="0" tIns="0" bIns="0" anchor="t">
            <a:noAutofit/>
          </a:bodyPr>
          <a:lstStyle/>
          <a:p>
            <a:pPr algn="l"/>
            <a:r>
              <a:rPr sz="1050" b="1">
                <a:solidFill>
                  <a:srgbClr val="A76500"/>
                </a:solidFill>
                <a:latin typeface="Malgun Gothic"/>
              </a:rPr>
              <a:t>Fixture only</a:t>
            </a:r>
            <a:br/>
            <a:r>
              <a:rPr sz="1050" b="1">
                <a:solidFill>
                  <a:srgbClr val="A76500"/>
                </a:solidFill>
                <a:latin typeface="Malgun Gothic"/>
              </a:rPr>
              <a:t>PDB labels are synthetic.</a:t>
            </a:r>
            <a:br/>
            <a:r>
              <a:rPr sz="1050" b="1">
                <a:solidFill>
                  <a:srgbClr val="A76500"/>
                </a:solidFill>
                <a:latin typeface="Malgun Gothic"/>
              </a:rPr>
              <a:t>Real PDB rows still need validation.</a:t>
            </a:r>
          </a:p>
        </p:txBody>
      </p:sp>
      <p:cxnSp>
        <p:nvCxnSpPr>
          <p:cNvPr id="48" name="Connector 47"/>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PROCEDURE AND PARAMETERS</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Three searches, with method-specific evidence</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4</a:t>
            </a:r>
          </a:p>
        </p:txBody>
      </p:sp>
      <p:sp>
        <p:nvSpPr>
          <p:cNvPr id="6" name="Rounded Rectangle 5"/>
          <p:cNvSpPr/>
          <p:nvPr/>
        </p:nvSpPr>
        <p:spPr>
          <a:xfrm>
            <a:off x="658368" y="1417320"/>
            <a:ext cx="3520440" cy="4443984"/>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417320"/>
            <a:ext cx="3520440" cy="109728"/>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700784"/>
            <a:ext cx="3063240" cy="347472"/>
          </a:xfrm>
          <a:prstGeom prst="rect">
            <a:avLst/>
          </a:prstGeom>
          <a:noFill/>
        </p:spPr>
        <p:txBody>
          <a:bodyPr wrap="square" lIns="0" rIns="0" tIns="0" bIns="0" anchor="t">
            <a:noAutofit/>
          </a:bodyPr>
          <a:lstStyle/>
          <a:p>
            <a:pPr algn="l"/>
            <a:r>
              <a:rPr sz="2100" b="1">
                <a:solidFill>
                  <a:srgbClr val="176B87"/>
                </a:solidFill>
                <a:latin typeface="Malgun Gothic"/>
              </a:rPr>
              <a:t>BLAST (blastp)</a:t>
            </a:r>
          </a:p>
        </p:txBody>
      </p:sp>
      <p:sp>
        <p:nvSpPr>
          <p:cNvPr id="9" name="TextBox 8"/>
          <p:cNvSpPr txBox="1"/>
          <p:nvPr/>
        </p:nvSpPr>
        <p:spPr>
          <a:xfrm>
            <a:off x="886968"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Pairwise sequence similarity against the shared reference export.</a:t>
            </a:r>
          </a:p>
        </p:txBody>
      </p:sp>
      <p:sp>
        <p:nvSpPr>
          <p:cNvPr id="10" name="TextBox 9"/>
          <p:cNvSpPr txBox="1"/>
          <p:nvPr/>
        </p:nvSpPr>
        <p:spPr>
          <a:xfrm>
            <a:off x="886968"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BLAST+ 2.16.0</a:t>
            </a:r>
          </a:p>
        </p:txBody>
      </p:sp>
      <p:sp>
        <p:nvSpPr>
          <p:cNvPr id="11" name="TextBox 10"/>
          <p:cNvSpPr txBox="1"/>
          <p:nvPr/>
        </p:nvSpPr>
        <p:spPr>
          <a:xfrm>
            <a:off x="886968" y="3054096"/>
            <a:ext cx="3063240" cy="310896"/>
          </a:xfrm>
          <a:prstGeom prst="rect">
            <a:avLst/>
          </a:prstGeom>
          <a:noFill/>
        </p:spPr>
        <p:txBody>
          <a:bodyPr wrap="square" lIns="0" rIns="0" tIns="0" bIns="0" anchor="t">
            <a:noAutofit/>
          </a:bodyPr>
          <a:lstStyle/>
          <a:p>
            <a:pPr algn="l"/>
            <a:r>
              <a:rPr sz="1250" b="0">
                <a:solidFill>
                  <a:srgbClr val="18212B"/>
                </a:solidFill>
                <a:latin typeface="Consolas"/>
              </a:rPr>
              <a:t>-evalue 1e-3</a:t>
            </a:r>
          </a:p>
        </p:txBody>
      </p:sp>
      <p:sp>
        <p:nvSpPr>
          <p:cNvPr id="12" name="TextBox 11"/>
          <p:cNvSpPr txBox="1"/>
          <p:nvPr/>
        </p:nvSpPr>
        <p:spPr>
          <a:xfrm>
            <a:off x="886968" y="3447288"/>
            <a:ext cx="3063240" cy="310896"/>
          </a:xfrm>
          <a:prstGeom prst="rect">
            <a:avLst/>
          </a:prstGeom>
          <a:noFill/>
        </p:spPr>
        <p:txBody>
          <a:bodyPr wrap="square" lIns="0" rIns="0" tIns="0" bIns="0" anchor="t">
            <a:noAutofit/>
          </a:bodyPr>
          <a:lstStyle/>
          <a:p>
            <a:pPr algn="l"/>
            <a:r>
              <a:rPr sz="1250" b="0">
                <a:solidFill>
                  <a:srgbClr val="18212B"/>
                </a:solidFill>
                <a:latin typeface="Consolas"/>
              </a:rPr>
              <a:t>-comp_based_stats 2</a:t>
            </a:r>
          </a:p>
        </p:txBody>
      </p:sp>
      <p:sp>
        <p:nvSpPr>
          <p:cNvPr id="13" name="TextBox 12"/>
          <p:cNvSpPr txBox="1"/>
          <p:nvPr/>
        </p:nvSpPr>
        <p:spPr>
          <a:xfrm>
            <a:off x="886968" y="3840480"/>
            <a:ext cx="3063240" cy="310896"/>
          </a:xfrm>
          <a:prstGeom prst="rect">
            <a:avLst/>
          </a:prstGeom>
          <a:noFill/>
        </p:spPr>
        <p:txBody>
          <a:bodyPr wrap="square" lIns="0" rIns="0" tIns="0" bIns="0" anchor="t">
            <a:noAutofit/>
          </a:bodyPr>
          <a:lstStyle/>
          <a:p>
            <a:pPr algn="l"/>
            <a:r>
              <a:rPr sz="1250" b="0">
                <a:solidFill>
                  <a:srgbClr val="18212B"/>
                </a:solidFill>
                <a:latin typeface="Consolas"/>
              </a:rPr>
              <a:t>-max_target_seqs 500</a:t>
            </a:r>
          </a:p>
        </p:txBody>
      </p:sp>
      <p:sp>
        <p:nvSpPr>
          <p:cNvPr id="14" name="TextBox 13"/>
          <p:cNvSpPr txBox="1"/>
          <p:nvPr/>
        </p:nvSpPr>
        <p:spPr>
          <a:xfrm>
            <a:off x="886968" y="4233672"/>
            <a:ext cx="3063240" cy="310896"/>
          </a:xfrm>
          <a:prstGeom prst="rect">
            <a:avLst/>
          </a:prstGeom>
          <a:noFill/>
        </p:spPr>
        <p:txBody>
          <a:bodyPr wrap="square" lIns="0" rIns="0" tIns="0" bIns="0" anchor="t">
            <a:noAutofit/>
          </a:bodyPr>
          <a:lstStyle/>
          <a:p>
            <a:pPr algn="l"/>
            <a:r>
              <a:rPr sz="1250" b="0">
                <a:solidFill>
                  <a:srgbClr val="18212B"/>
                </a:solidFill>
                <a:latin typeface="Malgun Gothic"/>
              </a:rPr>
              <a:t>rerank locally -&gt; top 25</a:t>
            </a:r>
          </a:p>
        </p:txBody>
      </p:sp>
      <p:sp>
        <p:nvSpPr>
          <p:cNvPr id="15" name="Rounded Rectangle 14"/>
          <p:cNvSpPr/>
          <p:nvPr/>
        </p:nvSpPr>
        <p:spPr>
          <a:xfrm>
            <a:off x="886968" y="5230368"/>
            <a:ext cx="819302"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5239512"/>
            <a:ext cx="746150" cy="256032"/>
          </a:xfrm>
          <a:prstGeom prst="rect">
            <a:avLst/>
          </a:prstGeom>
          <a:noFill/>
        </p:spPr>
        <p:txBody>
          <a:bodyPr wrap="square" lIns="0" rIns="0" tIns="0" bIns="0" anchor="ctr">
            <a:noAutofit/>
          </a:bodyPr>
          <a:lstStyle/>
          <a:p>
            <a:pPr algn="ctr"/>
            <a:r>
              <a:rPr sz="1050" b="1">
                <a:solidFill>
                  <a:srgbClr val="176B87"/>
                </a:solidFill>
                <a:latin typeface="Malgun Gothic"/>
              </a:rPr>
              <a:t>identity</a:t>
            </a:r>
          </a:p>
        </p:txBody>
      </p:sp>
      <p:sp>
        <p:nvSpPr>
          <p:cNvPr id="17" name="Rounded Rectangle 16"/>
          <p:cNvSpPr/>
          <p:nvPr/>
        </p:nvSpPr>
        <p:spPr>
          <a:xfrm>
            <a:off x="1797710" y="5230368"/>
            <a:ext cx="819302"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34286" y="5239512"/>
            <a:ext cx="746150" cy="256032"/>
          </a:xfrm>
          <a:prstGeom prst="rect">
            <a:avLst/>
          </a:prstGeom>
          <a:noFill/>
        </p:spPr>
        <p:txBody>
          <a:bodyPr wrap="square" lIns="0" rIns="0" tIns="0" bIns="0" anchor="ctr">
            <a:noAutofit/>
          </a:bodyPr>
          <a:lstStyle/>
          <a:p>
            <a:pPr algn="ctr"/>
            <a:r>
              <a:rPr sz="1050" b="1">
                <a:solidFill>
                  <a:srgbClr val="176B87"/>
                </a:solidFill>
                <a:latin typeface="Malgun Gothic"/>
              </a:rPr>
              <a:t>coverage</a:t>
            </a:r>
          </a:p>
        </p:txBody>
      </p:sp>
      <p:sp>
        <p:nvSpPr>
          <p:cNvPr id="19" name="Rounded Rectangle 18"/>
          <p:cNvSpPr/>
          <p:nvPr/>
        </p:nvSpPr>
        <p:spPr>
          <a:xfrm>
            <a:off x="2708452" y="5230368"/>
            <a:ext cx="889711" cy="310896"/>
          </a:xfrm>
          <a:prstGeom prst="roundRect">
            <a:avLst/>
          </a:prstGeom>
          <a:solidFill>
            <a:srgbClr val="EAF4F7"/>
          </a:solidFill>
          <a:ln w="889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5028" y="5239512"/>
            <a:ext cx="816559" cy="256032"/>
          </a:xfrm>
          <a:prstGeom prst="rect">
            <a:avLst/>
          </a:prstGeom>
          <a:noFill/>
        </p:spPr>
        <p:txBody>
          <a:bodyPr wrap="square" lIns="0" rIns="0" tIns="0" bIns="0" anchor="ctr">
            <a:noAutofit/>
          </a:bodyPr>
          <a:lstStyle/>
          <a:p>
            <a:pPr algn="ctr"/>
            <a:r>
              <a:rPr sz="1050" b="1">
                <a:solidFill>
                  <a:srgbClr val="176B87"/>
                </a:solidFill>
                <a:latin typeface="Malgun Gothic"/>
              </a:rPr>
              <a:t>bit score</a:t>
            </a:r>
          </a:p>
        </p:txBody>
      </p:sp>
      <p:sp>
        <p:nvSpPr>
          <p:cNvPr id="21" name="Rounded Rectangle 20"/>
          <p:cNvSpPr/>
          <p:nvPr/>
        </p:nvSpPr>
        <p:spPr>
          <a:xfrm>
            <a:off x="4334256" y="1417320"/>
            <a:ext cx="3520440" cy="4443984"/>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34256" y="1417320"/>
            <a:ext cx="3520440" cy="109728"/>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2856" y="1700784"/>
            <a:ext cx="3063240" cy="347472"/>
          </a:xfrm>
          <a:prstGeom prst="rect">
            <a:avLst/>
          </a:prstGeom>
          <a:noFill/>
        </p:spPr>
        <p:txBody>
          <a:bodyPr wrap="square" lIns="0" rIns="0" tIns="0" bIns="0" anchor="t">
            <a:noAutofit/>
          </a:bodyPr>
          <a:lstStyle/>
          <a:p>
            <a:pPr algn="l"/>
            <a:r>
              <a:rPr sz="2100" b="1">
                <a:solidFill>
                  <a:srgbClr val="167C5A"/>
                </a:solidFill>
                <a:latin typeface="Malgun Gothic"/>
              </a:rPr>
              <a:t>HMMER (phmmer)</a:t>
            </a:r>
          </a:p>
        </p:txBody>
      </p:sp>
      <p:sp>
        <p:nvSpPr>
          <p:cNvPr id="24" name="TextBox 23"/>
          <p:cNvSpPr txBox="1"/>
          <p:nvPr/>
        </p:nvSpPr>
        <p:spPr>
          <a:xfrm>
            <a:off x="4562856"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Query-derived profile against every sequence in the same FASTA.</a:t>
            </a:r>
          </a:p>
        </p:txBody>
      </p:sp>
      <p:sp>
        <p:nvSpPr>
          <p:cNvPr id="25" name="TextBox 24"/>
          <p:cNvSpPr txBox="1"/>
          <p:nvPr/>
        </p:nvSpPr>
        <p:spPr>
          <a:xfrm>
            <a:off x="4562856"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HMMER 3.4</a:t>
            </a:r>
          </a:p>
        </p:txBody>
      </p:sp>
      <p:sp>
        <p:nvSpPr>
          <p:cNvPr id="26" name="TextBox 25"/>
          <p:cNvSpPr txBox="1"/>
          <p:nvPr/>
        </p:nvSpPr>
        <p:spPr>
          <a:xfrm>
            <a:off x="4562856" y="3054096"/>
            <a:ext cx="3063240" cy="310896"/>
          </a:xfrm>
          <a:prstGeom prst="rect">
            <a:avLst/>
          </a:prstGeom>
          <a:noFill/>
        </p:spPr>
        <p:txBody>
          <a:bodyPr wrap="square" lIns="0" rIns="0" tIns="0" bIns="0" anchor="t">
            <a:noAutofit/>
          </a:bodyPr>
          <a:lstStyle/>
          <a:p>
            <a:pPr algn="l"/>
            <a:r>
              <a:rPr sz="1250" b="0">
                <a:solidFill>
                  <a:srgbClr val="18212B"/>
                </a:solidFill>
                <a:latin typeface="Consolas"/>
              </a:rPr>
              <a:t>-E 1e-3</a:t>
            </a:r>
          </a:p>
        </p:txBody>
      </p:sp>
      <p:sp>
        <p:nvSpPr>
          <p:cNvPr id="27" name="TextBox 26"/>
          <p:cNvSpPr txBox="1"/>
          <p:nvPr/>
        </p:nvSpPr>
        <p:spPr>
          <a:xfrm>
            <a:off x="4562856"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1,574 references</a:t>
            </a:r>
          </a:p>
        </p:txBody>
      </p:sp>
      <p:sp>
        <p:nvSpPr>
          <p:cNvPr id="28" name="TextBox 27"/>
          <p:cNvSpPr txBox="1"/>
          <p:nvPr/>
        </p:nvSpPr>
        <p:spPr>
          <a:xfrm>
            <a:off x="4562856" y="3840480"/>
            <a:ext cx="3063240" cy="310896"/>
          </a:xfrm>
          <a:prstGeom prst="rect">
            <a:avLst/>
          </a:prstGeom>
          <a:noFill/>
        </p:spPr>
        <p:txBody>
          <a:bodyPr wrap="square" lIns="0" rIns="0" tIns="0" bIns="0" anchor="t">
            <a:noAutofit/>
          </a:bodyPr>
          <a:lstStyle/>
          <a:p>
            <a:pPr algn="l"/>
            <a:r>
              <a:rPr sz="1250" b="0">
                <a:solidFill>
                  <a:srgbClr val="18212B"/>
                </a:solidFill>
                <a:latin typeface="Malgun Gothic"/>
              </a:rPr>
              <a:t>whole-sequence + domain score</a:t>
            </a:r>
          </a:p>
        </p:txBody>
      </p:sp>
      <p:sp>
        <p:nvSpPr>
          <p:cNvPr id="29" name="TextBox 28"/>
          <p:cNvSpPr txBox="1"/>
          <p:nvPr/>
        </p:nvSpPr>
        <p:spPr>
          <a:xfrm>
            <a:off x="4562856" y="4233672"/>
            <a:ext cx="3063240" cy="310896"/>
          </a:xfrm>
          <a:prstGeom prst="rect">
            <a:avLst/>
          </a:prstGeom>
          <a:noFill/>
        </p:spPr>
        <p:txBody>
          <a:bodyPr wrap="square" lIns="0" rIns="0" tIns="0" bIns="0" anchor="t">
            <a:noAutofit/>
          </a:bodyPr>
          <a:lstStyle/>
          <a:p>
            <a:pPr algn="l"/>
            <a:r>
              <a:rPr sz="1250" b="0">
                <a:solidFill>
                  <a:srgbClr val="18212B"/>
                </a:solidFill>
                <a:latin typeface="Malgun Gothic"/>
              </a:rPr>
              <a:t>rerank locally -&gt; top 25</a:t>
            </a:r>
          </a:p>
        </p:txBody>
      </p:sp>
      <p:sp>
        <p:nvSpPr>
          <p:cNvPr id="30" name="Rounded Rectangle 29"/>
          <p:cNvSpPr/>
          <p:nvPr/>
        </p:nvSpPr>
        <p:spPr>
          <a:xfrm>
            <a:off x="4562856" y="5230368"/>
            <a:ext cx="1241755"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9432" y="5239512"/>
            <a:ext cx="1168603" cy="256032"/>
          </a:xfrm>
          <a:prstGeom prst="rect">
            <a:avLst/>
          </a:prstGeom>
          <a:noFill/>
        </p:spPr>
        <p:txBody>
          <a:bodyPr wrap="square" lIns="0" rIns="0" tIns="0" bIns="0" anchor="ctr">
            <a:noAutofit/>
          </a:bodyPr>
          <a:lstStyle/>
          <a:p>
            <a:pPr algn="ctr"/>
            <a:r>
              <a:rPr sz="1050" b="1">
                <a:solidFill>
                  <a:srgbClr val="167C5A"/>
                </a:solidFill>
                <a:latin typeface="Malgun Gothic"/>
              </a:rPr>
              <a:t>all references</a:t>
            </a:r>
          </a:p>
        </p:txBody>
      </p:sp>
      <p:sp>
        <p:nvSpPr>
          <p:cNvPr id="32" name="Rounded Rectangle 31"/>
          <p:cNvSpPr/>
          <p:nvPr/>
        </p:nvSpPr>
        <p:spPr>
          <a:xfrm>
            <a:off x="5896051" y="5230368"/>
            <a:ext cx="748893"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32627" y="5239512"/>
            <a:ext cx="675741" cy="256032"/>
          </a:xfrm>
          <a:prstGeom prst="rect">
            <a:avLst/>
          </a:prstGeom>
          <a:noFill/>
        </p:spPr>
        <p:txBody>
          <a:bodyPr wrap="square" lIns="0" rIns="0" tIns="0" bIns="0" anchor="ctr">
            <a:noAutofit/>
          </a:bodyPr>
          <a:lstStyle/>
          <a:p>
            <a:pPr algn="ctr"/>
            <a:r>
              <a:rPr sz="1050" b="1">
                <a:solidFill>
                  <a:srgbClr val="167C5A"/>
                </a:solidFill>
                <a:latin typeface="Malgun Gothic"/>
              </a:rPr>
              <a:t>domains</a:t>
            </a:r>
          </a:p>
        </p:txBody>
      </p:sp>
      <p:sp>
        <p:nvSpPr>
          <p:cNvPr id="34" name="Rounded Rectangle 33"/>
          <p:cNvSpPr/>
          <p:nvPr/>
        </p:nvSpPr>
        <p:spPr>
          <a:xfrm>
            <a:off x="8010144" y="1417320"/>
            <a:ext cx="3520440" cy="4443984"/>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10144" y="1417320"/>
            <a:ext cx="3520440" cy="109728"/>
          </a:xfrm>
          <a:prstGeom prst="rect">
            <a:avLst/>
          </a:prstGeom>
          <a:solidFill>
            <a:srgbClr val="6554A4"/>
          </a:solidFill>
          <a:ln>
            <a:solidFill>
              <a:srgbClr val="6554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38744" y="1700784"/>
            <a:ext cx="3063240" cy="347472"/>
          </a:xfrm>
          <a:prstGeom prst="rect">
            <a:avLst/>
          </a:prstGeom>
          <a:noFill/>
        </p:spPr>
        <p:txBody>
          <a:bodyPr wrap="square" lIns="0" rIns="0" tIns="0" bIns="0" anchor="t">
            <a:noAutofit/>
          </a:bodyPr>
          <a:lstStyle/>
          <a:p>
            <a:pPr algn="l"/>
            <a:r>
              <a:rPr sz="1900" b="1">
                <a:solidFill>
                  <a:srgbClr val="6554A4"/>
                </a:solidFill>
                <a:latin typeface="Malgun Gothic"/>
              </a:rPr>
              <a:t>Profile HMMs (hmmscan)</a:t>
            </a:r>
          </a:p>
        </p:txBody>
      </p:sp>
      <p:sp>
        <p:nvSpPr>
          <p:cNvPr id="37" name="TextBox 36"/>
          <p:cNvSpPr txBox="1"/>
          <p:nvPr/>
        </p:nvSpPr>
        <p:spPr>
          <a:xfrm>
            <a:off x="8238744" y="2057400"/>
            <a:ext cx="3063240" cy="457200"/>
          </a:xfrm>
          <a:prstGeom prst="rect">
            <a:avLst/>
          </a:prstGeom>
          <a:noFill/>
        </p:spPr>
        <p:txBody>
          <a:bodyPr wrap="square" lIns="0" rIns="0" tIns="0" bIns="0" anchor="t">
            <a:noAutofit/>
          </a:bodyPr>
          <a:lstStyle/>
          <a:p>
            <a:pPr algn="l"/>
            <a:r>
              <a:rPr sz="1150" b="0">
                <a:solidFill>
                  <a:srgbClr val="667085"/>
                </a:solidFill>
                <a:latin typeface="Malgun Gothic"/>
              </a:rPr>
              <a:t>Submitted sequence against family profiles built from the same export.</a:t>
            </a:r>
          </a:p>
        </p:txBody>
      </p:sp>
      <p:sp>
        <p:nvSpPr>
          <p:cNvPr id="38" name="TextBox 37"/>
          <p:cNvSpPr txBox="1"/>
          <p:nvPr/>
        </p:nvSpPr>
        <p:spPr>
          <a:xfrm>
            <a:off x="8238744" y="2660904"/>
            <a:ext cx="3063240" cy="310896"/>
          </a:xfrm>
          <a:prstGeom prst="rect">
            <a:avLst/>
          </a:prstGeom>
          <a:noFill/>
        </p:spPr>
        <p:txBody>
          <a:bodyPr wrap="square" lIns="0" rIns="0" tIns="0" bIns="0" anchor="t">
            <a:noAutofit/>
          </a:bodyPr>
          <a:lstStyle/>
          <a:p>
            <a:pPr algn="l"/>
            <a:r>
              <a:rPr sz="1250" b="0">
                <a:solidFill>
                  <a:srgbClr val="18212B"/>
                </a:solidFill>
                <a:latin typeface="Malgun Gothic"/>
              </a:rPr>
              <a:t>HMMER 3.4</a:t>
            </a:r>
          </a:p>
        </p:txBody>
      </p:sp>
      <p:sp>
        <p:nvSpPr>
          <p:cNvPr id="39" name="TextBox 38"/>
          <p:cNvSpPr txBox="1"/>
          <p:nvPr/>
        </p:nvSpPr>
        <p:spPr>
          <a:xfrm>
            <a:off x="8238744" y="3054096"/>
            <a:ext cx="3063240" cy="310896"/>
          </a:xfrm>
          <a:prstGeom prst="rect">
            <a:avLst/>
          </a:prstGeom>
          <a:noFill/>
        </p:spPr>
        <p:txBody>
          <a:bodyPr wrap="square" lIns="0" rIns="0" tIns="0" bIns="0" anchor="t">
            <a:noAutofit/>
          </a:bodyPr>
          <a:lstStyle/>
          <a:p>
            <a:pPr algn="l"/>
            <a:r>
              <a:rPr sz="1250" b="0">
                <a:solidFill>
                  <a:srgbClr val="18212B"/>
                </a:solidFill>
                <a:latin typeface="Consolas"/>
              </a:rPr>
              <a:t>-E 1e-3</a:t>
            </a:r>
          </a:p>
        </p:txBody>
      </p:sp>
      <p:sp>
        <p:nvSpPr>
          <p:cNvPr id="40" name="TextBox 39"/>
          <p:cNvSpPr txBox="1"/>
          <p:nvPr/>
        </p:nvSpPr>
        <p:spPr>
          <a:xfrm>
            <a:off x="8238744" y="3447288"/>
            <a:ext cx="3063240" cy="310896"/>
          </a:xfrm>
          <a:prstGeom prst="rect">
            <a:avLst/>
          </a:prstGeom>
          <a:noFill/>
        </p:spPr>
        <p:txBody>
          <a:bodyPr wrap="square" lIns="0" rIns="0" tIns="0" bIns="0" anchor="t">
            <a:noAutofit/>
          </a:bodyPr>
          <a:lstStyle/>
          <a:p>
            <a:pPr algn="l"/>
            <a:r>
              <a:rPr sz="1250" b="0">
                <a:solidFill>
                  <a:srgbClr val="18212B"/>
                </a:solidFill>
                <a:latin typeface="Malgun Gothic"/>
              </a:rPr>
              <a:t>47 profile HMMs</a:t>
            </a:r>
          </a:p>
        </p:txBody>
      </p:sp>
      <p:sp>
        <p:nvSpPr>
          <p:cNvPr id="41" name="TextBox 40"/>
          <p:cNvSpPr txBox="1"/>
          <p:nvPr/>
        </p:nvSpPr>
        <p:spPr>
          <a:xfrm>
            <a:off x="8238744" y="3840480"/>
            <a:ext cx="3063240" cy="310896"/>
          </a:xfrm>
          <a:prstGeom prst="rect">
            <a:avLst/>
          </a:prstGeom>
          <a:noFill/>
        </p:spPr>
        <p:txBody>
          <a:bodyPr wrap="square" lIns="0" rIns="0" tIns="0" bIns="0" anchor="t">
            <a:noAutofit/>
          </a:bodyPr>
          <a:lstStyle/>
          <a:p>
            <a:pPr algn="l"/>
            <a:r>
              <a:rPr sz="1250" b="0">
                <a:solidFill>
                  <a:srgbClr val="18212B"/>
                </a:solidFill>
                <a:latin typeface="Malgun Gothic"/>
              </a:rPr>
              <a:t>build: 35% id / 80% bidir. cov.</a:t>
            </a:r>
          </a:p>
        </p:txBody>
      </p:sp>
      <p:sp>
        <p:nvSpPr>
          <p:cNvPr id="42" name="TextBox 41"/>
          <p:cNvSpPr txBox="1"/>
          <p:nvPr/>
        </p:nvSpPr>
        <p:spPr>
          <a:xfrm>
            <a:off x="8238744" y="4233672"/>
            <a:ext cx="3063240" cy="310896"/>
          </a:xfrm>
          <a:prstGeom prst="rect">
            <a:avLst/>
          </a:prstGeom>
          <a:noFill/>
        </p:spPr>
        <p:txBody>
          <a:bodyPr wrap="square" lIns="0" rIns="0" tIns="0" bIns="0" anchor="t">
            <a:noAutofit/>
          </a:bodyPr>
          <a:lstStyle/>
          <a:p>
            <a:pPr algn="l"/>
            <a:r>
              <a:rPr sz="1250" b="0">
                <a:solidFill>
                  <a:srgbClr val="18212B"/>
                </a:solidFill>
                <a:latin typeface="Malgun Gothic"/>
              </a:rPr>
              <a:t>build: minimum 5 members</a:t>
            </a:r>
          </a:p>
        </p:txBody>
      </p:sp>
      <p:sp>
        <p:nvSpPr>
          <p:cNvPr id="43" name="Rounded Rectangle 42"/>
          <p:cNvSpPr/>
          <p:nvPr/>
        </p:nvSpPr>
        <p:spPr>
          <a:xfrm>
            <a:off x="8238744" y="5230368"/>
            <a:ext cx="704088"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319" y="5239512"/>
            <a:ext cx="630936" cy="256032"/>
          </a:xfrm>
          <a:prstGeom prst="rect">
            <a:avLst/>
          </a:prstGeom>
          <a:noFill/>
        </p:spPr>
        <p:txBody>
          <a:bodyPr wrap="square" lIns="0" rIns="0" tIns="0" bIns="0" anchor="ctr">
            <a:noAutofit/>
          </a:bodyPr>
          <a:lstStyle/>
          <a:p>
            <a:pPr algn="ctr"/>
            <a:r>
              <a:rPr sz="1050" b="1">
                <a:solidFill>
                  <a:srgbClr val="6554A4"/>
                </a:solidFill>
                <a:latin typeface="Malgun Gothic"/>
              </a:rPr>
              <a:t>family</a:t>
            </a:r>
          </a:p>
        </p:txBody>
      </p:sp>
      <p:sp>
        <p:nvSpPr>
          <p:cNvPr id="45" name="Rounded Rectangle 44"/>
          <p:cNvSpPr/>
          <p:nvPr/>
        </p:nvSpPr>
        <p:spPr>
          <a:xfrm>
            <a:off x="9034272" y="5230368"/>
            <a:ext cx="889711"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70847" y="5239512"/>
            <a:ext cx="816559" cy="256032"/>
          </a:xfrm>
          <a:prstGeom prst="rect">
            <a:avLst/>
          </a:prstGeom>
          <a:noFill/>
        </p:spPr>
        <p:txBody>
          <a:bodyPr wrap="square" lIns="0" rIns="0" tIns="0" bIns="0" anchor="ctr">
            <a:noAutofit/>
          </a:bodyPr>
          <a:lstStyle/>
          <a:p>
            <a:pPr algn="ctr"/>
            <a:r>
              <a:rPr sz="1050" b="1">
                <a:solidFill>
                  <a:srgbClr val="6554A4"/>
                </a:solidFill>
                <a:latin typeface="Malgun Gothic"/>
              </a:rPr>
              <a:t>EC purity</a:t>
            </a:r>
          </a:p>
        </p:txBody>
      </p:sp>
      <p:sp>
        <p:nvSpPr>
          <p:cNvPr id="47" name="Rounded Rectangle 46"/>
          <p:cNvSpPr/>
          <p:nvPr/>
        </p:nvSpPr>
        <p:spPr>
          <a:xfrm>
            <a:off x="10015423" y="5230368"/>
            <a:ext cx="748893" cy="310896"/>
          </a:xfrm>
          <a:prstGeom prst="roundRect">
            <a:avLst/>
          </a:prstGeom>
          <a:solidFill>
            <a:srgbClr val="F1EEFA"/>
          </a:solidFill>
          <a:ln w="8890">
            <a:solidFill>
              <a:srgbClr val="F1EE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51999" y="5239512"/>
            <a:ext cx="675741" cy="256032"/>
          </a:xfrm>
          <a:prstGeom prst="rect">
            <a:avLst/>
          </a:prstGeom>
          <a:noFill/>
        </p:spPr>
        <p:txBody>
          <a:bodyPr wrap="square" lIns="0" rIns="0" tIns="0" bIns="0" anchor="ctr">
            <a:noAutofit/>
          </a:bodyPr>
          <a:lstStyle/>
          <a:p>
            <a:pPr algn="ctr"/>
            <a:r>
              <a:rPr sz="1050" b="1">
                <a:solidFill>
                  <a:srgbClr val="6554A4"/>
                </a:solidFill>
                <a:latin typeface="Malgun Gothic"/>
              </a:rPr>
              <a:t>domains</a:t>
            </a:r>
          </a:p>
        </p:txBody>
      </p:sp>
      <p:sp>
        <p:nvSpPr>
          <p:cNvPr id="49" name="Rounded Rectangle 48"/>
          <p:cNvSpPr/>
          <p:nvPr/>
        </p:nvSpPr>
        <p:spPr>
          <a:xfrm>
            <a:off x="658368" y="6053328"/>
            <a:ext cx="10881360" cy="356616"/>
          </a:xfrm>
          <a:prstGeom prst="roundRect">
            <a:avLst/>
          </a:prstGeom>
          <a:solidFill>
            <a:srgbClr val="F5F7FA"/>
          </a:solidFill>
          <a:ln w="12700">
            <a:solidFill>
              <a:srgbClr val="F5F7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0392" y="6126480"/>
            <a:ext cx="10469880" cy="182880"/>
          </a:xfrm>
          <a:prstGeom prst="rect">
            <a:avLst/>
          </a:prstGeom>
          <a:noFill/>
        </p:spPr>
        <p:txBody>
          <a:bodyPr wrap="square" lIns="0" rIns="0" tIns="0" bIns="0" anchor="t">
            <a:noAutofit/>
          </a:bodyPr>
          <a:lstStyle/>
          <a:p>
            <a:pPr algn="ctr"/>
            <a:r>
              <a:rPr sz="1050" b="1">
                <a:solidFill>
                  <a:srgbClr val="52565B"/>
                </a:solidFill>
                <a:latin typeface="Malgun Gothic"/>
              </a:rPr>
              <a:t>No MySQL connection during a search  |  E-values are ranked within each method and are not compared across methods</a:t>
            </a:r>
          </a:p>
        </p:txBody>
      </p:sp>
      <p:cxnSp>
        <p:nvCxnSpPr>
          <p:cNvPr id="51" name="Connector 50"/>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OUTPUT FORMAT</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Output is explicit, separate, and exportable</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5</a:t>
            </a:r>
          </a:p>
        </p:txBody>
      </p:sp>
      <p:sp>
        <p:nvSpPr>
          <p:cNvPr id="6" name="Rounded Rectangle 5"/>
          <p:cNvSpPr/>
          <p:nvPr/>
        </p:nvSpPr>
        <p:spPr>
          <a:xfrm>
            <a:off x="658368" y="1307592"/>
            <a:ext cx="3483864" cy="109728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81328"/>
            <a:ext cx="3108960" cy="228600"/>
          </a:xfrm>
          <a:prstGeom prst="rect">
            <a:avLst/>
          </a:prstGeom>
          <a:noFill/>
        </p:spPr>
        <p:txBody>
          <a:bodyPr wrap="square" lIns="0" rIns="0" tIns="0" bIns="0" anchor="t">
            <a:noAutofit/>
          </a:bodyPr>
          <a:lstStyle/>
          <a:p>
            <a:pPr algn="l"/>
            <a:r>
              <a:rPr sz="1250" b="1">
                <a:solidFill>
                  <a:srgbClr val="176B87"/>
                </a:solidFill>
                <a:latin typeface="Malgun Gothic"/>
              </a:rPr>
              <a:t>BLAST raw output</a:t>
            </a:r>
          </a:p>
        </p:txBody>
      </p:sp>
      <p:sp>
        <p:nvSpPr>
          <p:cNvPr id="8" name="TextBox 7"/>
          <p:cNvSpPr txBox="1"/>
          <p:nvPr/>
        </p:nvSpPr>
        <p:spPr>
          <a:xfrm>
            <a:off x="841247" y="1783080"/>
            <a:ext cx="3108960" cy="530352"/>
          </a:xfrm>
          <a:prstGeom prst="rect">
            <a:avLst/>
          </a:prstGeom>
          <a:noFill/>
        </p:spPr>
        <p:txBody>
          <a:bodyPr wrap="square" lIns="0" rIns="0" tIns="0" bIns="0" anchor="t">
            <a:noAutofit/>
          </a:bodyPr>
          <a:lstStyle/>
          <a:p>
            <a:pPr algn="l"/>
            <a:r>
              <a:rPr sz="880" b="0">
                <a:solidFill>
                  <a:srgbClr val="18212B"/>
                </a:solidFill>
                <a:latin typeface="Consolas"/>
              </a:rPr>
              <a:t>outfmt 6 TSV, 13 fields</a:t>
            </a:r>
            <a:br/>
            <a:r>
              <a:rPr sz="880" b="0">
                <a:solidFill>
                  <a:srgbClr val="18212B"/>
                </a:solidFill>
                <a:latin typeface="Consolas"/>
              </a:rPr>
              <a:t>qseqid sseqid pident length qstart qend sstart send qlen slen evalue bitscore qcovs</a:t>
            </a:r>
          </a:p>
        </p:txBody>
      </p:sp>
      <p:sp>
        <p:nvSpPr>
          <p:cNvPr id="9" name="Rounded Rectangle 8"/>
          <p:cNvSpPr/>
          <p:nvPr/>
        </p:nvSpPr>
        <p:spPr>
          <a:xfrm>
            <a:off x="4361688" y="1307592"/>
            <a:ext cx="3483864" cy="1097280"/>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1481328"/>
            <a:ext cx="3108960" cy="228600"/>
          </a:xfrm>
          <a:prstGeom prst="rect">
            <a:avLst/>
          </a:prstGeom>
          <a:noFill/>
        </p:spPr>
        <p:txBody>
          <a:bodyPr wrap="square" lIns="0" rIns="0" tIns="0" bIns="0" anchor="t">
            <a:noAutofit/>
          </a:bodyPr>
          <a:lstStyle/>
          <a:p>
            <a:pPr algn="l"/>
            <a:r>
              <a:rPr sz="1250" b="1">
                <a:solidFill>
                  <a:srgbClr val="167C5A"/>
                </a:solidFill>
                <a:latin typeface="Malgun Gothic"/>
              </a:rPr>
              <a:t>HMMER raw output</a:t>
            </a:r>
          </a:p>
        </p:txBody>
      </p:sp>
      <p:sp>
        <p:nvSpPr>
          <p:cNvPr id="11" name="TextBox 10"/>
          <p:cNvSpPr txBox="1"/>
          <p:nvPr/>
        </p:nvSpPr>
        <p:spPr>
          <a:xfrm>
            <a:off x="4544568" y="1783080"/>
            <a:ext cx="3108960" cy="530352"/>
          </a:xfrm>
          <a:prstGeom prst="rect">
            <a:avLst/>
          </a:prstGeom>
          <a:noFill/>
        </p:spPr>
        <p:txBody>
          <a:bodyPr wrap="square" lIns="0" rIns="0" tIns="0" bIns="0" anchor="t">
            <a:noAutofit/>
          </a:bodyPr>
          <a:lstStyle/>
          <a:p>
            <a:pPr algn="l"/>
            <a:r>
              <a:rPr sz="1019" b="0">
                <a:solidFill>
                  <a:srgbClr val="18212B"/>
                </a:solidFill>
                <a:latin typeface="Consolas"/>
              </a:rPr>
              <a:t>phmmer + hmmscan</a:t>
            </a:r>
            <a:br/>
            <a:r>
              <a:rPr sz="1019" b="0">
                <a:solidFill>
                  <a:srgbClr val="18212B"/>
                </a:solidFill>
                <a:latin typeface="Consolas"/>
              </a:rPr>
              <a:t>--tblout for sequence hits</a:t>
            </a:r>
            <a:br/>
            <a:r>
              <a:rPr sz="1019" b="0">
                <a:solidFill>
                  <a:srgbClr val="18212B"/>
                </a:solidFill>
                <a:latin typeface="Consolas"/>
              </a:rPr>
              <a:t>--domtblout for domains</a:t>
            </a:r>
          </a:p>
        </p:txBody>
      </p:sp>
      <p:sp>
        <p:nvSpPr>
          <p:cNvPr id="12" name="Rounded Rectangle 11"/>
          <p:cNvSpPr/>
          <p:nvPr/>
        </p:nvSpPr>
        <p:spPr>
          <a:xfrm>
            <a:off x="8065008" y="1307592"/>
            <a:ext cx="3483864" cy="1097280"/>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7888" y="1481328"/>
            <a:ext cx="3108960" cy="228600"/>
          </a:xfrm>
          <a:prstGeom prst="rect">
            <a:avLst/>
          </a:prstGeom>
          <a:noFill/>
        </p:spPr>
        <p:txBody>
          <a:bodyPr wrap="square" lIns="0" rIns="0" tIns="0" bIns="0" anchor="t">
            <a:noAutofit/>
          </a:bodyPr>
          <a:lstStyle/>
          <a:p>
            <a:pPr algn="l"/>
            <a:r>
              <a:rPr sz="1250" b="1">
                <a:solidFill>
                  <a:srgbClr val="B71A1A"/>
                </a:solidFill>
                <a:latin typeface="Malgun Gothic"/>
              </a:rPr>
              <a:t>Normalized application output</a:t>
            </a:r>
          </a:p>
        </p:txBody>
      </p:sp>
      <p:sp>
        <p:nvSpPr>
          <p:cNvPr id="14" name="TextBox 13"/>
          <p:cNvSpPr txBox="1"/>
          <p:nvPr/>
        </p:nvSpPr>
        <p:spPr>
          <a:xfrm>
            <a:off x="8247888" y="1783080"/>
            <a:ext cx="3108960" cy="530352"/>
          </a:xfrm>
          <a:prstGeom prst="rect">
            <a:avLst/>
          </a:prstGeom>
          <a:noFill/>
        </p:spPr>
        <p:txBody>
          <a:bodyPr wrap="square" lIns="0" rIns="0" tIns="0" bIns="0" anchor="t">
            <a:noAutofit/>
          </a:bodyPr>
          <a:lstStyle/>
          <a:p>
            <a:pPr algn="l"/>
            <a:r>
              <a:rPr sz="1019" b="0">
                <a:solidFill>
                  <a:srgbClr val="18212B"/>
                </a:solidFill>
                <a:latin typeface="Malgun Gothic"/>
              </a:rPr>
              <a:t>rank + metadata + method status</a:t>
            </a:r>
            <a:br/>
            <a:r>
              <a:rPr sz="1019" b="0">
                <a:solidFill>
                  <a:srgbClr val="18212B"/>
                </a:solidFill>
                <a:latin typeface="Malgun Gothic"/>
              </a:rPr>
              <a:t>separate HTML tables  |  CSV  |  JSON</a:t>
            </a:r>
          </a:p>
        </p:txBody>
      </p:sp>
      <p:sp>
        <p:nvSpPr>
          <p:cNvPr id="15" name="TextBox 14"/>
          <p:cNvSpPr txBox="1"/>
          <p:nvPr/>
        </p:nvSpPr>
        <p:spPr>
          <a:xfrm>
            <a:off x="658368" y="2532888"/>
            <a:ext cx="5486400" cy="237744"/>
          </a:xfrm>
          <a:prstGeom prst="rect">
            <a:avLst/>
          </a:prstGeom>
          <a:noFill/>
        </p:spPr>
        <p:txBody>
          <a:bodyPr wrap="square" lIns="0" rIns="0" tIns="0" bIns="0" anchor="t">
            <a:noAutofit/>
          </a:bodyPr>
          <a:lstStyle/>
          <a:p>
            <a:pPr algn="l"/>
            <a:r>
              <a:rPr sz="1200" b="1">
                <a:solidFill>
                  <a:srgbClr val="52565B"/>
                </a:solidFill>
                <a:latin typeface="Malgun Gothic"/>
              </a:rPr>
              <a:t>Example top row from each separate method table</a:t>
            </a:r>
          </a:p>
        </p:txBody>
      </p:sp>
      <p:sp>
        <p:nvSpPr>
          <p:cNvPr id="16" name="TextBox 15"/>
          <p:cNvSpPr txBox="1"/>
          <p:nvPr/>
        </p:nvSpPr>
        <p:spPr>
          <a:xfrm>
            <a:off x="6400800" y="2532888"/>
            <a:ext cx="5138928" cy="237744"/>
          </a:xfrm>
          <a:prstGeom prst="rect">
            <a:avLst/>
          </a:prstGeom>
          <a:noFill/>
        </p:spPr>
        <p:txBody>
          <a:bodyPr wrap="square" lIns="0" rIns="0" tIns="0" bIns="0" anchor="t">
            <a:noAutofit/>
          </a:bodyPr>
          <a:lstStyle/>
          <a:p>
            <a:pPr algn="r"/>
            <a:r>
              <a:rPr sz="980" b="0">
                <a:solidFill>
                  <a:srgbClr val="667085"/>
                </a:solidFill>
                <a:latin typeface="Consolas"/>
              </a:rPr>
              <a:t>Job 16564dd9e08fb902  |  Build 32abd580b689  |  0.925 s</a:t>
            </a:r>
          </a:p>
        </p:txBody>
      </p:sp>
      <p:graphicFrame>
        <p:nvGraphicFramePr>
          <p:cNvPr id="17" name="Table 16"/>
          <p:cNvGraphicFramePr>
            <a:graphicFrameLocks noGrp="1"/>
          </p:cNvGraphicFramePr>
          <p:nvPr/>
        </p:nvGraphicFramePr>
        <p:xfrm>
          <a:off x="658368" y="2843784"/>
          <a:ext cx="10881360" cy="1810512"/>
        </p:xfrm>
        <a:graphic>
          <a:graphicData uri="http://schemas.openxmlformats.org/drawingml/2006/table">
            <a:tbl>
              <a:tblPr firstRow="1" bandRow="1">
                <a:tableStyleId>{5C22544A-7EE6-4342-B048-85BDC9FD1C3A}</a:tableStyleId>
              </a:tblPr>
              <a:tblGrid>
                <a:gridCol w="1234440"/>
                <a:gridCol w="1417320"/>
                <a:gridCol w="1508760"/>
                <a:gridCol w="5349240"/>
                <a:gridCol w="1371600"/>
              </a:tblGrid>
              <a:tr h="452628">
                <a:tc>
                  <a:txBody>
                    <a:bodyPr>
                      <a:noAutofit/>
                    </a:bodyPr>
                    <a:lstStyle/>
                    <a:p>
                      <a:pPr algn="l"/>
                      <a:r>
                        <a:rPr sz="1050" b="1">
                          <a:solidFill>
                            <a:srgbClr val="FFFFFF"/>
                          </a:solidFill>
                          <a:latin typeface="Malgun Gothic"/>
                        </a:rPr>
                        <a:t>Method</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Top hit</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Annotation</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Method-specific evidence</a:t>
                      </a:r>
                    </a:p>
                  </a:txBody>
                  <a:tcPr marL="73152" marR="73152" marT="36576" marB="36576" anchor="ctr">
                    <a:solidFill>
                      <a:srgbClr val="52565B"/>
                    </a:solidFill>
                  </a:tcPr>
                </a:tc>
                <a:tc>
                  <a:txBody>
                    <a:bodyPr>
                      <a:noAutofit/>
                    </a:bodyPr>
                    <a:lstStyle/>
                    <a:p>
                      <a:pPr algn="l"/>
                      <a:r>
                        <a:rPr sz="1050" b="1">
                          <a:solidFill>
                            <a:srgbClr val="FFFFFF"/>
                          </a:solidFill>
                          <a:latin typeface="Malgun Gothic"/>
                        </a:rPr>
                        <a:t>Status</a:t>
                      </a:r>
                    </a:p>
                  </a:txBody>
                  <a:tcPr marL="73152" marR="73152" marT="36576" marB="36576" anchor="ctr">
                    <a:solidFill>
                      <a:srgbClr val="52565B"/>
                    </a:solidFill>
                  </a:tcPr>
                </a:tc>
              </a:tr>
              <a:tr h="452628">
                <a:tc>
                  <a:txBody>
                    <a:bodyPr>
                      <a:noAutofit/>
                    </a:bodyPr>
                    <a:lstStyle/>
                    <a:p>
                      <a:pPr algn="l"/>
                      <a:r>
                        <a:rPr sz="1100" b="0">
                          <a:solidFill>
                            <a:srgbClr val="18212B"/>
                          </a:solidFill>
                          <a:latin typeface="Malgun Gothic"/>
                        </a:rPr>
                        <a:t>blastp</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EXR2306</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1.15.1.1</a:t>
                      </a:r>
                    </a:p>
                    <a:p>
                      <a:pPr algn="l"/>
                      <a:r>
                        <a:rPr sz="1100" b="0">
                          <a:solidFill>
                            <a:srgbClr val="18212B"/>
                          </a:solidFill>
                          <a:latin typeface="Malgun Gothic"/>
                        </a:rPr>
                        <a:t>Swiss-Prot</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99.1% identity | 100% query coverage</a:t>
                      </a:r>
                    </a:p>
                    <a:p>
                      <a:pPr algn="l"/>
                      <a:r>
                        <a:rPr sz="1100" b="0">
                          <a:solidFill>
                            <a:srgbClr val="18212B"/>
                          </a:solidFill>
                          <a:latin typeface="Malgun Gothic"/>
                        </a:rPr>
                        <a:t>E 7.8e-169 | 459.0 bits</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ok</a:t>
                      </a:r>
                    </a:p>
                  </a:txBody>
                  <a:tcPr marL="73152" marR="73152" marT="36576" marB="36576" anchor="ctr">
                    <a:solidFill>
                      <a:srgbClr val="FFFFFF"/>
                    </a:solidFill>
                  </a:tcPr>
                </a:tc>
              </a:tr>
              <a:tr h="452628">
                <a:tc>
                  <a:txBody>
                    <a:bodyPr>
                      <a:noAutofit/>
                    </a:bodyPr>
                    <a:lstStyle/>
                    <a:p>
                      <a:pPr algn="l"/>
                      <a:r>
                        <a:rPr sz="1100" b="0">
                          <a:solidFill>
                            <a:srgbClr val="18212B"/>
                          </a:solidFill>
                          <a:latin typeface="Malgun Gothic"/>
                        </a:rPr>
                        <a:t>phmmer</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EXR2306</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1.15.1.1</a:t>
                      </a:r>
                    </a:p>
                    <a:p>
                      <a:pPr algn="l"/>
                      <a:r>
                        <a:rPr sz="1100" b="0">
                          <a:solidFill>
                            <a:srgbClr val="18212B"/>
                          </a:solidFill>
                          <a:latin typeface="Malgun Gothic"/>
                        </a:rPr>
                        <a:t>Swiss-Prot</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100% query coverage</a:t>
                      </a:r>
                    </a:p>
                    <a:p>
                      <a:pPr algn="l"/>
                      <a:r>
                        <a:rPr sz="1100" b="0">
                          <a:solidFill>
                            <a:srgbClr val="18212B"/>
                          </a:solidFill>
                          <a:latin typeface="Malgun Gothic"/>
                        </a:rPr>
                        <a:t>E 5.2e-157 | 517.2 bits</a:t>
                      </a:r>
                    </a:p>
                  </a:txBody>
                  <a:tcPr marL="73152" marR="73152" marT="36576" marB="36576" anchor="ctr">
                    <a:solidFill>
                      <a:srgbClr val="F5F7FA"/>
                    </a:solidFill>
                  </a:tcPr>
                </a:tc>
                <a:tc>
                  <a:txBody>
                    <a:bodyPr>
                      <a:noAutofit/>
                    </a:bodyPr>
                    <a:lstStyle/>
                    <a:p>
                      <a:pPr algn="l"/>
                      <a:r>
                        <a:rPr sz="1100" b="0">
                          <a:solidFill>
                            <a:srgbClr val="18212B"/>
                          </a:solidFill>
                          <a:latin typeface="Malgun Gothic"/>
                        </a:rPr>
                        <a:t>ok</a:t>
                      </a:r>
                    </a:p>
                  </a:txBody>
                  <a:tcPr marL="73152" marR="73152" marT="36576" marB="36576" anchor="ctr">
                    <a:solidFill>
                      <a:srgbClr val="F5F7FA"/>
                    </a:solidFill>
                  </a:tcPr>
                </a:tc>
              </a:tr>
              <a:tr h="452628">
                <a:tc>
                  <a:txBody>
                    <a:bodyPr>
                      <a:noAutofit/>
                    </a:bodyPr>
                    <a:lstStyle/>
                    <a:p>
                      <a:pPr algn="l"/>
                      <a:r>
                        <a:rPr sz="1100" b="0">
                          <a:solidFill>
                            <a:srgbClr val="18212B"/>
                          </a:solidFill>
                          <a:latin typeface="Malgun Gothic"/>
                        </a:rPr>
                        <a:t>hmmscan</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EXF00003</a:t>
                      </a:r>
                    </a:p>
                    <a:p>
                      <a:pPr algn="l"/>
                      <a:r>
                        <a:rPr sz="1100" b="0">
                          <a:solidFill>
                            <a:srgbClr val="18212B"/>
                          </a:solidFill>
                          <a:latin typeface="Malgun Gothic"/>
                        </a:rPr>
                        <a:t>90 members</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1.15.1.1</a:t>
                      </a:r>
                    </a:p>
                    <a:p>
                      <a:pPr algn="l"/>
                      <a:r>
                        <a:rPr sz="1100" b="0">
                          <a:solidFill>
                            <a:srgbClr val="18212B"/>
                          </a:solidFill>
                          <a:latin typeface="Malgun Gothic"/>
                        </a:rPr>
                        <a:t>100% EC purity</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89.6% query | 99.0% profile coverage</a:t>
                      </a:r>
                    </a:p>
                    <a:p>
                      <a:pPr algn="l"/>
                      <a:r>
                        <a:rPr sz="1100" b="0">
                          <a:solidFill>
                            <a:srgbClr val="18212B"/>
                          </a:solidFill>
                          <a:latin typeface="Malgun Gothic"/>
                        </a:rPr>
                        <a:t>E 1.3e-93 | 303.6 bits</a:t>
                      </a:r>
                    </a:p>
                  </a:txBody>
                  <a:tcPr marL="73152" marR="73152" marT="36576" marB="36576" anchor="ctr">
                    <a:solidFill>
                      <a:srgbClr val="FFFFFF"/>
                    </a:solidFill>
                  </a:tcPr>
                </a:tc>
                <a:tc>
                  <a:txBody>
                    <a:bodyPr>
                      <a:noAutofit/>
                    </a:bodyPr>
                    <a:lstStyle/>
                    <a:p>
                      <a:pPr algn="l"/>
                      <a:r>
                        <a:rPr sz="1100" b="0">
                          <a:solidFill>
                            <a:srgbClr val="18212B"/>
                          </a:solidFill>
                          <a:latin typeface="Malgun Gothic"/>
                        </a:rPr>
                        <a:t>ok</a:t>
                      </a:r>
                    </a:p>
                  </a:txBody>
                  <a:tcPr marL="73152" marR="73152" marT="36576" marB="36576" anchor="ctr">
                    <a:solidFill>
                      <a:srgbClr val="FFFFFF"/>
                    </a:solidFill>
                  </a:tcPr>
                </a:tc>
              </a:tr>
            </a:tbl>
          </a:graphicData>
        </a:graphic>
      </p:graphicFrame>
      <p:sp>
        <p:nvSpPr>
          <p:cNvPr id="18" name="Rounded Rectangle 17"/>
          <p:cNvSpPr/>
          <p:nvPr/>
        </p:nvSpPr>
        <p:spPr>
          <a:xfrm>
            <a:off x="658368" y="4764024"/>
            <a:ext cx="5230368" cy="141732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56048"/>
            <a:ext cx="1920240" cy="274320"/>
          </a:xfrm>
          <a:prstGeom prst="rect">
            <a:avLst/>
          </a:prstGeom>
          <a:noFill/>
        </p:spPr>
        <p:txBody>
          <a:bodyPr wrap="square" lIns="0" rIns="0" tIns="0" bIns="0" anchor="t">
            <a:noAutofit/>
          </a:bodyPr>
          <a:lstStyle/>
          <a:p>
            <a:pPr algn="l"/>
            <a:r>
              <a:rPr sz="1600" b="1">
                <a:solidFill>
                  <a:srgbClr val="176B87"/>
                </a:solidFill>
                <a:latin typeface="Malgun Gothic"/>
              </a:rPr>
              <a:t>HTML tables</a:t>
            </a:r>
          </a:p>
        </p:txBody>
      </p:sp>
      <p:sp>
        <p:nvSpPr>
          <p:cNvPr id="20" name="TextBox 19"/>
          <p:cNvSpPr txBox="1"/>
          <p:nvPr/>
        </p:nvSpPr>
        <p:spPr>
          <a:xfrm>
            <a:off x="896112" y="5330952"/>
            <a:ext cx="4736592" cy="749808"/>
          </a:xfrm>
          <a:prstGeom prst="rect">
            <a:avLst/>
          </a:prstGeom>
          <a:noFill/>
        </p:spPr>
        <p:txBody>
          <a:bodyPr wrap="square" lIns="18288" rIns="18288" tIns="18288" bIns="18288">
            <a:noAutofit/>
          </a:bodyPr>
          <a:lstStyle/>
          <a:p>
            <a:pPr>
              <a:lnSpc>
                <a:spcPct val="105000"/>
              </a:lnSpc>
              <a:spcAft>
                <a:spcPts val="200"/>
              </a:spcAft>
            </a:pPr>
            <a:r>
              <a:rPr sz="1150">
                <a:solidFill>
                  <a:srgbClr val="18212B"/>
                </a:solidFill>
                <a:latin typeface="Malgun Gothic"/>
              </a:rPr>
              <a:t>•  One table per method, never side by side.</a:t>
            </a:r>
          </a:p>
          <a:p>
            <a:pPr>
              <a:lnSpc>
                <a:spcPct val="105000"/>
              </a:lnSpc>
              <a:spcAft>
                <a:spcPts val="200"/>
              </a:spcAft>
            </a:pPr>
            <a:r>
              <a:rPr sz="1150">
                <a:solidFill>
                  <a:srgbClr val="18212B"/>
                </a:solidFill>
                <a:latin typeface="Malgun Gothic"/>
              </a:rPr>
              <a:t>•  Explicit ok, no_hits, disabled, and failed states.</a:t>
            </a:r>
          </a:p>
          <a:p>
            <a:pPr>
              <a:lnSpc>
                <a:spcPct val="105000"/>
              </a:lnSpc>
              <a:spcAft>
                <a:spcPts val="200"/>
              </a:spcAft>
            </a:pPr>
            <a:r>
              <a:rPr sz="1150">
                <a:solidFill>
                  <a:srgbClr val="18212B"/>
                </a:solidFill>
                <a:latin typeface="Malgun Gothic"/>
              </a:rPr>
              <a:t>•  Percent identity appears only for BLAST.</a:t>
            </a:r>
          </a:p>
        </p:txBody>
      </p:sp>
      <p:sp>
        <p:nvSpPr>
          <p:cNvPr id="21" name="Rounded Rectangle 20"/>
          <p:cNvSpPr/>
          <p:nvPr/>
        </p:nvSpPr>
        <p:spPr>
          <a:xfrm>
            <a:off x="6117336" y="4764024"/>
            <a:ext cx="5422392" cy="1417320"/>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4956048"/>
            <a:ext cx="2103120" cy="274320"/>
          </a:xfrm>
          <a:prstGeom prst="rect">
            <a:avLst/>
          </a:prstGeom>
          <a:noFill/>
        </p:spPr>
        <p:txBody>
          <a:bodyPr wrap="square" lIns="0" rIns="0" tIns="0" bIns="0" anchor="t">
            <a:noAutofit/>
          </a:bodyPr>
          <a:lstStyle/>
          <a:p>
            <a:pPr algn="l"/>
            <a:r>
              <a:rPr sz="1600" b="1">
                <a:solidFill>
                  <a:srgbClr val="167C5A"/>
                </a:solidFill>
                <a:latin typeface="Malgun Gothic"/>
              </a:rPr>
              <a:t>CSV and JSON</a:t>
            </a:r>
          </a:p>
        </p:txBody>
      </p:sp>
      <p:sp>
        <p:nvSpPr>
          <p:cNvPr id="23" name="TextBox 22"/>
          <p:cNvSpPr txBox="1"/>
          <p:nvPr/>
        </p:nvSpPr>
        <p:spPr>
          <a:xfrm>
            <a:off x="6373368" y="5349240"/>
            <a:ext cx="2231136" cy="621792"/>
          </a:xfrm>
          <a:prstGeom prst="rect">
            <a:avLst/>
          </a:prstGeom>
          <a:noFill/>
        </p:spPr>
        <p:txBody>
          <a:bodyPr wrap="square" lIns="0" rIns="0" tIns="0" bIns="0" anchor="t">
            <a:noAutofit/>
          </a:bodyPr>
          <a:lstStyle/>
          <a:p>
            <a:pPr algn="l"/>
            <a:r>
              <a:rPr sz="1050" b="1">
                <a:solidFill>
                  <a:srgbClr val="18212B"/>
                </a:solidFill>
                <a:latin typeface="Malgun Gothic"/>
              </a:rPr>
              <a:t>Context</a:t>
            </a:r>
            <a:br/>
            <a:r>
              <a:rPr sz="1050" b="1">
                <a:solidFill>
                  <a:srgbClr val="18212B"/>
                </a:solidFill>
                <a:latin typeface="Malgun Gothic"/>
              </a:rPr>
              <a:t>job, query, method/version, build, status</a:t>
            </a:r>
          </a:p>
        </p:txBody>
      </p:sp>
      <p:sp>
        <p:nvSpPr>
          <p:cNvPr id="24" name="TextBox 23"/>
          <p:cNvSpPr txBox="1"/>
          <p:nvPr/>
        </p:nvSpPr>
        <p:spPr>
          <a:xfrm>
            <a:off x="8686800" y="5349240"/>
            <a:ext cx="2578608" cy="685800"/>
          </a:xfrm>
          <a:prstGeom prst="rect">
            <a:avLst/>
          </a:prstGeom>
          <a:noFill/>
        </p:spPr>
        <p:txBody>
          <a:bodyPr wrap="square" lIns="0" rIns="0" tIns="0" bIns="0" anchor="t">
            <a:noAutofit/>
          </a:bodyPr>
          <a:lstStyle/>
          <a:p>
            <a:pPr algn="l"/>
            <a:r>
              <a:rPr sz="1050" b="1">
                <a:solidFill>
                  <a:srgbClr val="18212B"/>
                </a:solidFill>
                <a:latin typeface="Malgun Gothic"/>
              </a:rPr>
              <a:t>Evidence</a:t>
            </a:r>
            <a:br/>
            <a:r>
              <a:rPr sz="1050" b="1">
                <a:solidFill>
                  <a:srgbClr val="18212B"/>
                </a:solidFill>
                <a:latin typeface="Malgun Gothic"/>
              </a:rPr>
              <a:t>rank, reference/family, EC, source, scores, coverage, domains</a:t>
            </a:r>
          </a:p>
        </p:txBody>
      </p:sp>
      <p:cxnSp>
        <p:nvCxnSpPr>
          <p:cNvPr id="25" name="Connector 24"/>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TESTS AND COMPARISON</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Validation reproduced the shared BLAST result</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6</a:t>
            </a:r>
          </a:p>
        </p:txBody>
      </p:sp>
      <p:sp>
        <p:nvSpPr>
          <p:cNvPr id="6" name="Rounded Rectangle 5"/>
          <p:cNvSpPr/>
          <p:nvPr/>
        </p:nvSpPr>
        <p:spPr>
          <a:xfrm>
            <a:off x="658368" y="1353312"/>
            <a:ext cx="224028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353312"/>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81328"/>
            <a:ext cx="1920240" cy="384048"/>
          </a:xfrm>
          <a:prstGeom prst="rect">
            <a:avLst/>
          </a:prstGeom>
          <a:noFill/>
        </p:spPr>
        <p:txBody>
          <a:bodyPr wrap="square" lIns="0" rIns="0" tIns="0" bIns="0" anchor="t">
            <a:noAutofit/>
          </a:bodyPr>
          <a:lstStyle/>
          <a:p>
            <a:pPr algn="l"/>
            <a:r>
              <a:rPr sz="2400" b="1">
                <a:solidFill>
                  <a:srgbClr val="167C5A"/>
                </a:solidFill>
                <a:latin typeface="Malgun Gothic"/>
              </a:rPr>
              <a:t>183</a:t>
            </a:r>
          </a:p>
        </p:txBody>
      </p:sp>
      <p:sp>
        <p:nvSpPr>
          <p:cNvPr id="9" name="TextBox 8"/>
          <p:cNvSpPr txBox="1"/>
          <p:nvPr/>
        </p:nvSpPr>
        <p:spPr>
          <a:xfrm>
            <a:off x="868680" y="1883664"/>
            <a:ext cx="1920240" cy="256032"/>
          </a:xfrm>
          <a:prstGeom prst="rect">
            <a:avLst/>
          </a:prstGeom>
          <a:noFill/>
        </p:spPr>
        <p:txBody>
          <a:bodyPr wrap="square" lIns="0" rIns="0" tIns="0" bIns="0" anchor="t">
            <a:noAutofit/>
          </a:bodyPr>
          <a:lstStyle/>
          <a:p>
            <a:pPr algn="l"/>
            <a:r>
              <a:rPr sz="1150" b="1">
                <a:solidFill>
                  <a:srgbClr val="18212B"/>
                </a:solidFill>
                <a:latin typeface="Malgun Gothic"/>
              </a:rPr>
              <a:t>tests passed</a:t>
            </a:r>
          </a:p>
        </p:txBody>
      </p:sp>
      <p:sp>
        <p:nvSpPr>
          <p:cNvPr id="10" name="TextBox 9"/>
          <p:cNvSpPr txBox="1"/>
          <p:nvPr/>
        </p:nvSpPr>
        <p:spPr>
          <a:xfrm>
            <a:off x="868680" y="2148840"/>
            <a:ext cx="1920240" cy="164592"/>
          </a:xfrm>
          <a:prstGeom prst="rect">
            <a:avLst/>
          </a:prstGeom>
          <a:noFill/>
        </p:spPr>
        <p:txBody>
          <a:bodyPr wrap="square" lIns="0" rIns="0" tIns="0" bIns="0" anchor="t">
            <a:noAutofit/>
          </a:bodyPr>
          <a:lstStyle/>
          <a:p>
            <a:pPr algn="l"/>
            <a:r>
              <a:rPr sz="850" b="0">
                <a:solidFill>
                  <a:srgbClr val="667085"/>
                </a:solidFill>
                <a:latin typeface="Malgun Gothic"/>
              </a:rPr>
              <a:t>with copied-DB access</a:t>
            </a:r>
          </a:p>
        </p:txBody>
      </p:sp>
      <p:sp>
        <p:nvSpPr>
          <p:cNvPr id="11" name="Rounded Rectangle 10"/>
          <p:cNvSpPr/>
          <p:nvPr/>
        </p:nvSpPr>
        <p:spPr>
          <a:xfrm>
            <a:off x="3090672" y="1353312"/>
            <a:ext cx="2487168"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90672" y="1353312"/>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0984" y="1481328"/>
            <a:ext cx="2167128" cy="384048"/>
          </a:xfrm>
          <a:prstGeom prst="rect">
            <a:avLst/>
          </a:prstGeom>
          <a:noFill/>
        </p:spPr>
        <p:txBody>
          <a:bodyPr wrap="square" lIns="0" rIns="0" tIns="0" bIns="0" anchor="t">
            <a:noAutofit/>
          </a:bodyPr>
          <a:lstStyle/>
          <a:p>
            <a:pPr algn="l"/>
            <a:r>
              <a:rPr sz="2400" b="1">
                <a:solidFill>
                  <a:srgbClr val="167C5A"/>
                </a:solidFill>
                <a:latin typeface="Malgun Gothic"/>
              </a:rPr>
              <a:t>0</a:t>
            </a:r>
          </a:p>
        </p:txBody>
      </p:sp>
      <p:sp>
        <p:nvSpPr>
          <p:cNvPr id="14" name="TextBox 13"/>
          <p:cNvSpPr txBox="1"/>
          <p:nvPr/>
        </p:nvSpPr>
        <p:spPr>
          <a:xfrm>
            <a:off x="3300984" y="1883664"/>
            <a:ext cx="2167128" cy="256032"/>
          </a:xfrm>
          <a:prstGeom prst="rect">
            <a:avLst/>
          </a:prstGeom>
          <a:noFill/>
        </p:spPr>
        <p:txBody>
          <a:bodyPr wrap="square" lIns="0" rIns="0" tIns="0" bIns="0" anchor="t">
            <a:noAutofit/>
          </a:bodyPr>
          <a:lstStyle/>
          <a:p>
            <a:pPr algn="l"/>
            <a:r>
              <a:rPr sz="1150" b="1">
                <a:solidFill>
                  <a:srgbClr val="18212B"/>
                </a:solidFill>
                <a:latin typeface="Malgun Gothic"/>
              </a:rPr>
              <a:t>provenance mismatches</a:t>
            </a:r>
          </a:p>
        </p:txBody>
      </p:sp>
      <p:sp>
        <p:nvSpPr>
          <p:cNvPr id="15" name="TextBox 14"/>
          <p:cNvSpPr txBox="1"/>
          <p:nvPr/>
        </p:nvSpPr>
        <p:spPr>
          <a:xfrm>
            <a:off x="3300984" y="2148840"/>
            <a:ext cx="2167128" cy="164592"/>
          </a:xfrm>
          <a:prstGeom prst="rect">
            <a:avLst/>
          </a:prstGeom>
          <a:noFill/>
        </p:spPr>
        <p:txBody>
          <a:bodyPr wrap="square" lIns="0" rIns="0" tIns="0" bIns="0" anchor="t">
            <a:noAutofit/>
          </a:bodyPr>
          <a:lstStyle/>
          <a:p>
            <a:pPr algn="l"/>
            <a:r>
              <a:rPr sz="850" b="0">
                <a:solidFill>
                  <a:srgbClr val="667085"/>
                </a:solidFill>
                <a:latin typeface="Malgun Gothic"/>
              </a:rPr>
              <a:t>references, FASTA, duplicates</a:t>
            </a:r>
          </a:p>
        </p:txBody>
      </p:sp>
      <p:sp>
        <p:nvSpPr>
          <p:cNvPr id="16" name="Rounded Rectangle 15"/>
          <p:cNvSpPr/>
          <p:nvPr/>
        </p:nvSpPr>
        <p:spPr>
          <a:xfrm>
            <a:off x="5769864" y="1353312"/>
            <a:ext cx="274320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69864" y="1353312"/>
            <a:ext cx="82296" cy="1042415"/>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80176" y="1481328"/>
            <a:ext cx="2423160" cy="384048"/>
          </a:xfrm>
          <a:prstGeom prst="rect">
            <a:avLst/>
          </a:prstGeom>
          <a:noFill/>
        </p:spPr>
        <p:txBody>
          <a:bodyPr wrap="square" lIns="0" rIns="0" tIns="0" bIns="0" anchor="t">
            <a:noAutofit/>
          </a:bodyPr>
          <a:lstStyle/>
          <a:p>
            <a:pPr algn="l"/>
            <a:r>
              <a:rPr sz="2400" b="1">
                <a:solidFill>
                  <a:srgbClr val="176B87"/>
                </a:solidFill>
                <a:latin typeface="Malgun Gothic"/>
              </a:rPr>
              <a:t>452 / 452</a:t>
            </a:r>
          </a:p>
        </p:txBody>
      </p:sp>
      <p:sp>
        <p:nvSpPr>
          <p:cNvPr id="19" name="TextBox 18"/>
          <p:cNvSpPr txBox="1"/>
          <p:nvPr/>
        </p:nvSpPr>
        <p:spPr>
          <a:xfrm>
            <a:off x="5980176" y="1883664"/>
            <a:ext cx="2423160" cy="256032"/>
          </a:xfrm>
          <a:prstGeom prst="rect">
            <a:avLst/>
          </a:prstGeom>
          <a:noFill/>
        </p:spPr>
        <p:txBody>
          <a:bodyPr wrap="square" lIns="0" rIns="0" tIns="0" bIns="0" anchor="t">
            <a:noAutofit/>
          </a:bodyPr>
          <a:lstStyle/>
          <a:p>
            <a:pPr algn="l"/>
            <a:r>
              <a:rPr sz="1150" b="1">
                <a:solidFill>
                  <a:srgbClr val="18212B"/>
                </a:solidFill>
                <a:latin typeface="Malgun Gothic"/>
              </a:rPr>
              <a:t>same raw BLAST top hit</a:t>
            </a:r>
          </a:p>
        </p:txBody>
      </p:sp>
      <p:sp>
        <p:nvSpPr>
          <p:cNvPr id="20" name="TextBox 19"/>
          <p:cNvSpPr txBox="1"/>
          <p:nvPr/>
        </p:nvSpPr>
        <p:spPr>
          <a:xfrm>
            <a:off x="5980176" y="2148840"/>
            <a:ext cx="2423160" cy="164592"/>
          </a:xfrm>
          <a:prstGeom prst="rect">
            <a:avLst/>
          </a:prstGeom>
          <a:noFill/>
        </p:spPr>
        <p:txBody>
          <a:bodyPr wrap="square" lIns="0" rIns="0" tIns="0" bIns="0" anchor="t">
            <a:noAutofit/>
          </a:bodyPr>
          <a:lstStyle/>
          <a:p>
            <a:pPr algn="l"/>
            <a:r>
              <a:rPr sz="850" b="0">
                <a:solidFill>
                  <a:srgbClr val="667085"/>
                </a:solidFill>
                <a:latin typeface="Malgun Gothic"/>
              </a:rPr>
              <a:t>2.16 vs supplied 2.5 output</a:t>
            </a:r>
          </a:p>
        </p:txBody>
      </p:sp>
      <p:sp>
        <p:nvSpPr>
          <p:cNvPr id="21" name="Rounded Rectangle 20"/>
          <p:cNvSpPr/>
          <p:nvPr/>
        </p:nvSpPr>
        <p:spPr>
          <a:xfrm>
            <a:off x="8705088" y="1353312"/>
            <a:ext cx="2834640"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705088" y="1353312"/>
            <a:ext cx="82296" cy="1042415"/>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15400" y="1481328"/>
            <a:ext cx="2514600" cy="384048"/>
          </a:xfrm>
          <a:prstGeom prst="rect">
            <a:avLst/>
          </a:prstGeom>
          <a:noFill/>
        </p:spPr>
        <p:txBody>
          <a:bodyPr wrap="square" lIns="0" rIns="0" tIns="0" bIns="0" anchor="t">
            <a:noAutofit/>
          </a:bodyPr>
          <a:lstStyle/>
          <a:p>
            <a:pPr algn="l"/>
            <a:r>
              <a:rPr sz="2400" b="1">
                <a:solidFill>
                  <a:srgbClr val="176B87"/>
                </a:solidFill>
                <a:latin typeface="Malgun Gothic"/>
              </a:rPr>
              <a:t>450 / 452</a:t>
            </a:r>
          </a:p>
        </p:txBody>
      </p:sp>
      <p:sp>
        <p:nvSpPr>
          <p:cNvPr id="24" name="TextBox 23"/>
          <p:cNvSpPr txBox="1"/>
          <p:nvPr/>
        </p:nvSpPr>
        <p:spPr>
          <a:xfrm>
            <a:off x="8915400" y="1883664"/>
            <a:ext cx="2514600" cy="256032"/>
          </a:xfrm>
          <a:prstGeom prst="rect">
            <a:avLst/>
          </a:prstGeom>
          <a:noFill/>
        </p:spPr>
        <p:txBody>
          <a:bodyPr wrap="square" lIns="0" rIns="0" tIns="0" bIns="0" anchor="t">
            <a:noAutofit/>
          </a:bodyPr>
          <a:lstStyle/>
          <a:p>
            <a:pPr algn="l"/>
            <a:r>
              <a:rPr sz="1150" b="1">
                <a:solidFill>
                  <a:srgbClr val="18212B"/>
                </a:solidFill>
                <a:latin typeface="Malgun Gothic"/>
              </a:rPr>
              <a:t>same top-25 subject set</a:t>
            </a:r>
          </a:p>
        </p:txBody>
      </p:sp>
      <p:sp>
        <p:nvSpPr>
          <p:cNvPr id="25" name="TextBox 24"/>
          <p:cNvSpPr txBox="1"/>
          <p:nvPr/>
        </p:nvSpPr>
        <p:spPr>
          <a:xfrm>
            <a:off x="8915400" y="2148840"/>
            <a:ext cx="2514600" cy="164592"/>
          </a:xfrm>
          <a:prstGeom prst="rect">
            <a:avLst/>
          </a:prstGeom>
          <a:noFill/>
        </p:spPr>
        <p:txBody>
          <a:bodyPr wrap="square" lIns="0" rIns="0" tIns="0" bIns="0" anchor="t">
            <a:noAutofit/>
          </a:bodyPr>
          <a:lstStyle/>
          <a:p>
            <a:pPr algn="l"/>
            <a:r>
              <a:rPr sz="850" b="0">
                <a:solidFill>
                  <a:srgbClr val="667085"/>
                </a:solidFill>
                <a:latin typeface="Malgun Gothic"/>
              </a:rPr>
              <a:t>99.56% of comparable hits</a:t>
            </a:r>
          </a:p>
        </p:txBody>
      </p:sp>
      <p:sp>
        <p:nvSpPr>
          <p:cNvPr id="26" name="Rounded Rectangle 25"/>
          <p:cNvSpPr/>
          <p:nvPr/>
        </p:nvSpPr>
        <p:spPr>
          <a:xfrm>
            <a:off x="658368" y="2688336"/>
            <a:ext cx="10881360" cy="493776"/>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2816352"/>
            <a:ext cx="10515600" cy="201168"/>
          </a:xfrm>
          <a:prstGeom prst="rect">
            <a:avLst/>
          </a:prstGeom>
          <a:noFill/>
        </p:spPr>
        <p:txBody>
          <a:bodyPr wrap="square" lIns="0" rIns="0" tIns="0" bIns="0" anchor="t">
            <a:noAutofit/>
          </a:bodyPr>
          <a:lstStyle/>
          <a:p>
            <a:pPr algn="ctr"/>
            <a:r>
              <a:rPr sz="1050" b="1">
                <a:solidFill>
                  <a:srgbClr val="176B87"/>
                </a:solidFill>
                <a:latin typeface="Malgun Gothic"/>
              </a:rPr>
              <a:t>Beomsu fold: 500 queries, 48 shared no-hits  |  BLAST 2.5: E 1e-5, comp stats 2, 100 targets, outfmt 6, 16 threads</a:t>
            </a:r>
          </a:p>
        </p:txBody>
      </p:sp>
      <p:graphicFrame>
        <p:nvGraphicFramePr>
          <p:cNvPr id="28" name="Table 27"/>
          <p:cNvGraphicFramePr>
            <a:graphicFrameLocks noGrp="1"/>
          </p:cNvGraphicFramePr>
          <p:nvPr/>
        </p:nvGraphicFramePr>
        <p:xfrm>
          <a:off x="658368" y="3310128"/>
          <a:ext cx="10881360" cy="1874519"/>
        </p:xfrm>
        <a:graphic>
          <a:graphicData uri="http://schemas.openxmlformats.org/drawingml/2006/table">
            <a:tbl>
              <a:tblPr firstRow="1" bandRow="1">
                <a:tableStyleId>{5C22544A-7EE6-4342-B048-85BDC9FD1C3A}</a:tableStyleId>
              </a:tblPr>
              <a:tblGrid>
                <a:gridCol w="1645920"/>
                <a:gridCol w="3657600"/>
                <a:gridCol w="3246120"/>
                <a:gridCol w="2331720"/>
              </a:tblGrid>
              <a:tr h="374903">
                <a:tc>
                  <a:txBody>
                    <a:bodyPr>
                      <a:noAutofit/>
                    </a:bodyPr>
                    <a:lstStyle/>
                    <a:p>
                      <a:pPr algn="l"/>
                      <a:r>
                        <a:rPr sz="1150" b="1">
                          <a:solidFill>
                            <a:srgbClr val="FFFFFF"/>
                          </a:solidFill>
                          <a:latin typeface="Malgun Gothic"/>
                        </a:rPr>
                        <a:t>Method</a:t>
                      </a:r>
                    </a:p>
                  </a:txBody>
                  <a:tcPr marL="73152" marR="73152" marT="36576" marB="36576" anchor="ctr">
                    <a:solidFill>
                      <a:srgbClr val="52565B"/>
                    </a:solidFill>
                  </a:tcPr>
                </a:tc>
                <a:tc>
                  <a:txBody>
                    <a:bodyPr>
                      <a:noAutofit/>
                    </a:bodyPr>
                    <a:lstStyle/>
                    <a:p>
                      <a:pPr algn="l"/>
                      <a:r>
                        <a:rPr sz="1150" b="1">
                          <a:solidFill>
                            <a:srgbClr val="FFFFFF"/>
                          </a:solidFill>
                          <a:latin typeface="Malgun Gothic"/>
                        </a:rPr>
                        <a:t>Evaluated cohort</a:t>
                      </a:r>
                    </a:p>
                  </a:txBody>
                  <a:tcPr marL="73152" marR="73152" marT="36576" marB="36576" anchor="ctr">
                    <a:solidFill>
                      <a:srgbClr val="52565B"/>
                    </a:solidFill>
                  </a:tcPr>
                </a:tc>
                <a:tc>
                  <a:txBody>
                    <a:bodyPr>
                      <a:noAutofit/>
                    </a:bodyPr>
                    <a:lstStyle/>
                    <a:p>
                      <a:pPr algn="l"/>
                      <a:r>
                        <a:rPr sz="1150" b="1">
                          <a:solidFill>
                            <a:srgbClr val="FFFFFF"/>
                          </a:solidFill>
                          <a:latin typeface="Malgun Gothic"/>
                        </a:rPr>
                        <a:t>Top-hit EC overlap</a:t>
                      </a:r>
                    </a:p>
                  </a:txBody>
                  <a:tcPr marL="73152" marR="73152" marT="36576" marB="36576" anchor="ctr">
                    <a:solidFill>
                      <a:srgbClr val="52565B"/>
                    </a:solidFill>
                  </a:tcPr>
                </a:tc>
                <a:tc>
                  <a:txBody>
                    <a:bodyPr>
                      <a:noAutofit/>
                    </a:bodyPr>
                    <a:lstStyle/>
                    <a:p>
                      <a:pPr algn="l"/>
                      <a:r>
                        <a:rPr sz="1150" b="1">
                          <a:solidFill>
                            <a:srgbClr val="FFFFFF"/>
                          </a:solidFill>
                          <a:latin typeface="Malgun Gothic"/>
                        </a:rPr>
                        <a:t>Local WSL2 run</a:t>
                      </a:r>
                    </a:p>
                  </a:txBody>
                  <a:tcPr marL="73152" marR="73152" marT="36576" marB="36576" anchor="ctr">
                    <a:solidFill>
                      <a:srgbClr val="52565B"/>
                    </a:solidFill>
                  </a:tcPr>
                </a:tc>
              </a:tr>
              <a:tr h="374903">
                <a:tc>
                  <a:txBody>
                    <a:bodyPr>
                      <a:noAutofit/>
                    </a:bodyPr>
                    <a:lstStyle/>
                    <a:p>
                      <a:pPr algn="l"/>
                      <a:r>
                        <a:rPr sz="1200" b="0">
                          <a:solidFill>
                            <a:srgbClr val="18212B"/>
                          </a:solidFill>
                          <a:latin typeface="Malgun Gothic"/>
                        </a:rPr>
                        <a:t>blastp</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349 reference-covered queries</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306 / 349  (87.68%)</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7.81 s</a:t>
                      </a:r>
                    </a:p>
                  </a:txBody>
                  <a:tcPr marL="73152" marR="73152" marT="36576" marB="36576" anchor="ctr">
                    <a:solidFill>
                      <a:srgbClr val="FFFFFF"/>
                    </a:solidFill>
                  </a:tcPr>
                </a:tc>
              </a:tr>
              <a:tr h="374903">
                <a:tc>
                  <a:txBody>
                    <a:bodyPr>
                      <a:noAutofit/>
                    </a:bodyPr>
                    <a:lstStyle/>
                    <a:p>
                      <a:pPr algn="l"/>
                      <a:r>
                        <a:rPr sz="1200" b="0">
                          <a:solidFill>
                            <a:srgbClr val="18212B"/>
                          </a:solidFill>
                          <a:latin typeface="Malgun Gothic"/>
                        </a:rPr>
                        <a:t>phmmer</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349 reference-covered queries</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303 / 349  (86.82%)</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130.36 s</a:t>
                      </a:r>
                    </a:p>
                  </a:txBody>
                  <a:tcPr marL="73152" marR="73152" marT="36576" marB="36576" anchor="ctr">
                    <a:solidFill>
                      <a:srgbClr val="F5F7FA"/>
                    </a:solidFill>
                  </a:tcPr>
                </a:tc>
              </a:tr>
              <a:tr h="374903">
                <a:tc>
                  <a:txBody>
                    <a:bodyPr>
                      <a:noAutofit/>
                    </a:bodyPr>
                    <a:lstStyle/>
                    <a:p>
                      <a:pPr algn="l"/>
                      <a:r>
                        <a:rPr sz="1200" b="0">
                          <a:solidFill>
                            <a:srgbClr val="18212B"/>
                          </a:solidFill>
                          <a:latin typeface="Malgun Gothic"/>
                        </a:rPr>
                        <a:t>blastp + phmmer</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279 profile-common queries</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279 / 279  (100.00%)</a:t>
                      </a:r>
                    </a:p>
                  </a:txBody>
                  <a:tcPr marL="73152" marR="73152" marT="36576" marB="36576" anchor="ctr">
                    <a:solidFill>
                      <a:srgbClr val="FFFFFF"/>
                    </a:solidFill>
                  </a:tcPr>
                </a:tc>
                <a:tc>
                  <a:txBody>
                    <a:bodyPr>
                      <a:noAutofit/>
                    </a:bodyPr>
                    <a:lstStyle/>
                    <a:p>
                      <a:pPr algn="l"/>
                      <a:r>
                        <a:rPr sz="1200" b="0">
                          <a:solidFill>
                            <a:srgbClr val="18212B"/>
                          </a:solidFill>
                          <a:latin typeface="Malgun Gothic"/>
                        </a:rPr>
                        <a:t>same runs as above</a:t>
                      </a:r>
                    </a:p>
                  </a:txBody>
                  <a:tcPr marL="73152" marR="73152" marT="36576" marB="36576" anchor="ctr">
                    <a:solidFill>
                      <a:srgbClr val="FFFFFF"/>
                    </a:solidFill>
                  </a:tcPr>
                </a:tc>
              </a:tr>
              <a:tr h="374907">
                <a:tc>
                  <a:txBody>
                    <a:bodyPr>
                      <a:noAutofit/>
                    </a:bodyPr>
                    <a:lstStyle/>
                    <a:p>
                      <a:pPr algn="l"/>
                      <a:r>
                        <a:rPr sz="1200" b="0">
                          <a:solidFill>
                            <a:srgbClr val="18212B"/>
                          </a:solidFill>
                          <a:latin typeface="Malgun Gothic"/>
                        </a:rPr>
                        <a:t>hmmscan</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279 profile-common queries</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272 / 279  (97.49%)</a:t>
                      </a:r>
                    </a:p>
                  </a:txBody>
                  <a:tcPr marL="73152" marR="73152" marT="36576" marB="36576" anchor="ctr">
                    <a:solidFill>
                      <a:srgbClr val="F5F7FA"/>
                    </a:solidFill>
                  </a:tcPr>
                </a:tc>
                <a:tc>
                  <a:txBody>
                    <a:bodyPr>
                      <a:noAutofit/>
                    </a:bodyPr>
                    <a:lstStyle/>
                    <a:p>
                      <a:pPr algn="l"/>
                      <a:r>
                        <a:rPr sz="1200" b="0">
                          <a:solidFill>
                            <a:srgbClr val="18212B"/>
                          </a:solidFill>
                          <a:latin typeface="Malgun Gothic"/>
                        </a:rPr>
                        <a:t>42.58 s</a:t>
                      </a:r>
                    </a:p>
                  </a:txBody>
                  <a:tcPr marL="73152" marR="73152" marT="36576" marB="36576" anchor="ctr">
                    <a:solidFill>
                      <a:srgbClr val="F5F7FA"/>
                    </a:solidFill>
                  </a:tcPr>
                </a:tc>
              </a:tr>
            </a:tbl>
          </a:graphicData>
        </a:graphic>
      </p:graphicFrame>
      <p:sp>
        <p:nvSpPr>
          <p:cNvPr id="29" name="Rounded Rectangle 28"/>
          <p:cNvSpPr/>
          <p:nvPr/>
        </p:nvSpPr>
        <p:spPr>
          <a:xfrm>
            <a:off x="658368" y="5303520"/>
            <a:ext cx="10881360" cy="1024128"/>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5477256"/>
            <a:ext cx="1335024" cy="256032"/>
          </a:xfrm>
          <a:prstGeom prst="rect">
            <a:avLst/>
          </a:prstGeom>
          <a:noFill/>
        </p:spPr>
        <p:txBody>
          <a:bodyPr wrap="square" lIns="0" rIns="0" tIns="0" bIns="0" anchor="t">
            <a:noAutofit/>
          </a:bodyPr>
          <a:lstStyle/>
          <a:p>
            <a:pPr algn="l"/>
            <a:r>
              <a:rPr sz="1200" b="1">
                <a:solidFill>
                  <a:srgbClr val="A76500"/>
                </a:solidFill>
                <a:latin typeface="Malgun Gothic"/>
              </a:rPr>
              <a:t>How to read this</a:t>
            </a:r>
          </a:p>
        </p:txBody>
      </p:sp>
      <p:sp>
        <p:nvSpPr>
          <p:cNvPr id="31" name="TextBox 30"/>
          <p:cNvSpPr txBox="1"/>
          <p:nvPr/>
        </p:nvSpPr>
        <p:spPr>
          <a:xfrm>
            <a:off x="2212848" y="5431536"/>
            <a:ext cx="9034272" cy="603504"/>
          </a:xfrm>
          <a:prstGeom prst="rect">
            <a:avLst/>
          </a:prstGeom>
          <a:noFill/>
        </p:spPr>
        <p:txBody>
          <a:bodyPr wrap="square" lIns="0" rIns="0" tIns="0" bIns="0" anchor="t">
            <a:noAutofit/>
          </a:bodyPr>
          <a:lstStyle/>
          <a:p>
            <a:pPr algn="l"/>
            <a:r>
              <a:rPr sz="1050" b="1">
                <a:solidFill>
                  <a:srgbClr val="A76500"/>
                </a:solidFill>
                <a:latin typeface="Malgun Gothic"/>
              </a:rPr>
              <a:t>Compare methods only inside one cohort. On the shared 279-query cohort blastp and phmmer both reach 100% and hmmscan 97.49%, so the wider 87.68% row is a harder cohort, not a weaker method. Only 349 of 19,567 fold queries were evaluated and all were truth-selected, so this is a close-homolog slice rather than broad EC-prediction accuracy. Timings are local.</a:t>
            </a:r>
          </a:p>
        </p:txBody>
      </p:sp>
      <p:cxnSp>
        <p:nvCxnSpPr>
          <p:cNvPr id="32" name="Connector 31"/>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BROWSER WORKFLOW</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Positive and unrelated sequences behave as expected</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7</a:t>
            </a:r>
          </a:p>
        </p:txBody>
      </p:sp>
      <p:sp>
        <p:nvSpPr>
          <p:cNvPr id="6" name="Rounded Rectangle 5"/>
          <p:cNvSpPr/>
          <p:nvPr/>
        </p:nvSpPr>
        <p:spPr>
          <a:xfrm>
            <a:off x="658368" y="1353312"/>
            <a:ext cx="5285232" cy="4901184"/>
          </a:xfrm>
          <a:prstGeom prst="roundRect">
            <a:avLst/>
          </a:prstGeom>
          <a:solidFill>
            <a:srgbClr val="EAF6F1"/>
          </a:solidFill>
          <a:ln w="1270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96112" y="1600200"/>
            <a:ext cx="1609344" cy="310896"/>
          </a:xfrm>
          <a:prstGeom prst="roundRect">
            <a:avLst/>
          </a:prstGeom>
          <a:solidFill>
            <a:srgbClr val="FFFFFF"/>
          </a:solidFill>
          <a:ln w="8890">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609344"/>
            <a:ext cx="1536192" cy="256032"/>
          </a:xfrm>
          <a:prstGeom prst="rect">
            <a:avLst/>
          </a:prstGeom>
          <a:noFill/>
        </p:spPr>
        <p:txBody>
          <a:bodyPr wrap="square" lIns="0" rIns="0" tIns="0" bIns="0" anchor="ctr">
            <a:noAutofit/>
          </a:bodyPr>
          <a:lstStyle/>
          <a:p>
            <a:pPr algn="ctr"/>
            <a:r>
              <a:rPr sz="1050" b="1">
                <a:solidFill>
                  <a:srgbClr val="167C5A"/>
                </a:solidFill>
                <a:latin typeface="Malgun Gothic"/>
              </a:rPr>
              <a:t>POSITIVE CONTROL</a:t>
            </a:r>
          </a:p>
        </p:txBody>
      </p:sp>
      <p:sp>
        <p:nvSpPr>
          <p:cNvPr id="9" name="TextBox 8"/>
          <p:cNvSpPr txBox="1"/>
          <p:nvPr/>
        </p:nvSpPr>
        <p:spPr>
          <a:xfrm>
            <a:off x="896112" y="2057400"/>
            <a:ext cx="4645152" cy="347472"/>
          </a:xfrm>
          <a:prstGeom prst="rect">
            <a:avLst/>
          </a:prstGeom>
          <a:noFill/>
        </p:spPr>
        <p:txBody>
          <a:bodyPr wrap="square" lIns="0" rIns="0" tIns="0" bIns="0" anchor="t">
            <a:noAutofit/>
          </a:bodyPr>
          <a:lstStyle/>
          <a:p>
            <a:pPr algn="l"/>
            <a:r>
              <a:rPr sz="2000" b="1">
                <a:solidFill>
                  <a:srgbClr val="167C5A"/>
                </a:solidFill>
                <a:latin typeface="Malgun Gothic"/>
              </a:rPr>
              <a:t>Human mitochondrial Mn-SOD</a:t>
            </a:r>
          </a:p>
        </p:txBody>
      </p:sp>
      <p:sp>
        <p:nvSpPr>
          <p:cNvPr id="10" name="TextBox 9"/>
          <p:cNvSpPr txBox="1"/>
          <p:nvPr/>
        </p:nvSpPr>
        <p:spPr>
          <a:xfrm>
            <a:off x="896112" y="2450592"/>
            <a:ext cx="4645152" cy="256032"/>
          </a:xfrm>
          <a:prstGeom prst="rect">
            <a:avLst/>
          </a:prstGeom>
          <a:noFill/>
        </p:spPr>
        <p:txBody>
          <a:bodyPr wrap="square" lIns="0" rIns="0" tIns="0" bIns="0" anchor="t">
            <a:noAutofit/>
          </a:bodyPr>
          <a:lstStyle/>
          <a:p>
            <a:pPr algn="l"/>
            <a:r>
              <a:rPr sz="1150" b="0">
                <a:solidFill>
                  <a:srgbClr val="667085"/>
                </a:solidFill>
                <a:latin typeface="Malgun Gothic"/>
              </a:rPr>
              <a:t>Held-out query  |  EC 1.15.1.1  |  222 aa</a:t>
            </a:r>
          </a:p>
        </p:txBody>
      </p:sp>
      <p:sp>
        <p:nvSpPr>
          <p:cNvPr id="11" name="TextBox 10"/>
          <p:cNvSpPr txBox="1"/>
          <p:nvPr/>
        </p:nvSpPr>
        <p:spPr>
          <a:xfrm>
            <a:off x="896112" y="2926080"/>
            <a:ext cx="4617720" cy="1737360"/>
          </a:xfrm>
          <a:prstGeom prst="rect">
            <a:avLst/>
          </a:prstGeom>
          <a:noFill/>
        </p:spPr>
        <p:txBody>
          <a:bodyPr wrap="square" lIns="18288" rIns="18288" tIns="18288" bIns="18288">
            <a:noAutofit/>
          </a:bodyPr>
          <a:lstStyle/>
          <a:p>
            <a:pPr>
              <a:lnSpc>
                <a:spcPct val="105000"/>
              </a:lnSpc>
              <a:spcAft>
                <a:spcPts val="600"/>
              </a:spcAft>
            </a:pPr>
            <a:r>
              <a:rPr sz="1250">
                <a:solidFill>
                  <a:srgbClr val="18212B"/>
                </a:solidFill>
                <a:latin typeface="Malgun Gothic"/>
              </a:rPr>
              <a:t>•  BLAST: 25 hits; top EXR2306, 99.1% identity, full coverage.</a:t>
            </a:r>
          </a:p>
          <a:p>
            <a:pPr>
              <a:lnSpc>
                <a:spcPct val="105000"/>
              </a:lnSpc>
              <a:spcAft>
                <a:spcPts val="600"/>
              </a:spcAft>
            </a:pPr>
            <a:r>
              <a:rPr sz="1250">
                <a:solidFill>
                  <a:srgbClr val="18212B"/>
                </a:solidFill>
                <a:latin typeface="Malgun Gothic"/>
              </a:rPr>
              <a:t>•  phmmer: 25 hits; same top reference and same top four ordering.</a:t>
            </a:r>
          </a:p>
          <a:p>
            <a:pPr>
              <a:lnSpc>
                <a:spcPct val="105000"/>
              </a:lnSpc>
              <a:spcAft>
                <a:spcPts val="600"/>
              </a:spcAft>
            </a:pPr>
            <a:r>
              <a:rPr sz="1250">
                <a:solidFill>
                  <a:srgbClr val="18212B"/>
                </a:solidFill>
                <a:latin typeface="Malgun Gothic"/>
              </a:rPr>
              <a:t>•  hmmscan: two Mn/Fe SOD family profiles, both 100% EC purity.</a:t>
            </a:r>
          </a:p>
          <a:p>
            <a:pPr>
              <a:lnSpc>
                <a:spcPct val="105000"/>
              </a:lnSpc>
              <a:spcAft>
                <a:spcPts val="600"/>
              </a:spcAft>
            </a:pPr>
            <a:r>
              <a:rPr sz="1250">
                <a:solidFill>
                  <a:srgbClr val="18212B"/>
                </a:solidFill>
                <a:latin typeface="Malgun Gothic"/>
              </a:rPr>
              <a:t>•  No unrelated Cu/Zn SOD profile was returned.</a:t>
            </a:r>
          </a:p>
        </p:txBody>
      </p:sp>
      <p:sp>
        <p:nvSpPr>
          <p:cNvPr id="12" name="TextBox 11"/>
          <p:cNvSpPr txBox="1"/>
          <p:nvPr/>
        </p:nvSpPr>
        <p:spPr>
          <a:xfrm>
            <a:off x="896112" y="4983480"/>
            <a:ext cx="1965960" cy="365760"/>
          </a:xfrm>
          <a:prstGeom prst="rect">
            <a:avLst/>
          </a:prstGeom>
          <a:noFill/>
        </p:spPr>
        <p:txBody>
          <a:bodyPr wrap="square" lIns="0" rIns="0" tIns="0" bIns="0" anchor="t">
            <a:noAutofit/>
          </a:bodyPr>
          <a:lstStyle/>
          <a:p>
            <a:pPr algn="l"/>
            <a:r>
              <a:rPr sz="2100" b="1">
                <a:solidFill>
                  <a:srgbClr val="167C5A"/>
                </a:solidFill>
                <a:latin typeface="Malgun Gothic"/>
              </a:rPr>
              <a:t>0.925 s total</a:t>
            </a:r>
          </a:p>
        </p:txBody>
      </p:sp>
      <p:sp>
        <p:nvSpPr>
          <p:cNvPr id="13" name="TextBox 12"/>
          <p:cNvSpPr txBox="1"/>
          <p:nvPr/>
        </p:nvSpPr>
        <p:spPr>
          <a:xfrm>
            <a:off x="896112" y="5422392"/>
            <a:ext cx="4480560" cy="228600"/>
          </a:xfrm>
          <a:prstGeom prst="rect">
            <a:avLst/>
          </a:prstGeom>
          <a:noFill/>
        </p:spPr>
        <p:txBody>
          <a:bodyPr wrap="square" lIns="0" rIns="0" tIns="0" bIns="0" anchor="t">
            <a:noAutofit/>
          </a:bodyPr>
          <a:lstStyle/>
          <a:p>
            <a:pPr algn="l"/>
            <a:r>
              <a:rPr sz="1050" b="0">
                <a:solidFill>
                  <a:srgbClr val="667085"/>
                </a:solidFill>
                <a:latin typeface="Consolas"/>
              </a:rPr>
              <a:t>blastp 0.222  |  phmmer 0.278  |  hmmscan 0.174</a:t>
            </a:r>
          </a:p>
        </p:txBody>
      </p:sp>
      <p:sp>
        <p:nvSpPr>
          <p:cNvPr id="14" name="Rounded Rectangle 13"/>
          <p:cNvSpPr/>
          <p:nvPr/>
        </p:nvSpPr>
        <p:spPr>
          <a:xfrm>
            <a:off x="896112" y="5742432"/>
            <a:ext cx="4617720" cy="329184"/>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5788152"/>
            <a:ext cx="4352544" cy="237744"/>
          </a:xfrm>
          <a:prstGeom prst="rect">
            <a:avLst/>
          </a:prstGeom>
          <a:noFill/>
        </p:spPr>
        <p:txBody>
          <a:bodyPr wrap="square" lIns="0" rIns="0" tIns="0" bIns="0" anchor="t">
            <a:noAutofit/>
          </a:bodyPr>
          <a:lstStyle/>
          <a:p>
            <a:pPr algn="ctr"/>
            <a:r>
              <a:rPr sz="1050" b="1">
                <a:solidFill>
                  <a:srgbClr val="167C5A"/>
                </a:solidFill>
                <a:latin typeface="Malgun Gothic"/>
              </a:rPr>
              <a:t>Strong, mutually consistent sequence-family evidence</a:t>
            </a:r>
          </a:p>
        </p:txBody>
      </p:sp>
      <p:sp>
        <p:nvSpPr>
          <p:cNvPr id="16" name="Rounded Rectangle 15"/>
          <p:cNvSpPr/>
          <p:nvPr/>
        </p:nvSpPr>
        <p:spPr>
          <a:xfrm>
            <a:off x="6245352" y="1353312"/>
            <a:ext cx="5294376" cy="4901184"/>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83096" y="1600200"/>
            <a:ext cx="1719072" cy="310896"/>
          </a:xfrm>
          <a:prstGeom prst="roundRect">
            <a:avLst/>
          </a:prstGeom>
          <a:solidFill>
            <a:srgbClr val="FFFFFF"/>
          </a:solidFill>
          <a:ln w="889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1609344"/>
            <a:ext cx="1645919" cy="256032"/>
          </a:xfrm>
          <a:prstGeom prst="rect">
            <a:avLst/>
          </a:prstGeom>
          <a:noFill/>
        </p:spPr>
        <p:txBody>
          <a:bodyPr wrap="square" lIns="0" rIns="0" tIns="0" bIns="0" anchor="ctr">
            <a:noAutofit/>
          </a:bodyPr>
          <a:lstStyle/>
          <a:p>
            <a:pPr algn="ctr"/>
            <a:r>
              <a:rPr sz="1050" b="1">
                <a:solidFill>
                  <a:srgbClr val="52565B"/>
                </a:solidFill>
                <a:latin typeface="Malgun Gothic"/>
              </a:rPr>
              <a:t>UNRELATED CONTROL</a:t>
            </a:r>
          </a:p>
        </p:txBody>
      </p:sp>
      <p:sp>
        <p:nvSpPr>
          <p:cNvPr id="19" name="TextBox 18"/>
          <p:cNvSpPr txBox="1"/>
          <p:nvPr/>
        </p:nvSpPr>
        <p:spPr>
          <a:xfrm>
            <a:off x="6483096" y="2057400"/>
            <a:ext cx="4626864" cy="347472"/>
          </a:xfrm>
          <a:prstGeom prst="rect">
            <a:avLst/>
          </a:prstGeom>
          <a:noFill/>
        </p:spPr>
        <p:txBody>
          <a:bodyPr wrap="square" lIns="0" rIns="0" tIns="0" bIns="0" anchor="t">
            <a:noAutofit/>
          </a:bodyPr>
          <a:lstStyle/>
          <a:p>
            <a:pPr algn="l"/>
            <a:r>
              <a:rPr sz="2000" b="1">
                <a:solidFill>
                  <a:srgbClr val="52565B"/>
                </a:solidFill>
                <a:latin typeface="Malgun Gothic"/>
              </a:rPr>
              <a:t>Green fluorescent protein</a:t>
            </a:r>
          </a:p>
        </p:txBody>
      </p:sp>
      <p:sp>
        <p:nvSpPr>
          <p:cNvPr id="20" name="TextBox 19"/>
          <p:cNvSpPr txBox="1"/>
          <p:nvPr/>
        </p:nvSpPr>
        <p:spPr>
          <a:xfrm>
            <a:off x="6483096" y="2450592"/>
            <a:ext cx="4645152" cy="256032"/>
          </a:xfrm>
          <a:prstGeom prst="rect">
            <a:avLst/>
          </a:prstGeom>
          <a:noFill/>
        </p:spPr>
        <p:txBody>
          <a:bodyPr wrap="square" lIns="0" rIns="0" tIns="0" bIns="0" anchor="t">
            <a:noAutofit/>
          </a:bodyPr>
          <a:lstStyle/>
          <a:p>
            <a:pPr algn="l"/>
            <a:r>
              <a:rPr sz="1150" b="0">
                <a:solidFill>
                  <a:srgbClr val="667085"/>
                </a:solidFill>
                <a:latin typeface="Malgun Gothic"/>
              </a:rPr>
              <a:t>Unrelated non-enzyme query  |  238 aa</a:t>
            </a:r>
          </a:p>
        </p:txBody>
      </p:sp>
      <p:sp>
        <p:nvSpPr>
          <p:cNvPr id="21" name="Rounded Rectangle 20"/>
          <p:cNvSpPr/>
          <p:nvPr/>
        </p:nvSpPr>
        <p:spPr>
          <a:xfrm>
            <a:off x="6483096" y="2980944"/>
            <a:ext cx="4617720" cy="4846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3408" y="3072384"/>
            <a:ext cx="1097280" cy="274320"/>
          </a:xfrm>
          <a:prstGeom prst="rect">
            <a:avLst/>
          </a:prstGeom>
          <a:noFill/>
        </p:spPr>
        <p:txBody>
          <a:bodyPr wrap="square" lIns="0" rIns="0" tIns="0" bIns="0" anchor="ctr">
            <a:noAutofit/>
          </a:bodyPr>
          <a:lstStyle/>
          <a:p>
            <a:pPr algn="l"/>
            <a:r>
              <a:rPr sz="1150" b="1">
                <a:solidFill>
                  <a:srgbClr val="176B87"/>
                </a:solidFill>
                <a:latin typeface="Malgun Gothic"/>
              </a:rPr>
              <a:t>blastp</a:t>
            </a:r>
          </a:p>
        </p:txBody>
      </p:sp>
      <p:sp>
        <p:nvSpPr>
          <p:cNvPr id="23" name="TextBox 22"/>
          <p:cNvSpPr txBox="1"/>
          <p:nvPr/>
        </p:nvSpPr>
        <p:spPr>
          <a:xfrm>
            <a:off x="9646920" y="3072384"/>
            <a:ext cx="1143000" cy="274320"/>
          </a:xfrm>
          <a:prstGeom prst="rect">
            <a:avLst/>
          </a:prstGeom>
          <a:noFill/>
        </p:spPr>
        <p:txBody>
          <a:bodyPr wrap="square" lIns="0" rIns="0" tIns="0" bIns="0" anchor="ctr">
            <a:noAutofit/>
          </a:bodyPr>
          <a:lstStyle/>
          <a:p>
            <a:pPr algn="r"/>
            <a:r>
              <a:rPr sz="1150" b="1">
                <a:solidFill>
                  <a:srgbClr val="52565B"/>
                </a:solidFill>
                <a:latin typeface="Malgun Gothic"/>
              </a:rPr>
              <a:t>no hits</a:t>
            </a:r>
          </a:p>
        </p:txBody>
      </p:sp>
      <p:sp>
        <p:nvSpPr>
          <p:cNvPr id="24" name="Rounded Rectangle 23"/>
          <p:cNvSpPr/>
          <p:nvPr/>
        </p:nvSpPr>
        <p:spPr>
          <a:xfrm>
            <a:off x="6483096" y="3657600"/>
            <a:ext cx="4617720" cy="4846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8" y="3749039"/>
            <a:ext cx="1097280" cy="274320"/>
          </a:xfrm>
          <a:prstGeom prst="rect">
            <a:avLst/>
          </a:prstGeom>
          <a:noFill/>
        </p:spPr>
        <p:txBody>
          <a:bodyPr wrap="square" lIns="0" rIns="0" tIns="0" bIns="0" anchor="ctr">
            <a:noAutofit/>
          </a:bodyPr>
          <a:lstStyle/>
          <a:p>
            <a:pPr algn="l"/>
            <a:r>
              <a:rPr sz="1150" b="1">
                <a:solidFill>
                  <a:srgbClr val="167C5A"/>
                </a:solidFill>
                <a:latin typeface="Malgun Gothic"/>
              </a:rPr>
              <a:t>phmmer</a:t>
            </a:r>
          </a:p>
        </p:txBody>
      </p:sp>
      <p:sp>
        <p:nvSpPr>
          <p:cNvPr id="26" name="TextBox 25"/>
          <p:cNvSpPr txBox="1"/>
          <p:nvPr/>
        </p:nvSpPr>
        <p:spPr>
          <a:xfrm>
            <a:off x="9646920" y="3749039"/>
            <a:ext cx="1143000" cy="274320"/>
          </a:xfrm>
          <a:prstGeom prst="rect">
            <a:avLst/>
          </a:prstGeom>
          <a:noFill/>
        </p:spPr>
        <p:txBody>
          <a:bodyPr wrap="square" lIns="0" rIns="0" tIns="0" bIns="0" anchor="ctr">
            <a:noAutofit/>
          </a:bodyPr>
          <a:lstStyle/>
          <a:p>
            <a:pPr algn="r"/>
            <a:r>
              <a:rPr sz="1150" b="1">
                <a:solidFill>
                  <a:srgbClr val="52565B"/>
                </a:solidFill>
                <a:latin typeface="Malgun Gothic"/>
              </a:rPr>
              <a:t>no hits</a:t>
            </a:r>
          </a:p>
        </p:txBody>
      </p:sp>
      <p:sp>
        <p:nvSpPr>
          <p:cNvPr id="27" name="Rounded Rectangle 26"/>
          <p:cNvSpPr/>
          <p:nvPr/>
        </p:nvSpPr>
        <p:spPr>
          <a:xfrm>
            <a:off x="6483096" y="4334256"/>
            <a:ext cx="4617720" cy="484632"/>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93408" y="4425696"/>
            <a:ext cx="1097280" cy="274320"/>
          </a:xfrm>
          <a:prstGeom prst="rect">
            <a:avLst/>
          </a:prstGeom>
          <a:noFill/>
        </p:spPr>
        <p:txBody>
          <a:bodyPr wrap="square" lIns="0" rIns="0" tIns="0" bIns="0" anchor="ctr">
            <a:noAutofit/>
          </a:bodyPr>
          <a:lstStyle/>
          <a:p>
            <a:pPr algn="l"/>
            <a:r>
              <a:rPr sz="1150" b="1">
                <a:solidFill>
                  <a:srgbClr val="6554A4"/>
                </a:solidFill>
                <a:latin typeface="Malgun Gothic"/>
              </a:rPr>
              <a:t>hmmscan</a:t>
            </a:r>
          </a:p>
        </p:txBody>
      </p:sp>
      <p:sp>
        <p:nvSpPr>
          <p:cNvPr id="29" name="TextBox 28"/>
          <p:cNvSpPr txBox="1"/>
          <p:nvPr/>
        </p:nvSpPr>
        <p:spPr>
          <a:xfrm>
            <a:off x="9646920" y="4425696"/>
            <a:ext cx="1143000" cy="274320"/>
          </a:xfrm>
          <a:prstGeom prst="rect">
            <a:avLst/>
          </a:prstGeom>
          <a:noFill/>
        </p:spPr>
        <p:txBody>
          <a:bodyPr wrap="square" lIns="0" rIns="0" tIns="0" bIns="0" anchor="ctr">
            <a:noAutofit/>
          </a:bodyPr>
          <a:lstStyle/>
          <a:p>
            <a:pPr algn="r"/>
            <a:r>
              <a:rPr sz="1150" b="1">
                <a:solidFill>
                  <a:srgbClr val="52565B"/>
                </a:solidFill>
                <a:latin typeface="Malgun Gothic"/>
              </a:rPr>
              <a:t>no hits</a:t>
            </a:r>
          </a:p>
        </p:txBody>
      </p:sp>
      <p:sp>
        <p:nvSpPr>
          <p:cNvPr id="30" name="TextBox 29"/>
          <p:cNvSpPr txBox="1"/>
          <p:nvPr/>
        </p:nvSpPr>
        <p:spPr>
          <a:xfrm>
            <a:off x="6483096" y="5230368"/>
            <a:ext cx="1965960" cy="365760"/>
          </a:xfrm>
          <a:prstGeom prst="rect">
            <a:avLst/>
          </a:prstGeom>
          <a:noFill/>
        </p:spPr>
        <p:txBody>
          <a:bodyPr wrap="square" lIns="0" rIns="0" tIns="0" bIns="0" anchor="t">
            <a:noAutofit/>
          </a:bodyPr>
          <a:lstStyle/>
          <a:p>
            <a:pPr algn="l"/>
            <a:r>
              <a:rPr sz="2100" b="1">
                <a:solidFill>
                  <a:srgbClr val="52565B"/>
                </a:solidFill>
                <a:latin typeface="Malgun Gothic"/>
              </a:rPr>
              <a:t>0.850 s total</a:t>
            </a:r>
          </a:p>
        </p:txBody>
      </p:sp>
      <p:sp>
        <p:nvSpPr>
          <p:cNvPr id="31" name="Rounded Rectangle 30"/>
          <p:cNvSpPr/>
          <p:nvPr/>
        </p:nvSpPr>
        <p:spPr>
          <a:xfrm>
            <a:off x="6483096" y="5742432"/>
            <a:ext cx="4617720" cy="329184"/>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74536" y="5788152"/>
            <a:ext cx="4425696" cy="237744"/>
          </a:xfrm>
          <a:prstGeom prst="rect">
            <a:avLst/>
          </a:prstGeom>
          <a:noFill/>
        </p:spPr>
        <p:txBody>
          <a:bodyPr wrap="square" lIns="0" rIns="0" tIns="0" bIns="0" anchor="t">
            <a:noAutofit/>
          </a:bodyPr>
          <a:lstStyle/>
          <a:p>
            <a:pPr algn="ctr"/>
            <a:r>
              <a:rPr sz="1030" b="1">
                <a:solidFill>
                  <a:srgbClr val="52565B"/>
                </a:solidFill>
                <a:latin typeface="Malgun Gothic"/>
              </a:rPr>
              <a:t>No hit means no detectable relative in this reference set</a:t>
            </a:r>
          </a:p>
        </p:txBody>
      </p:sp>
      <p:cxnSp>
        <p:nvCxnSpPr>
          <p:cNvPr id="33" name="Connector 32"/>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REAL-DATA BUILD</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Rebuilt on real Swiss-Prot and PDB data</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8</a:t>
            </a:r>
          </a:p>
        </p:txBody>
      </p:sp>
      <p:sp>
        <p:nvSpPr>
          <p:cNvPr id="6" name="Rounded Rectangle 5"/>
          <p:cNvSpPr/>
          <p:nvPr/>
        </p:nvSpPr>
        <p:spPr>
          <a:xfrm>
            <a:off x="658368"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353312"/>
            <a:ext cx="82296" cy="1042415"/>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81328"/>
            <a:ext cx="2290572" cy="384048"/>
          </a:xfrm>
          <a:prstGeom prst="rect">
            <a:avLst/>
          </a:prstGeom>
          <a:noFill/>
        </p:spPr>
        <p:txBody>
          <a:bodyPr wrap="square" lIns="0" rIns="0" tIns="0" bIns="0" anchor="t">
            <a:noAutofit/>
          </a:bodyPr>
          <a:lstStyle/>
          <a:p>
            <a:pPr algn="l"/>
            <a:r>
              <a:rPr sz="2400" b="1">
                <a:solidFill>
                  <a:srgbClr val="B71A1A"/>
                </a:solidFill>
                <a:latin typeface="Malgun Gothic"/>
              </a:rPr>
              <a:t>272,112</a:t>
            </a:r>
          </a:p>
        </p:txBody>
      </p:sp>
      <p:sp>
        <p:nvSpPr>
          <p:cNvPr id="9" name="TextBox 8"/>
          <p:cNvSpPr txBox="1"/>
          <p:nvPr/>
        </p:nvSpPr>
        <p:spPr>
          <a:xfrm>
            <a:off x="868680"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references built</a:t>
            </a:r>
          </a:p>
        </p:txBody>
      </p:sp>
      <p:sp>
        <p:nvSpPr>
          <p:cNvPr id="10" name="TextBox 9"/>
          <p:cNvSpPr txBox="1"/>
          <p:nvPr/>
        </p:nvSpPr>
        <p:spPr>
          <a:xfrm>
            <a:off x="868680"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from 273,500 public rows</a:t>
            </a:r>
          </a:p>
        </p:txBody>
      </p:sp>
      <p:sp>
        <p:nvSpPr>
          <p:cNvPr id="11" name="Rounded Rectangle 10"/>
          <p:cNvSpPr/>
          <p:nvPr/>
        </p:nvSpPr>
        <p:spPr>
          <a:xfrm>
            <a:off x="3415284"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15284" y="1353312"/>
            <a:ext cx="82296" cy="1042415"/>
          </a:xfrm>
          <a:prstGeom prst="rect">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5596" y="1481328"/>
            <a:ext cx="2290572" cy="384048"/>
          </a:xfrm>
          <a:prstGeom prst="rect">
            <a:avLst/>
          </a:prstGeom>
          <a:noFill/>
        </p:spPr>
        <p:txBody>
          <a:bodyPr wrap="square" lIns="0" rIns="0" tIns="0" bIns="0" anchor="t">
            <a:noAutofit/>
          </a:bodyPr>
          <a:lstStyle/>
          <a:p>
            <a:pPr algn="l"/>
            <a:r>
              <a:rPr sz="2400" b="1">
                <a:solidFill>
                  <a:srgbClr val="52565B"/>
                </a:solidFill>
                <a:latin typeface="Malgun Gothic"/>
              </a:rPr>
              <a:t>4 m 29 s</a:t>
            </a:r>
          </a:p>
        </p:txBody>
      </p:sp>
      <p:sp>
        <p:nvSpPr>
          <p:cNvPr id="14" name="TextBox 13"/>
          <p:cNvSpPr txBox="1"/>
          <p:nvPr/>
        </p:nvSpPr>
        <p:spPr>
          <a:xfrm>
            <a:off x="3625596"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full offline build</a:t>
            </a:r>
          </a:p>
        </p:txBody>
      </p:sp>
      <p:sp>
        <p:nvSpPr>
          <p:cNvPr id="15" name="TextBox 14"/>
          <p:cNvSpPr txBox="1"/>
          <p:nvPr/>
        </p:nvSpPr>
        <p:spPr>
          <a:xfrm>
            <a:off x="3625596"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export 252 s + makeblastdb 13 s</a:t>
            </a:r>
          </a:p>
        </p:txBody>
      </p:sp>
      <p:sp>
        <p:nvSpPr>
          <p:cNvPr id="16" name="Rounded Rectangle 15"/>
          <p:cNvSpPr/>
          <p:nvPr/>
        </p:nvSpPr>
        <p:spPr>
          <a:xfrm>
            <a:off x="6172200"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1353312"/>
            <a:ext cx="82296" cy="1042415"/>
          </a:xfrm>
          <a:prstGeom prst="rect">
            <a:avLst/>
          </a:prstGeom>
          <a:solidFill>
            <a:srgbClr val="176B87"/>
          </a:solidFill>
          <a:ln>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1481328"/>
            <a:ext cx="2290572" cy="384048"/>
          </a:xfrm>
          <a:prstGeom prst="rect">
            <a:avLst/>
          </a:prstGeom>
          <a:noFill/>
        </p:spPr>
        <p:txBody>
          <a:bodyPr wrap="square" lIns="0" rIns="0" tIns="0" bIns="0" anchor="t">
            <a:noAutofit/>
          </a:bodyPr>
          <a:lstStyle/>
          <a:p>
            <a:pPr algn="l"/>
            <a:r>
              <a:rPr sz="2400" b="1">
                <a:solidFill>
                  <a:srgbClr val="176B87"/>
                </a:solidFill>
                <a:latin typeface="Malgun Gothic"/>
              </a:rPr>
              <a:t>1.8 s</a:t>
            </a:r>
          </a:p>
        </p:txBody>
      </p:sp>
      <p:sp>
        <p:nvSpPr>
          <p:cNvPr id="19" name="TextBox 18"/>
          <p:cNvSpPr txBox="1"/>
          <p:nvPr/>
        </p:nvSpPr>
        <p:spPr>
          <a:xfrm>
            <a:off x="6382512"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blastp, one query</a:t>
            </a:r>
          </a:p>
        </p:txBody>
      </p:sp>
      <p:sp>
        <p:nvSpPr>
          <p:cNvPr id="20" name="TextBox 19"/>
          <p:cNvSpPr txBox="1"/>
          <p:nvPr/>
        </p:nvSpPr>
        <p:spPr>
          <a:xfrm>
            <a:off x="6382512"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phmmer 7.1 s in the same job</a:t>
            </a:r>
          </a:p>
        </p:txBody>
      </p:sp>
      <p:sp>
        <p:nvSpPr>
          <p:cNvPr id="21" name="Rounded Rectangle 20"/>
          <p:cNvSpPr/>
          <p:nvPr/>
        </p:nvSpPr>
        <p:spPr>
          <a:xfrm>
            <a:off x="8929116" y="1353312"/>
            <a:ext cx="2610612" cy="1042415"/>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29116" y="1353312"/>
            <a:ext cx="82296" cy="1042415"/>
          </a:xfrm>
          <a:prstGeom prst="rect">
            <a:avLst/>
          </a:prstGeom>
          <a:solidFill>
            <a:srgbClr val="167C5A"/>
          </a:solidFill>
          <a:ln>
            <a:solidFill>
              <a:srgbClr val="167C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39428" y="1481328"/>
            <a:ext cx="2290572" cy="384048"/>
          </a:xfrm>
          <a:prstGeom prst="rect">
            <a:avLst/>
          </a:prstGeom>
          <a:noFill/>
        </p:spPr>
        <p:txBody>
          <a:bodyPr wrap="square" lIns="0" rIns="0" tIns="0" bIns="0" anchor="t">
            <a:noAutofit/>
          </a:bodyPr>
          <a:lstStyle/>
          <a:p>
            <a:pPr algn="l"/>
            <a:r>
              <a:rPr sz="2400" b="1">
                <a:solidFill>
                  <a:srgbClr val="167C5A"/>
                </a:solidFill>
                <a:latin typeface="Malgun Gothic"/>
              </a:rPr>
              <a:t>0</a:t>
            </a:r>
          </a:p>
        </p:txBody>
      </p:sp>
      <p:sp>
        <p:nvSpPr>
          <p:cNvPr id="24" name="TextBox 23"/>
          <p:cNvSpPr txBox="1"/>
          <p:nvPr/>
        </p:nvSpPr>
        <p:spPr>
          <a:xfrm>
            <a:off x="9139428" y="1883664"/>
            <a:ext cx="2290572" cy="256032"/>
          </a:xfrm>
          <a:prstGeom prst="rect">
            <a:avLst/>
          </a:prstGeom>
          <a:noFill/>
        </p:spPr>
        <p:txBody>
          <a:bodyPr wrap="square" lIns="0" rIns="0" tIns="0" bIns="0" anchor="t">
            <a:noAutofit/>
          </a:bodyPr>
          <a:lstStyle/>
          <a:p>
            <a:pPr algn="l"/>
            <a:r>
              <a:rPr sz="1150" b="1">
                <a:solidFill>
                  <a:srgbClr val="18212B"/>
                </a:solidFill>
                <a:latin typeface="Malgun Gothic"/>
              </a:rPr>
              <a:t>changes to the search code</a:t>
            </a:r>
          </a:p>
        </p:txBody>
      </p:sp>
      <p:sp>
        <p:nvSpPr>
          <p:cNvPr id="25" name="TextBox 24"/>
          <p:cNvSpPr txBox="1"/>
          <p:nvPr/>
        </p:nvSpPr>
        <p:spPr>
          <a:xfrm>
            <a:off x="9139428" y="2148840"/>
            <a:ext cx="2290572" cy="164592"/>
          </a:xfrm>
          <a:prstGeom prst="rect">
            <a:avLst/>
          </a:prstGeom>
          <a:noFill/>
        </p:spPr>
        <p:txBody>
          <a:bodyPr wrap="square" lIns="0" rIns="0" tIns="0" bIns="0" anchor="t">
            <a:noAutofit/>
          </a:bodyPr>
          <a:lstStyle/>
          <a:p>
            <a:pPr algn="l"/>
            <a:r>
              <a:rPr sz="850" b="0">
                <a:solidFill>
                  <a:srgbClr val="667085"/>
                </a:solidFill>
                <a:latin typeface="Malgun Gothic"/>
              </a:rPr>
              <a:t>a loader script only</a:t>
            </a:r>
          </a:p>
        </p:txBody>
      </p:sp>
      <p:sp>
        <p:nvSpPr>
          <p:cNvPr id="26" name="TextBox 25"/>
          <p:cNvSpPr txBox="1"/>
          <p:nvPr/>
        </p:nvSpPr>
        <p:spPr>
          <a:xfrm>
            <a:off x="658368" y="2542032"/>
            <a:ext cx="10881360" cy="237744"/>
          </a:xfrm>
          <a:prstGeom prst="rect">
            <a:avLst/>
          </a:prstGeom>
          <a:noFill/>
        </p:spPr>
        <p:txBody>
          <a:bodyPr wrap="square" lIns="0" rIns="0" tIns="0" bIns="0" anchor="t">
            <a:noAutofit/>
          </a:bodyPr>
          <a:lstStyle/>
          <a:p>
            <a:pPr algn="ctr"/>
            <a:r>
              <a:rPr sz="1100" b="0">
                <a:solidFill>
                  <a:srgbClr val="667085"/>
                </a:solidFill>
                <a:latin typeface="Malgun Gothic"/>
              </a:rPr>
              <a:t>Swiss-Prot 231,577  |  PDB 40,535  |  235,821 carry an EC  |  1,388 rows failed QC  |  build 56b491bee73d, profiles not built on this generation</a:t>
            </a:r>
          </a:p>
        </p:txBody>
      </p:sp>
      <p:sp>
        <p:nvSpPr>
          <p:cNvPr id="27" name="Rounded Rectangle 26"/>
          <p:cNvSpPr/>
          <p:nvPr/>
        </p:nvSpPr>
        <p:spPr>
          <a:xfrm>
            <a:off x="658368" y="2880360"/>
            <a:ext cx="5285232" cy="2788920"/>
          </a:xfrm>
          <a:prstGeom prst="roundRect">
            <a:avLst/>
          </a:prstGeom>
          <a:solidFill>
            <a:srgbClr val="FFF5DF"/>
          </a:solidFill>
          <a:ln w="1270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96112" y="3072384"/>
            <a:ext cx="2121408" cy="310896"/>
          </a:xfrm>
          <a:prstGeom prst="roundRect">
            <a:avLst/>
          </a:prstGeom>
          <a:solidFill>
            <a:srgbClr val="FFFFFF"/>
          </a:solidFill>
          <a:ln w="8890">
            <a:solidFill>
              <a:srgbClr val="A76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3081527"/>
            <a:ext cx="2048255" cy="256032"/>
          </a:xfrm>
          <a:prstGeom prst="rect">
            <a:avLst/>
          </a:prstGeom>
          <a:noFill/>
        </p:spPr>
        <p:txBody>
          <a:bodyPr wrap="square" lIns="0" rIns="0" tIns="0" bIns="0" anchor="ctr">
            <a:noAutofit/>
          </a:bodyPr>
          <a:lstStyle/>
          <a:p>
            <a:pPr algn="ctr"/>
            <a:r>
              <a:rPr sz="1050" b="1">
                <a:solidFill>
                  <a:srgbClr val="A76500"/>
                </a:solidFill>
                <a:latin typeface="Malgun Gothic"/>
              </a:rPr>
              <a:t>WHAT REAL DATA EXPOSED</a:t>
            </a:r>
          </a:p>
        </p:txBody>
      </p:sp>
      <p:sp>
        <p:nvSpPr>
          <p:cNvPr id="30" name="TextBox 29"/>
          <p:cNvSpPr txBox="1"/>
          <p:nvPr/>
        </p:nvSpPr>
        <p:spPr>
          <a:xfrm>
            <a:off x="896112" y="3529584"/>
            <a:ext cx="4809744" cy="329184"/>
          </a:xfrm>
          <a:prstGeom prst="rect">
            <a:avLst/>
          </a:prstGeom>
          <a:noFill/>
        </p:spPr>
        <p:txBody>
          <a:bodyPr wrap="square" lIns="0" rIns="0" tIns="0" bIns="0" anchor="t">
            <a:noAutofit/>
          </a:bodyPr>
          <a:lstStyle/>
          <a:p>
            <a:pPr algn="l"/>
            <a:r>
              <a:rPr sz="1800" b="1">
                <a:solidFill>
                  <a:srgbClr val="A76500"/>
                </a:solidFill>
                <a:latin typeface="Malgun Gothic"/>
              </a:rPr>
              <a:t>GFP is no longer a clean negative</a:t>
            </a:r>
          </a:p>
        </p:txBody>
      </p:sp>
      <p:sp>
        <p:nvSpPr>
          <p:cNvPr id="31" name="TextBox 30"/>
          <p:cNvSpPr txBox="1"/>
          <p:nvPr/>
        </p:nvSpPr>
        <p:spPr>
          <a:xfrm>
            <a:off x="896112" y="3986784"/>
            <a:ext cx="4809744" cy="1554480"/>
          </a:xfrm>
          <a:prstGeom prst="rect">
            <a:avLst/>
          </a:prstGeom>
          <a:noFill/>
        </p:spPr>
        <p:txBody>
          <a:bodyPr wrap="square" lIns="18288" rIns="18288" tIns="18288" bIns="18288">
            <a:noAutofit/>
          </a:bodyPr>
          <a:lstStyle/>
          <a:p>
            <a:pPr>
              <a:lnSpc>
                <a:spcPct val="105000"/>
              </a:lnSpc>
              <a:spcAft>
                <a:spcPts val="500"/>
              </a:spcAft>
            </a:pPr>
            <a:r>
              <a:rPr sz="1150">
                <a:solidFill>
                  <a:srgbClr val="18212B"/>
                </a:solidFill>
                <a:latin typeface="Malgun Gothic"/>
              </a:rPr>
              <a:t>•  On the fixture, GFP returned no hits from all three methods.</a:t>
            </a:r>
          </a:p>
          <a:p>
            <a:pPr>
              <a:lnSpc>
                <a:spcPct val="105000"/>
              </a:lnSpc>
              <a:spcAft>
                <a:spcPts val="500"/>
              </a:spcAft>
            </a:pPr>
            <a:r>
              <a:rPr sz="1150">
                <a:solidFill>
                  <a:srgbClr val="18212B"/>
                </a:solidFill>
                <a:latin typeface="Malgun Gothic"/>
              </a:rPr>
              <a:t>•  On 272,112 real references: 25 blastp hits, top E 8.4e-175 at 97.5% identity.</a:t>
            </a:r>
          </a:p>
          <a:p>
            <a:pPr>
              <a:lnSpc>
                <a:spcPct val="105000"/>
              </a:lnSpc>
              <a:spcAft>
                <a:spcPts val="500"/>
              </a:spcAft>
            </a:pPr>
            <a:r>
              <a:rPr sz="1150">
                <a:solidFill>
                  <a:srgbClr val="18212B"/>
                </a:solidFill>
                <a:latin typeface="Malgun Gothic"/>
              </a:rPr>
              <a:t>•  Every hit is a PDB GFP-fusion construct, GFP joined to an unrelated protein.</a:t>
            </a:r>
          </a:p>
          <a:p>
            <a:pPr>
              <a:lnSpc>
                <a:spcPct val="105000"/>
              </a:lnSpc>
              <a:spcAft>
                <a:spcPts val="500"/>
              </a:spcAft>
            </a:pPr>
            <a:r>
              <a:rPr sz="1150">
                <a:solidFill>
                  <a:srgbClr val="18212B"/>
                </a:solidFill>
                <a:latin typeface="Malgun Gothic"/>
              </a:rPr>
              <a:t>•  15 of the 25 carry an EC, spanning eight distinct values. None belong to GFP.</a:t>
            </a:r>
          </a:p>
        </p:txBody>
      </p:sp>
      <p:sp>
        <p:nvSpPr>
          <p:cNvPr id="32" name="Rounded Rectangle 31"/>
          <p:cNvSpPr/>
          <p:nvPr/>
        </p:nvSpPr>
        <p:spPr>
          <a:xfrm>
            <a:off x="6245352" y="2880360"/>
            <a:ext cx="5294376" cy="2788920"/>
          </a:xfrm>
          <a:prstGeom prst="roundRect">
            <a:avLst/>
          </a:prstGeom>
          <a:solidFill>
            <a:srgbClr val="EAF4F7"/>
          </a:solidFill>
          <a:ln w="12700">
            <a:solidFill>
              <a:srgbClr val="EAF4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483096" y="3072384"/>
            <a:ext cx="2487168" cy="310896"/>
          </a:xfrm>
          <a:prstGeom prst="roundRect">
            <a:avLst/>
          </a:prstGeom>
          <a:solidFill>
            <a:srgbClr val="FFFFFF"/>
          </a:solidFill>
          <a:ln w="8890">
            <a:solidFill>
              <a:srgbClr val="176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9672" y="3081527"/>
            <a:ext cx="2414016" cy="256032"/>
          </a:xfrm>
          <a:prstGeom prst="rect">
            <a:avLst/>
          </a:prstGeom>
          <a:noFill/>
        </p:spPr>
        <p:txBody>
          <a:bodyPr wrap="square" lIns="0" rIns="0" tIns="0" bIns="0" anchor="ctr">
            <a:noAutofit/>
          </a:bodyPr>
          <a:lstStyle/>
          <a:p>
            <a:pPr algn="ctr"/>
            <a:r>
              <a:rPr sz="1050" b="1">
                <a:solidFill>
                  <a:srgbClr val="176B87"/>
                </a:solidFill>
                <a:latin typeface="Malgun Gothic"/>
              </a:rPr>
              <a:t>THE OUTPUT ALREADY FLAGS IT</a:t>
            </a:r>
          </a:p>
        </p:txBody>
      </p:sp>
      <p:sp>
        <p:nvSpPr>
          <p:cNvPr id="35" name="TextBox 34"/>
          <p:cNvSpPr txBox="1"/>
          <p:nvPr/>
        </p:nvSpPr>
        <p:spPr>
          <a:xfrm>
            <a:off x="6483096" y="3529584"/>
            <a:ext cx="4809744" cy="329184"/>
          </a:xfrm>
          <a:prstGeom prst="rect">
            <a:avLst/>
          </a:prstGeom>
          <a:noFill/>
        </p:spPr>
        <p:txBody>
          <a:bodyPr wrap="square" lIns="0" rIns="0" tIns="0" bIns="0" anchor="t">
            <a:noAutofit/>
          </a:bodyPr>
          <a:lstStyle/>
          <a:p>
            <a:pPr algn="l"/>
            <a:r>
              <a:rPr sz="1800" b="1">
                <a:solidFill>
                  <a:srgbClr val="176B87"/>
                </a:solidFill>
                <a:latin typeface="Malgun Gothic"/>
              </a:rPr>
              <a:t>Full query, partial subject</a:t>
            </a:r>
          </a:p>
        </p:txBody>
      </p:sp>
      <p:sp>
        <p:nvSpPr>
          <p:cNvPr id="36" name="TextBox 35"/>
          <p:cNvSpPr txBox="1"/>
          <p:nvPr/>
        </p:nvSpPr>
        <p:spPr>
          <a:xfrm>
            <a:off x="6483096" y="3986784"/>
            <a:ext cx="4809744" cy="1554480"/>
          </a:xfrm>
          <a:prstGeom prst="rect">
            <a:avLst/>
          </a:prstGeom>
          <a:noFill/>
        </p:spPr>
        <p:txBody>
          <a:bodyPr wrap="square" lIns="18288" rIns="18288" tIns="18288" bIns="18288">
            <a:noAutofit/>
          </a:bodyPr>
          <a:lstStyle/>
          <a:p>
            <a:pPr>
              <a:lnSpc>
                <a:spcPct val="105000"/>
              </a:lnSpc>
              <a:spcAft>
                <a:spcPts val="500"/>
              </a:spcAft>
            </a:pPr>
            <a:r>
              <a:rPr sz="1150">
                <a:solidFill>
                  <a:srgbClr val="18212B"/>
                </a:solidFill>
                <a:latin typeface="Malgun Gothic"/>
              </a:rPr>
              <a:t>•  Top hit 6HR1: query coverage 1.00, subject coverage 0.55.</a:t>
            </a:r>
          </a:p>
          <a:p>
            <a:pPr>
              <a:lnSpc>
                <a:spcPct val="105000"/>
              </a:lnSpc>
              <a:spcAft>
                <a:spcPts val="500"/>
              </a:spcAft>
            </a:pPr>
            <a:r>
              <a:rPr sz="1150">
                <a:solidFill>
                  <a:srgbClr val="18212B"/>
                </a:solidFill>
                <a:latin typeface="Malgun Gothic"/>
              </a:rPr>
              <a:t>•  All 25 hits: query 0.97 to 1.00, subject 0.27 to 0.84.</a:t>
            </a:r>
          </a:p>
          <a:p>
            <a:pPr>
              <a:lnSpc>
                <a:spcPct val="105000"/>
              </a:lnSpc>
              <a:spcAft>
                <a:spcPts val="500"/>
              </a:spcAft>
            </a:pPr>
            <a:r>
              <a:rPr sz="1150">
                <a:solidFill>
                  <a:srgbClr val="18212B"/>
                </a:solidFill>
                <a:latin typeface="Malgun Gothic"/>
              </a:rPr>
              <a:t>•  That gap is the fusion signature, and it is visible without opening PDB.</a:t>
            </a:r>
          </a:p>
          <a:p>
            <a:pPr>
              <a:lnSpc>
                <a:spcPct val="105000"/>
              </a:lnSpc>
              <a:spcAft>
                <a:spcPts val="500"/>
              </a:spcAft>
            </a:pPr>
            <a:r>
              <a:rPr sz="1150">
                <a:solidFill>
                  <a:srgbClr val="18212B"/>
                </a:solidFill>
                <a:latin typeface="Malgun Gothic"/>
              </a:rPr>
              <a:t>•  Subject coverage is computed from merged HSP intervals; BLAST+ has no scovs field.</a:t>
            </a:r>
          </a:p>
        </p:txBody>
      </p:sp>
      <p:sp>
        <p:nvSpPr>
          <p:cNvPr id="37" name="Rounded Rectangle 36"/>
          <p:cNvSpPr/>
          <p:nvPr/>
        </p:nvSpPr>
        <p:spPr>
          <a:xfrm>
            <a:off x="658368" y="5806440"/>
            <a:ext cx="10881360" cy="502920"/>
          </a:xfrm>
          <a:prstGeom prst="roundRect">
            <a:avLst/>
          </a:prstGeom>
          <a:solidFill>
            <a:srgbClr val="F5F7FA"/>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943600"/>
            <a:ext cx="10479024" cy="237744"/>
          </a:xfrm>
          <a:prstGeom prst="rect">
            <a:avLst/>
          </a:prstGeom>
          <a:noFill/>
        </p:spPr>
        <p:txBody>
          <a:bodyPr wrap="square" lIns="0" rIns="0" tIns="0" bIns="0" anchor="t">
            <a:noAutofit/>
          </a:bodyPr>
          <a:lstStyle/>
          <a:p>
            <a:pPr algn="ctr"/>
            <a:r>
              <a:rPr sz="1100" b="1">
                <a:solidFill>
                  <a:srgbClr val="52565B"/>
                </a:solidFill>
                <a:latin typeface="Malgun Gothic"/>
              </a:rPr>
              <a:t>Only the fixture generation has profile HMMs, so every hmmscan number in this deck comes from build 32abd580b689. Building profiles on the real generation is the next step.</a:t>
            </a:r>
          </a:p>
        </p:txBody>
      </p:sp>
      <p:cxnSp>
        <p:nvCxnSpPr>
          <p:cNvPr id="39" name="Connector 38"/>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256032"/>
            <a:ext cx="4114800" cy="256032"/>
          </a:xfrm>
          <a:prstGeom prst="rect">
            <a:avLst/>
          </a:prstGeom>
          <a:noFill/>
        </p:spPr>
        <p:txBody>
          <a:bodyPr wrap="square" lIns="0" rIns="0" tIns="0" bIns="0" anchor="t">
            <a:noAutofit/>
          </a:bodyPr>
          <a:lstStyle/>
          <a:p>
            <a:pPr algn="l"/>
            <a:r>
              <a:rPr sz="1050" b="1">
                <a:solidFill>
                  <a:srgbClr val="B71A1A"/>
                </a:solidFill>
                <a:latin typeface="Malgun Gothic"/>
              </a:rPr>
              <a:t>PRODUCTION INTEGRATION</a:t>
            </a:r>
          </a:p>
        </p:txBody>
      </p:sp>
      <p:sp>
        <p:nvSpPr>
          <p:cNvPr id="4" name="TextBox 3"/>
          <p:cNvSpPr txBox="1"/>
          <p:nvPr/>
        </p:nvSpPr>
        <p:spPr>
          <a:xfrm>
            <a:off x="640080" y="566928"/>
            <a:ext cx="10881360" cy="566928"/>
          </a:xfrm>
          <a:prstGeom prst="rect">
            <a:avLst/>
          </a:prstGeom>
          <a:noFill/>
        </p:spPr>
        <p:txBody>
          <a:bodyPr wrap="square" lIns="0" rIns="0" tIns="0" bIns="0" anchor="t">
            <a:noAutofit/>
          </a:bodyPr>
          <a:lstStyle/>
          <a:p>
            <a:pPr algn="l"/>
            <a:r>
              <a:rPr sz="2800" b="1">
                <a:solidFill>
                  <a:srgbClr val="18212B"/>
                </a:solidFill>
                <a:latin typeface="Malgun Gothic"/>
              </a:rPr>
              <a:t>The remaining work starts with real EnzymeX access</a:t>
            </a:r>
          </a:p>
        </p:txBody>
      </p:sp>
      <p:sp>
        <p:nvSpPr>
          <p:cNvPr id="5" name="TextBox 4"/>
          <p:cNvSpPr txBox="1"/>
          <p:nvPr/>
        </p:nvSpPr>
        <p:spPr>
          <a:xfrm>
            <a:off x="11201400" y="310896"/>
            <a:ext cx="320040" cy="228600"/>
          </a:xfrm>
          <a:prstGeom prst="rect">
            <a:avLst/>
          </a:prstGeom>
          <a:noFill/>
        </p:spPr>
        <p:txBody>
          <a:bodyPr wrap="square" lIns="0" rIns="0" tIns="0" bIns="0" anchor="t">
            <a:noAutofit/>
          </a:bodyPr>
          <a:lstStyle/>
          <a:p>
            <a:pPr algn="r"/>
            <a:r>
              <a:rPr sz="1000" b="0">
                <a:solidFill>
                  <a:srgbClr val="667085"/>
                </a:solidFill>
                <a:latin typeface="Malgun Gothic"/>
              </a:rPr>
              <a:t>9</a:t>
            </a:r>
          </a:p>
        </p:txBody>
      </p:sp>
      <p:sp>
        <p:nvSpPr>
          <p:cNvPr id="6" name="Oval 5"/>
          <p:cNvSpPr/>
          <p:nvPr/>
        </p:nvSpPr>
        <p:spPr>
          <a:xfrm>
            <a:off x="749808" y="1463040"/>
            <a:ext cx="475488" cy="475488"/>
          </a:xfrm>
          <a:prstGeom prst="ellipse">
            <a:avLst/>
          </a:prstGeom>
          <a:solidFill>
            <a:srgbClr val="B71A1A"/>
          </a:solidFill>
          <a:ln>
            <a:solidFill>
              <a:srgbClr val="B7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536192"/>
            <a:ext cx="457200" cy="201168"/>
          </a:xfrm>
          <a:prstGeom prst="rect">
            <a:avLst/>
          </a:prstGeom>
          <a:noFill/>
        </p:spPr>
        <p:txBody>
          <a:bodyPr wrap="square" lIns="0" rIns="0" tIns="0" bIns="0" anchor="t">
            <a:noAutofit/>
          </a:bodyPr>
          <a:lstStyle/>
          <a:p>
            <a:pPr algn="ctr"/>
            <a:r>
              <a:rPr sz="1200" b="1">
                <a:solidFill>
                  <a:srgbClr val="FFFFFF"/>
                </a:solidFill>
                <a:latin typeface="Malgun Gothic"/>
              </a:rPr>
              <a:t>1</a:t>
            </a:r>
          </a:p>
        </p:txBody>
      </p:sp>
      <p:cxnSp>
        <p:nvCxnSpPr>
          <p:cNvPr id="8" name="Connector 7"/>
          <p:cNvCxnSpPr/>
          <p:nvPr/>
        </p:nvCxnSpPr>
        <p:spPr>
          <a:xfrm>
            <a:off x="987552" y="1956816"/>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1362456"/>
            <a:ext cx="6510528" cy="256032"/>
          </a:xfrm>
          <a:prstGeom prst="rect">
            <a:avLst/>
          </a:prstGeom>
          <a:noFill/>
        </p:spPr>
        <p:txBody>
          <a:bodyPr wrap="square" lIns="0" rIns="0" tIns="0" bIns="0" anchor="t">
            <a:noAutofit/>
          </a:bodyPr>
          <a:lstStyle/>
          <a:p>
            <a:pPr algn="l"/>
            <a:r>
              <a:rPr sz="1450" b="1">
                <a:solidFill>
                  <a:srgbClr val="B71A1A"/>
                </a:solidFill>
                <a:latin typeface="Malgun Gothic"/>
              </a:rPr>
              <a:t>Inspect the real copy</a:t>
            </a:r>
          </a:p>
        </p:txBody>
      </p:sp>
      <p:sp>
        <p:nvSpPr>
          <p:cNvPr id="10" name="TextBox 9"/>
          <p:cNvSpPr txBox="1"/>
          <p:nvPr/>
        </p:nvSpPr>
        <p:spPr>
          <a:xfrm>
            <a:off x="1417320" y="1700784"/>
            <a:ext cx="6510528" cy="393192"/>
          </a:xfrm>
          <a:prstGeom prst="rect">
            <a:avLst/>
          </a:prstGeom>
          <a:noFill/>
        </p:spPr>
        <p:txBody>
          <a:bodyPr wrap="square" lIns="0" rIns="0" tIns="0" bIns="0" anchor="t">
            <a:noAutofit/>
          </a:bodyPr>
          <a:lstStyle/>
          <a:p>
            <a:pPr algn="l"/>
            <a:r>
              <a:rPr sz="1050" b="0">
                <a:solidFill>
                  <a:srgbClr val="52565B"/>
                </a:solidFill>
                <a:latin typeface="Malgun Gothic"/>
              </a:rPr>
              <a:t>Read-only DB and repository access; schema, stable key, engine, source counts, UniprotID, and PDB identifiers.</a:t>
            </a:r>
          </a:p>
        </p:txBody>
      </p:sp>
      <p:sp>
        <p:nvSpPr>
          <p:cNvPr id="11" name="Oval 10"/>
          <p:cNvSpPr/>
          <p:nvPr/>
        </p:nvSpPr>
        <p:spPr>
          <a:xfrm>
            <a:off x="749808" y="2432304"/>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505456"/>
            <a:ext cx="457200" cy="201168"/>
          </a:xfrm>
          <a:prstGeom prst="rect">
            <a:avLst/>
          </a:prstGeom>
          <a:noFill/>
        </p:spPr>
        <p:txBody>
          <a:bodyPr wrap="square" lIns="0" rIns="0" tIns="0" bIns="0" anchor="t">
            <a:noAutofit/>
          </a:bodyPr>
          <a:lstStyle/>
          <a:p>
            <a:pPr algn="ctr"/>
            <a:r>
              <a:rPr sz="1200" b="1">
                <a:solidFill>
                  <a:srgbClr val="FFFFFF"/>
                </a:solidFill>
                <a:latin typeface="Malgun Gothic"/>
              </a:rPr>
              <a:t>2</a:t>
            </a:r>
          </a:p>
        </p:txBody>
      </p:sp>
      <p:cxnSp>
        <p:nvCxnSpPr>
          <p:cNvPr id="13" name="Connector 12"/>
          <p:cNvCxnSpPr/>
          <p:nvPr/>
        </p:nvCxnSpPr>
        <p:spPr>
          <a:xfrm>
            <a:off x="987552" y="2926080"/>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417320" y="2331720"/>
            <a:ext cx="6510528" cy="256032"/>
          </a:xfrm>
          <a:prstGeom prst="rect">
            <a:avLst/>
          </a:prstGeom>
          <a:noFill/>
        </p:spPr>
        <p:txBody>
          <a:bodyPr wrap="square" lIns="0" rIns="0" tIns="0" bIns="0" anchor="t">
            <a:noAutofit/>
          </a:bodyPr>
          <a:lstStyle/>
          <a:p>
            <a:pPr algn="l"/>
            <a:r>
              <a:rPr sz="1450" b="1">
                <a:solidFill>
                  <a:srgbClr val="18212B"/>
                </a:solidFill>
                <a:latin typeface="Malgun Gothic"/>
              </a:rPr>
              <a:t>Rebuild on genuine data</a:t>
            </a:r>
          </a:p>
        </p:txBody>
      </p:sp>
      <p:sp>
        <p:nvSpPr>
          <p:cNvPr id="15" name="TextBox 14"/>
          <p:cNvSpPr txBox="1"/>
          <p:nvPr/>
        </p:nvSpPr>
        <p:spPr>
          <a:xfrm>
            <a:off x="1417320" y="2670048"/>
            <a:ext cx="6510528" cy="393192"/>
          </a:xfrm>
          <a:prstGeom prst="rect">
            <a:avLst/>
          </a:prstGeom>
          <a:noFill/>
        </p:spPr>
        <p:txBody>
          <a:bodyPr wrap="square" lIns="0" rIns="0" tIns="0" bIns="0" anchor="t">
            <a:noAutofit/>
          </a:bodyPr>
          <a:lstStyle/>
          <a:p>
            <a:pPr algn="l"/>
            <a:r>
              <a:rPr sz="1050" b="0">
                <a:solidFill>
                  <a:srgbClr val="52565B"/>
                </a:solidFill>
                <a:latin typeface="Malgun Gothic"/>
              </a:rPr>
              <a:t>Start with a capped export, then build a full generation from all eligible Swiss-Prot/PDB rows in the real copy.</a:t>
            </a:r>
          </a:p>
        </p:txBody>
      </p:sp>
      <p:sp>
        <p:nvSpPr>
          <p:cNvPr id="16" name="Oval 15"/>
          <p:cNvSpPr/>
          <p:nvPr/>
        </p:nvSpPr>
        <p:spPr>
          <a:xfrm>
            <a:off x="749808" y="3401568"/>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3474720"/>
            <a:ext cx="457200" cy="201168"/>
          </a:xfrm>
          <a:prstGeom prst="rect">
            <a:avLst/>
          </a:prstGeom>
          <a:noFill/>
        </p:spPr>
        <p:txBody>
          <a:bodyPr wrap="square" lIns="0" rIns="0" tIns="0" bIns="0" anchor="t">
            <a:noAutofit/>
          </a:bodyPr>
          <a:lstStyle/>
          <a:p>
            <a:pPr algn="ctr"/>
            <a:r>
              <a:rPr sz="1200" b="1">
                <a:solidFill>
                  <a:srgbClr val="FFFFFF"/>
                </a:solidFill>
                <a:latin typeface="Malgun Gothic"/>
              </a:rPr>
              <a:t>3</a:t>
            </a:r>
          </a:p>
        </p:txBody>
      </p:sp>
      <p:cxnSp>
        <p:nvCxnSpPr>
          <p:cNvPr id="18" name="Connector 17"/>
          <p:cNvCxnSpPr/>
          <p:nvPr/>
        </p:nvCxnSpPr>
        <p:spPr>
          <a:xfrm>
            <a:off x="987552" y="3895344"/>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417320" y="3300984"/>
            <a:ext cx="6510528" cy="256032"/>
          </a:xfrm>
          <a:prstGeom prst="rect">
            <a:avLst/>
          </a:prstGeom>
          <a:noFill/>
        </p:spPr>
        <p:txBody>
          <a:bodyPr wrap="square" lIns="0" rIns="0" tIns="0" bIns="0" anchor="t">
            <a:noAutofit/>
          </a:bodyPr>
          <a:lstStyle/>
          <a:p>
            <a:pPr algn="l"/>
            <a:r>
              <a:rPr sz="1450" b="1">
                <a:solidFill>
                  <a:srgbClr val="18212B"/>
                </a:solidFill>
                <a:latin typeface="Malgun Gothic"/>
              </a:rPr>
              <a:t>Connect the scheduled job</a:t>
            </a:r>
          </a:p>
        </p:txBody>
      </p:sp>
      <p:sp>
        <p:nvSpPr>
          <p:cNvPr id="20" name="TextBox 19"/>
          <p:cNvSpPr txBox="1"/>
          <p:nvPr/>
        </p:nvSpPr>
        <p:spPr>
          <a:xfrm>
            <a:off x="1417320" y="3639312"/>
            <a:ext cx="6510528" cy="393192"/>
          </a:xfrm>
          <a:prstGeom prst="rect">
            <a:avLst/>
          </a:prstGeom>
          <a:noFill/>
        </p:spPr>
        <p:txBody>
          <a:bodyPr wrap="square" lIns="0" rIns="0" tIns="0" bIns="0" anchor="t">
            <a:noAutofit/>
          </a:bodyPr>
          <a:lstStyle/>
          <a:p>
            <a:pPr algn="l"/>
            <a:r>
              <a:rPr sz="1050" b="0">
                <a:solidFill>
                  <a:srgbClr val="52565B"/>
                </a:solidFill>
                <a:latin typeface="Malgun Gothic"/>
              </a:rPr>
              <a:t>Adapt run_search to Pyramid, job/job_result/ref_data, temporary directories, and the existing result page.</a:t>
            </a:r>
          </a:p>
        </p:txBody>
      </p:sp>
      <p:sp>
        <p:nvSpPr>
          <p:cNvPr id="21" name="Oval 20"/>
          <p:cNvSpPr/>
          <p:nvPr/>
        </p:nvSpPr>
        <p:spPr>
          <a:xfrm>
            <a:off x="749808" y="4370832"/>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457200" cy="201168"/>
          </a:xfrm>
          <a:prstGeom prst="rect">
            <a:avLst/>
          </a:prstGeom>
          <a:noFill/>
        </p:spPr>
        <p:txBody>
          <a:bodyPr wrap="square" lIns="0" rIns="0" tIns="0" bIns="0" anchor="t">
            <a:noAutofit/>
          </a:bodyPr>
          <a:lstStyle/>
          <a:p>
            <a:pPr algn="ctr"/>
            <a:r>
              <a:rPr sz="1200" b="1">
                <a:solidFill>
                  <a:srgbClr val="FFFFFF"/>
                </a:solidFill>
                <a:latin typeface="Malgun Gothic"/>
              </a:rPr>
              <a:t>4</a:t>
            </a:r>
          </a:p>
        </p:txBody>
      </p:sp>
      <p:cxnSp>
        <p:nvCxnSpPr>
          <p:cNvPr id="23" name="Connector 22"/>
          <p:cNvCxnSpPr/>
          <p:nvPr/>
        </p:nvCxnSpPr>
        <p:spPr>
          <a:xfrm>
            <a:off x="987552" y="4864608"/>
            <a:ext cx="0" cy="475488"/>
          </a:xfrm>
          <a:prstGeom prst="line">
            <a:avLst/>
          </a:prstGeom>
          <a:ln w="25400">
            <a:solidFill>
              <a:srgbClr val="D9DEE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417320" y="4270248"/>
            <a:ext cx="6510528" cy="256032"/>
          </a:xfrm>
          <a:prstGeom prst="rect">
            <a:avLst/>
          </a:prstGeom>
          <a:noFill/>
        </p:spPr>
        <p:txBody>
          <a:bodyPr wrap="square" lIns="0" rIns="0" tIns="0" bIns="0" anchor="t">
            <a:noAutofit/>
          </a:bodyPr>
          <a:lstStyle/>
          <a:p>
            <a:pPr algn="l"/>
            <a:r>
              <a:rPr sz="1450" b="1">
                <a:solidFill>
                  <a:srgbClr val="18212B"/>
                </a:solidFill>
                <a:latin typeface="Malgun Gothic"/>
              </a:rPr>
              <a:t>Reconcile DIAMOND</a:t>
            </a:r>
          </a:p>
        </p:txBody>
      </p:sp>
      <p:sp>
        <p:nvSpPr>
          <p:cNvPr id="25" name="TextBox 24"/>
          <p:cNvSpPr txBox="1"/>
          <p:nvPr/>
        </p:nvSpPr>
        <p:spPr>
          <a:xfrm>
            <a:off x="1417320" y="4608576"/>
            <a:ext cx="6510528" cy="393192"/>
          </a:xfrm>
          <a:prstGeom prst="rect">
            <a:avLst/>
          </a:prstGeom>
          <a:noFill/>
        </p:spPr>
        <p:txBody>
          <a:bodyPr wrap="square" lIns="0" rIns="0" tIns="0" bIns="0" anchor="t">
            <a:noAutofit/>
          </a:bodyPr>
          <a:lstStyle/>
          <a:p>
            <a:pPr algn="l"/>
            <a:r>
              <a:rPr sz="1050" b="0">
                <a:solidFill>
                  <a:srgbClr val="52565B"/>
                </a:solidFill>
                <a:latin typeface="Malgun Gothic"/>
              </a:rPr>
              <a:t>Define whether BLAST supplements or replaces the current similarity path and whether phmmer is optional.</a:t>
            </a:r>
          </a:p>
        </p:txBody>
      </p:sp>
      <p:sp>
        <p:nvSpPr>
          <p:cNvPr id="26" name="Oval 25"/>
          <p:cNvSpPr/>
          <p:nvPr/>
        </p:nvSpPr>
        <p:spPr>
          <a:xfrm>
            <a:off x="749808" y="5340096"/>
            <a:ext cx="475488" cy="475488"/>
          </a:xfrm>
          <a:prstGeom prst="ellipse">
            <a:avLst/>
          </a:prstGeom>
          <a:solidFill>
            <a:srgbClr val="52565B"/>
          </a:solidFill>
          <a:ln>
            <a:solidFill>
              <a:srgbClr val="5256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8952" y="5413248"/>
            <a:ext cx="457200" cy="201168"/>
          </a:xfrm>
          <a:prstGeom prst="rect">
            <a:avLst/>
          </a:prstGeom>
          <a:noFill/>
        </p:spPr>
        <p:txBody>
          <a:bodyPr wrap="square" lIns="0" rIns="0" tIns="0" bIns="0" anchor="t">
            <a:noAutofit/>
          </a:bodyPr>
          <a:lstStyle/>
          <a:p>
            <a:pPr algn="ctr"/>
            <a:r>
              <a:rPr sz="1200" b="1">
                <a:solidFill>
                  <a:srgbClr val="FFFFFF"/>
                </a:solidFill>
                <a:latin typeface="Malgun Gothic"/>
              </a:rPr>
              <a:t>5</a:t>
            </a:r>
          </a:p>
        </p:txBody>
      </p:sp>
      <p:sp>
        <p:nvSpPr>
          <p:cNvPr id="28" name="TextBox 27"/>
          <p:cNvSpPr txBox="1"/>
          <p:nvPr/>
        </p:nvSpPr>
        <p:spPr>
          <a:xfrm>
            <a:off x="1417320" y="5239512"/>
            <a:ext cx="6510528" cy="256032"/>
          </a:xfrm>
          <a:prstGeom prst="rect">
            <a:avLst/>
          </a:prstGeom>
          <a:noFill/>
        </p:spPr>
        <p:txBody>
          <a:bodyPr wrap="square" lIns="0" rIns="0" tIns="0" bIns="0" anchor="t">
            <a:noAutofit/>
          </a:bodyPr>
          <a:lstStyle/>
          <a:p>
            <a:pPr algn="l"/>
            <a:r>
              <a:rPr sz="1450" b="1">
                <a:solidFill>
                  <a:srgbClr val="18212B"/>
                </a:solidFill>
                <a:latin typeface="Malgun Gothic"/>
              </a:rPr>
              <a:t>Deploy versioned artifacts</a:t>
            </a:r>
          </a:p>
        </p:txBody>
      </p:sp>
      <p:sp>
        <p:nvSpPr>
          <p:cNvPr id="29" name="TextBox 28"/>
          <p:cNvSpPr txBox="1"/>
          <p:nvPr/>
        </p:nvSpPr>
        <p:spPr>
          <a:xfrm>
            <a:off x="1417320" y="5577840"/>
            <a:ext cx="6510528" cy="393192"/>
          </a:xfrm>
          <a:prstGeom prst="rect">
            <a:avLst/>
          </a:prstGeom>
          <a:noFill/>
        </p:spPr>
        <p:txBody>
          <a:bodyPr wrap="square" lIns="0" rIns="0" tIns="0" bIns="0" anchor="t">
            <a:noAutofit/>
          </a:bodyPr>
          <a:lstStyle/>
          <a:p>
            <a:pPr algn="l"/>
            <a:r>
              <a:rPr sz="1050" b="0">
                <a:solidFill>
                  <a:srgbClr val="52565B"/>
                </a:solidFill>
                <a:latin typeface="Malgun Gothic"/>
              </a:rPr>
              <a:t>Build into a new generation and atomically switch the active reference after validation.</a:t>
            </a:r>
          </a:p>
        </p:txBody>
      </p:sp>
      <p:sp>
        <p:nvSpPr>
          <p:cNvPr id="30" name="Rounded Rectangle 29"/>
          <p:cNvSpPr/>
          <p:nvPr/>
        </p:nvSpPr>
        <p:spPr>
          <a:xfrm>
            <a:off x="8485632" y="1353312"/>
            <a:ext cx="3054096" cy="4498848"/>
          </a:xfrm>
          <a:prstGeom prst="roundRect">
            <a:avLst/>
          </a:prstGeom>
          <a:solidFill>
            <a:srgbClr val="FBECEC"/>
          </a:solidFill>
          <a:ln w="12700">
            <a:solidFill>
              <a:srgbClr val="FBEC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9952" y="1645920"/>
            <a:ext cx="2542032" cy="475488"/>
          </a:xfrm>
          <a:prstGeom prst="rect">
            <a:avLst/>
          </a:prstGeom>
          <a:noFill/>
        </p:spPr>
        <p:txBody>
          <a:bodyPr wrap="square" lIns="0" rIns="0" tIns="0" bIns="0" anchor="t">
            <a:noAutofit/>
          </a:bodyPr>
          <a:lstStyle/>
          <a:p>
            <a:pPr algn="l"/>
            <a:r>
              <a:rPr sz="1700" b="1">
                <a:solidFill>
                  <a:srgbClr val="B71A1A"/>
                </a:solidFill>
                <a:latin typeface="Malgun Gothic"/>
              </a:rPr>
              <a:t>Meeting decisions</a:t>
            </a:r>
          </a:p>
        </p:txBody>
      </p:sp>
      <p:sp>
        <p:nvSpPr>
          <p:cNvPr id="32" name="Rounded Rectangle 31"/>
          <p:cNvSpPr/>
          <p:nvPr/>
        </p:nvSpPr>
        <p:spPr>
          <a:xfrm>
            <a:off x="8741664" y="2359152"/>
            <a:ext cx="2542032" cy="74980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97112" y="2569464"/>
            <a:ext cx="292608" cy="201168"/>
          </a:xfrm>
          <a:prstGeom prst="rect">
            <a:avLst/>
          </a:prstGeom>
          <a:noFill/>
        </p:spPr>
        <p:txBody>
          <a:bodyPr wrap="square" lIns="0" rIns="0" tIns="0" bIns="0" anchor="t">
            <a:noAutofit/>
          </a:bodyPr>
          <a:lstStyle/>
          <a:p>
            <a:pPr algn="ctr"/>
            <a:r>
              <a:rPr sz="1100" b="1">
                <a:solidFill>
                  <a:srgbClr val="B71A1A"/>
                </a:solidFill>
                <a:latin typeface="Malgun Gothic"/>
              </a:rPr>
              <a:t>1</a:t>
            </a:r>
          </a:p>
        </p:txBody>
      </p:sp>
      <p:sp>
        <p:nvSpPr>
          <p:cNvPr id="34" name="TextBox 33"/>
          <p:cNvSpPr txBox="1"/>
          <p:nvPr/>
        </p:nvSpPr>
        <p:spPr>
          <a:xfrm>
            <a:off x="9290304" y="2450592"/>
            <a:ext cx="1792224" cy="566928"/>
          </a:xfrm>
          <a:prstGeom prst="rect">
            <a:avLst/>
          </a:prstGeom>
          <a:noFill/>
        </p:spPr>
        <p:txBody>
          <a:bodyPr wrap="square" lIns="0" rIns="0" tIns="0" bIns="0" anchor="ctr">
            <a:noAutofit/>
          </a:bodyPr>
          <a:lstStyle/>
          <a:p>
            <a:pPr algn="l"/>
            <a:r>
              <a:rPr sz="1050" b="1">
                <a:solidFill>
                  <a:srgbClr val="18212B"/>
                </a:solidFill>
                <a:latin typeface="Malgun Gothic"/>
              </a:rPr>
              <a:t>Read-only access to the DB copy and EnzymeX repo?</a:t>
            </a:r>
          </a:p>
        </p:txBody>
      </p:sp>
      <p:sp>
        <p:nvSpPr>
          <p:cNvPr id="35" name="Rounded Rectangle 34"/>
          <p:cNvSpPr/>
          <p:nvPr/>
        </p:nvSpPr>
        <p:spPr>
          <a:xfrm>
            <a:off x="8741664" y="3291840"/>
            <a:ext cx="2542032" cy="74980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97112" y="3502152"/>
            <a:ext cx="292608" cy="201168"/>
          </a:xfrm>
          <a:prstGeom prst="rect">
            <a:avLst/>
          </a:prstGeom>
          <a:noFill/>
        </p:spPr>
        <p:txBody>
          <a:bodyPr wrap="square" lIns="0" rIns="0" tIns="0" bIns="0" anchor="t">
            <a:noAutofit/>
          </a:bodyPr>
          <a:lstStyle/>
          <a:p>
            <a:pPr algn="ctr"/>
            <a:r>
              <a:rPr sz="1100" b="1">
                <a:solidFill>
                  <a:srgbClr val="B71A1A"/>
                </a:solidFill>
                <a:latin typeface="Malgun Gothic"/>
              </a:rPr>
              <a:t>2</a:t>
            </a:r>
          </a:p>
        </p:txBody>
      </p:sp>
      <p:sp>
        <p:nvSpPr>
          <p:cNvPr id="37" name="TextBox 36"/>
          <p:cNvSpPr txBox="1"/>
          <p:nvPr/>
        </p:nvSpPr>
        <p:spPr>
          <a:xfrm>
            <a:off x="9290304" y="3383280"/>
            <a:ext cx="1792224" cy="566928"/>
          </a:xfrm>
          <a:prstGeom prst="rect">
            <a:avLst/>
          </a:prstGeom>
          <a:noFill/>
        </p:spPr>
        <p:txBody>
          <a:bodyPr wrap="square" lIns="0" rIns="0" tIns="0" bIns="0" anchor="ctr">
            <a:noAutofit/>
          </a:bodyPr>
          <a:lstStyle/>
          <a:p>
            <a:pPr algn="l"/>
            <a:r>
              <a:rPr sz="1050" b="1">
                <a:solidFill>
                  <a:srgbClr val="18212B"/>
                </a:solidFill>
                <a:latin typeface="Malgun Gothic"/>
              </a:rPr>
              <a:t>BLAST beside DIAMOND, or replace its evidence role?</a:t>
            </a:r>
          </a:p>
        </p:txBody>
      </p:sp>
      <p:sp>
        <p:nvSpPr>
          <p:cNvPr id="38" name="Rounded Rectangle 37"/>
          <p:cNvSpPr/>
          <p:nvPr/>
        </p:nvSpPr>
        <p:spPr>
          <a:xfrm>
            <a:off x="8741664" y="4224528"/>
            <a:ext cx="2542032" cy="749808"/>
          </a:xfrm>
          <a:prstGeom prst="roundRect">
            <a:avLst/>
          </a:prstGeom>
          <a:solidFill>
            <a:srgbClr val="FFFFFF"/>
          </a:solidFill>
          <a:ln w="12700">
            <a:solidFill>
              <a:srgbClr val="D9DE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97112" y="4434840"/>
            <a:ext cx="292608" cy="201168"/>
          </a:xfrm>
          <a:prstGeom prst="rect">
            <a:avLst/>
          </a:prstGeom>
          <a:noFill/>
        </p:spPr>
        <p:txBody>
          <a:bodyPr wrap="square" lIns="0" rIns="0" tIns="0" bIns="0" anchor="t">
            <a:noAutofit/>
          </a:bodyPr>
          <a:lstStyle/>
          <a:p>
            <a:pPr algn="ctr"/>
            <a:r>
              <a:rPr sz="1100" b="1">
                <a:solidFill>
                  <a:srgbClr val="B71A1A"/>
                </a:solidFill>
                <a:latin typeface="Malgun Gothic"/>
              </a:rPr>
              <a:t>3</a:t>
            </a:r>
          </a:p>
        </p:txBody>
      </p:sp>
      <p:sp>
        <p:nvSpPr>
          <p:cNvPr id="40" name="TextBox 39"/>
          <p:cNvSpPr txBox="1"/>
          <p:nvPr/>
        </p:nvSpPr>
        <p:spPr>
          <a:xfrm>
            <a:off x="9290304" y="4315968"/>
            <a:ext cx="1792224" cy="566928"/>
          </a:xfrm>
          <a:prstGeom prst="rect">
            <a:avLst/>
          </a:prstGeom>
          <a:noFill/>
        </p:spPr>
        <p:txBody>
          <a:bodyPr wrap="square" lIns="0" rIns="0" tIns="0" bIns="0" anchor="ctr">
            <a:noAutofit/>
          </a:bodyPr>
          <a:lstStyle/>
          <a:p>
            <a:pPr algn="l"/>
            <a:r>
              <a:rPr sz="1050" b="1">
                <a:solidFill>
                  <a:srgbClr val="18212B"/>
                </a:solidFill>
                <a:latin typeface="Malgun Gothic"/>
              </a:rPr>
              <a:t>Run phmmer by default, or keep it optional?</a:t>
            </a:r>
          </a:p>
        </p:txBody>
      </p:sp>
      <p:sp>
        <p:nvSpPr>
          <p:cNvPr id="41" name="Rounded Rectangle 40"/>
          <p:cNvSpPr/>
          <p:nvPr/>
        </p:nvSpPr>
        <p:spPr>
          <a:xfrm>
            <a:off x="8741664" y="5266944"/>
            <a:ext cx="2542032" cy="347472"/>
          </a:xfrm>
          <a:prstGeom prst="roundRect">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869680" y="5321808"/>
            <a:ext cx="2286000" cy="246888"/>
          </a:xfrm>
          <a:prstGeom prst="rect">
            <a:avLst/>
          </a:prstGeom>
          <a:noFill/>
        </p:spPr>
        <p:txBody>
          <a:bodyPr wrap="square" lIns="0" rIns="0" tIns="0" bIns="0" anchor="t">
            <a:noAutofit/>
          </a:bodyPr>
          <a:lstStyle/>
          <a:p>
            <a:pPr algn="ctr"/>
            <a:r>
              <a:rPr sz="1050" b="1">
                <a:solidFill>
                  <a:srgbClr val="B71A1A"/>
                </a:solidFill>
                <a:latin typeface="Malgun Gothic"/>
              </a:rPr>
              <a:t>Blocked on access + schema</a:t>
            </a:r>
          </a:p>
        </p:txBody>
      </p:sp>
      <p:sp>
        <p:nvSpPr>
          <p:cNvPr id="43" name="Rounded Rectangle 42"/>
          <p:cNvSpPr/>
          <p:nvPr/>
        </p:nvSpPr>
        <p:spPr>
          <a:xfrm>
            <a:off x="749808" y="6144768"/>
            <a:ext cx="1773936" cy="310896"/>
          </a:xfrm>
          <a:prstGeom prst="roundRect">
            <a:avLst/>
          </a:prstGeom>
          <a:solidFill>
            <a:srgbClr val="EAF6F1"/>
          </a:solidFill>
          <a:ln w="8890">
            <a:solidFill>
              <a:srgbClr val="EAF6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6153912"/>
            <a:ext cx="1700784" cy="256032"/>
          </a:xfrm>
          <a:prstGeom prst="rect">
            <a:avLst/>
          </a:prstGeom>
          <a:noFill/>
        </p:spPr>
        <p:txBody>
          <a:bodyPr wrap="square" lIns="0" rIns="0" tIns="0" bIns="0" anchor="ctr">
            <a:noAutofit/>
          </a:bodyPr>
          <a:lstStyle/>
          <a:p>
            <a:pPr algn="ctr"/>
            <a:r>
              <a:rPr sz="1050" b="1">
                <a:solidFill>
                  <a:srgbClr val="167C5A"/>
                </a:solidFill>
                <a:latin typeface="Malgun Gothic"/>
              </a:rPr>
              <a:t>FIXTURE: VALIDATED</a:t>
            </a:r>
          </a:p>
        </p:txBody>
      </p:sp>
      <p:sp>
        <p:nvSpPr>
          <p:cNvPr id="45" name="Rounded Rectangle 44"/>
          <p:cNvSpPr/>
          <p:nvPr/>
        </p:nvSpPr>
        <p:spPr>
          <a:xfrm>
            <a:off x="2688336" y="6144768"/>
            <a:ext cx="2331720" cy="310896"/>
          </a:xfrm>
          <a:prstGeom prst="roundRect">
            <a:avLst/>
          </a:prstGeom>
          <a:solidFill>
            <a:srgbClr val="FFF5DF"/>
          </a:solidFill>
          <a:ln w="8890">
            <a:solidFill>
              <a:srgbClr val="FFF5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24912" y="6153912"/>
            <a:ext cx="2258568" cy="256032"/>
          </a:xfrm>
          <a:prstGeom prst="rect">
            <a:avLst/>
          </a:prstGeom>
          <a:noFill/>
        </p:spPr>
        <p:txBody>
          <a:bodyPr wrap="square" lIns="0" rIns="0" tIns="0" bIns="0" anchor="ctr">
            <a:noAutofit/>
          </a:bodyPr>
          <a:lstStyle/>
          <a:p>
            <a:pPr algn="ctr"/>
            <a:r>
              <a:rPr sz="1050" b="1">
                <a:solidFill>
                  <a:srgbClr val="A76500"/>
                </a:solidFill>
                <a:latin typeface="Malgun Gothic"/>
              </a:rPr>
              <a:t>ENZYMEX: ACCESS NEEDED</a:t>
            </a:r>
          </a:p>
        </p:txBody>
      </p:sp>
      <p:cxnSp>
        <p:nvCxnSpPr>
          <p:cNvPr id="47" name="Connector 46"/>
          <p:cNvCxnSpPr/>
          <p:nvPr/>
        </p:nvCxnSpPr>
        <p:spPr>
          <a:xfrm>
            <a:off x="658368" y="6537960"/>
            <a:ext cx="10881360" cy="0"/>
          </a:xfrm>
          <a:prstGeom prst="line">
            <a:avLst/>
          </a:prstGeom>
          <a:ln w="10160">
            <a:solidFill>
              <a:srgbClr val="D9DEE7"/>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58368" y="6583680"/>
            <a:ext cx="10881360" cy="164592"/>
          </a:xfrm>
          <a:prstGeom prst="rect">
            <a:avLst/>
          </a:prstGeom>
          <a:noFill/>
        </p:spPr>
        <p:txBody>
          <a:bodyPr wrap="square" lIns="0" rIns="0" tIns="0" bIns="0" anchor="t">
            <a:noAutofit/>
          </a:bodyPr>
          <a:lstStyle/>
          <a:p>
            <a:pPr algn="r"/>
            <a:r>
              <a:rPr sz="850" b="0">
                <a:solidFill>
                  <a:srgbClr val="667085"/>
                </a:solidFill>
                <a:latin typeface="Malgun Gothic"/>
              </a:rPr>
              <a:t>Standalone validation. Nothing has been deployed to the official EnzymeX service.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BLAST and HMMER evidence for EnzymeX</dc:title>
  <dc:subject>Swiss-Prot and PDB standalone validation</dc:subject>
  <dc:creator>Vansh Sehrawat</dc:creator>
  <cp:keywords>EnzymeX, BLAST, HMMER, Swiss-Prot, PDB</cp:keywords>
  <dc:description/>
  <cp:lastModifiedBy>Vansh Sehrawat</cp:lastModifiedBy>
  <cp:revision>1</cp:revision>
  <dcterms:created xsi:type="dcterms:W3CDTF">2026-07-31T12:00:00Z</dcterms:created>
  <dcterms:modified xsi:type="dcterms:W3CDTF">2026-07-31T12:00:00Z</dcterms:modified>
  <cp:category/>
</cp:coreProperties>
</file>