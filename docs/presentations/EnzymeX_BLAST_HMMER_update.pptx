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say before slide 2. One: this is a standalone test server, nothing has been deployed to or changed in the live EnzymeX service. Two: this is not a fourth EC predictor. It is supporting evidence that sits next to what ECPICK, HIT-EC and CLEAN already produce.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picking up the last item on Suhyeong's future-work list. The site can tell a biologist what EC number it thinks their protein has, but it cannot show them a known protein that looks like theirs. That is what BLAST and HMMER add. Say clearly it is not a fourth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boxes left to right, then say the middle card is the important one: the search code is a library, not a website. EnzymeX can call run_search from its existing scheduled job without taking any of my web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structural decision in the whole project. Everything expensive happens once, offline. A user request only reads files. That is why a misconfigured credential is literally unreachable from the website, and why a hit can never be labelled with a different snapshot's annotation.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merge them into one ranking: an E-value means how many matches this good you would expect by chance, and that depends on how big the search space is and which statistical model was used. BLAST and phmmer search all references; hmmscan searches the profile set. Putting them in one sorted list invites people to compare numbers that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be able to defend. The takeaway is that clustering by EC would have merged unrelated folds. Concrete evidence from the development build: glutathione transferase split into 13 separate families, carbonic anhydrase into 4, superoxide dismutase into 5. Each of those is a single EC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the meeting with this slide if Dr. Kang asks about validation first. The 452/452 is the strongest single result: two different BLAST versions, his parameters, identical top hit on every comparable query. Be careful not to let the second box get quoted as EnzymeX accuracy. It was measured on a small, close-homolog slice.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a story, not a statistic. The point is that a clean test set could never have produced this failure, real data did, and the coverage column I had already built is what exposes it. Caveat to state out loud: the dataset is a public stand-in for the real EnzymeX table, so the numbers here do not transfer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access early in the meeting, not at the end. Suhyeong already said the repository permission has to come from Dr. Kang directly. Steps two and three are about a day of work each once access exists. The two questions below the access one are product decisions that are not mine to make.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914400" y="685800"/>
            <a:ext cx="4069080" cy="1049578"/>
          </a:xfrm>
          <a:prstGeom prst="rect">
            <a:avLst/>
          </a:prstGeom>
        </p:spPr>
      </p:pic>
      <p:sp>
        <p:nvSpPr>
          <p:cNvPr id="4" name="Rounded Rectangle 3"/>
          <p:cNvSpPr/>
          <p:nvPr/>
        </p:nvSpPr>
        <p:spPr>
          <a:xfrm>
            <a:off x="8613648" y="768096"/>
            <a:ext cx="2606040" cy="310896"/>
          </a:xfrm>
          <a:prstGeom prst="roundRect">
            <a:avLst/>
          </a:prstGeom>
          <a:solidFill>
            <a:srgbClr val="FBECEC"/>
          </a:solidFill>
          <a:ln w="889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50224" y="777240"/>
            <a:ext cx="2532888" cy="256032"/>
          </a:xfrm>
          <a:prstGeom prst="rect">
            <a:avLst/>
          </a:prstGeom>
          <a:noFill/>
        </p:spPr>
        <p:txBody>
          <a:bodyPr wrap="square" lIns="0" rIns="0" tIns="0" bIns="0" anchor="ctr">
            <a:noAutofit/>
          </a:bodyPr>
          <a:lstStyle/>
          <a:p>
            <a:pPr algn="ctr"/>
            <a:r>
              <a:rPr sz="1050" b="1">
                <a:solidFill>
                  <a:srgbClr val="B71A1A"/>
                </a:solidFill>
                <a:latin typeface="Malgun Gothic"/>
              </a:rPr>
              <a:t>TEST SERVER, NOT DEPLOYED</a:t>
            </a:r>
          </a:p>
        </p:txBody>
      </p:sp>
      <p:sp>
        <p:nvSpPr>
          <p:cNvPr id="6" name="TextBox 5"/>
          <p:cNvSpPr txBox="1"/>
          <p:nvPr/>
        </p:nvSpPr>
        <p:spPr>
          <a:xfrm>
            <a:off x="914400" y="2194560"/>
            <a:ext cx="9966960" cy="914400"/>
          </a:xfrm>
          <a:prstGeom prst="rect">
            <a:avLst/>
          </a:prstGeom>
          <a:noFill/>
        </p:spPr>
        <p:txBody>
          <a:bodyPr wrap="square" lIns="0" rIns="0" tIns="0" bIns="0" anchor="ctr">
            <a:noAutofit/>
          </a:bodyPr>
          <a:lstStyle/>
          <a:p>
            <a:pPr algn="l"/>
            <a:r>
              <a:rPr sz="4200" b="1">
                <a:solidFill>
                  <a:srgbClr val="18212B"/>
                </a:solidFill>
                <a:latin typeface="Malgun Gothic"/>
              </a:rPr>
              <a:t>BLAST + HMMER for EnzymeX</a:t>
            </a:r>
          </a:p>
        </p:txBody>
      </p:sp>
      <p:sp>
        <p:nvSpPr>
          <p:cNvPr id="7" name="TextBox 6"/>
          <p:cNvSpPr txBox="1"/>
          <p:nvPr/>
        </p:nvSpPr>
        <p:spPr>
          <a:xfrm>
            <a:off x="941832" y="3246120"/>
            <a:ext cx="9875520" cy="457200"/>
          </a:xfrm>
          <a:prstGeom prst="rect">
            <a:avLst/>
          </a:prstGeom>
          <a:noFill/>
        </p:spPr>
        <p:txBody>
          <a:bodyPr wrap="square" lIns="0" rIns="0" tIns="0" bIns="0" anchor="t">
            <a:noAutofit/>
          </a:bodyPr>
          <a:lstStyle/>
          <a:p>
            <a:pPr algn="l"/>
            <a:r>
              <a:rPr sz="1900" b="0">
                <a:solidFill>
                  <a:srgbClr val="52565B"/>
                </a:solidFill>
                <a:latin typeface="Malgun Gothic"/>
              </a:rPr>
              <a:t>Sequence-similarity evidence beside the model predictions</a:t>
            </a:r>
          </a:p>
        </p:txBody>
      </p:sp>
      <p:sp>
        <p:nvSpPr>
          <p:cNvPr id="8" name="Rounded Rectangle 7"/>
          <p:cNvSpPr/>
          <p:nvPr/>
        </p:nvSpPr>
        <p:spPr>
          <a:xfrm>
            <a:off x="941832" y="4114800"/>
            <a:ext cx="1024128"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23944"/>
            <a:ext cx="950976" cy="256032"/>
          </a:xfrm>
          <a:prstGeom prst="rect">
            <a:avLst/>
          </a:prstGeom>
          <a:noFill/>
        </p:spPr>
        <p:txBody>
          <a:bodyPr wrap="square" lIns="0" rIns="0" tIns="0" bIns="0" anchor="ctr">
            <a:noAutofit/>
          </a:bodyPr>
          <a:lstStyle/>
          <a:p>
            <a:pPr algn="ctr"/>
            <a:r>
              <a:rPr sz="1050" b="1">
                <a:solidFill>
                  <a:srgbClr val="176B87"/>
                </a:solidFill>
                <a:latin typeface="Malgun Gothic"/>
              </a:rPr>
              <a:t>blastp</a:t>
            </a:r>
          </a:p>
        </p:txBody>
      </p:sp>
      <p:sp>
        <p:nvSpPr>
          <p:cNvPr id="10" name="Rounded Rectangle 9"/>
          <p:cNvSpPr/>
          <p:nvPr/>
        </p:nvSpPr>
        <p:spPr>
          <a:xfrm>
            <a:off x="2103120" y="4114800"/>
            <a:ext cx="1115568"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9696" y="4123944"/>
            <a:ext cx="1042415" cy="256032"/>
          </a:xfrm>
          <a:prstGeom prst="rect">
            <a:avLst/>
          </a:prstGeom>
          <a:noFill/>
        </p:spPr>
        <p:txBody>
          <a:bodyPr wrap="square" lIns="0" rIns="0" tIns="0" bIns="0" anchor="ctr">
            <a:noAutofit/>
          </a:bodyPr>
          <a:lstStyle/>
          <a:p>
            <a:pPr algn="ctr"/>
            <a:r>
              <a:rPr sz="1050" b="1">
                <a:solidFill>
                  <a:srgbClr val="167C5A"/>
                </a:solidFill>
                <a:latin typeface="Malgun Gothic"/>
              </a:rPr>
              <a:t>phmmer</a:t>
            </a:r>
          </a:p>
        </p:txBody>
      </p:sp>
      <p:sp>
        <p:nvSpPr>
          <p:cNvPr id="12" name="Rounded Rectangle 11"/>
          <p:cNvSpPr/>
          <p:nvPr/>
        </p:nvSpPr>
        <p:spPr>
          <a:xfrm>
            <a:off x="3364992" y="4114800"/>
            <a:ext cx="1581912"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01568" y="4123944"/>
            <a:ext cx="1508760" cy="256032"/>
          </a:xfrm>
          <a:prstGeom prst="rect">
            <a:avLst/>
          </a:prstGeom>
          <a:noFill/>
        </p:spPr>
        <p:txBody>
          <a:bodyPr wrap="square" lIns="0" rIns="0" tIns="0" bIns="0" anchor="ctr">
            <a:noAutofit/>
          </a:bodyPr>
          <a:lstStyle/>
          <a:p>
            <a:pPr algn="ctr"/>
            <a:r>
              <a:rPr sz="1050" b="1">
                <a:solidFill>
                  <a:srgbClr val="6554A4"/>
                </a:solidFill>
                <a:latin typeface="Malgun Gothic"/>
              </a:rPr>
              <a:t>profile HMMs</a:t>
            </a:r>
          </a:p>
        </p:txBody>
      </p:sp>
      <p:sp>
        <p:nvSpPr>
          <p:cNvPr id="14" name="TextBox 13"/>
          <p:cNvSpPr txBox="1"/>
          <p:nvPr/>
        </p:nvSpPr>
        <p:spPr>
          <a:xfrm>
            <a:off x="941832" y="5852160"/>
            <a:ext cx="7772400" cy="292608"/>
          </a:xfrm>
          <a:prstGeom prst="rect">
            <a:avLst/>
          </a:prstGeom>
          <a:noFill/>
        </p:spPr>
        <p:txBody>
          <a:bodyPr wrap="square" lIns="0" rIns="0" tIns="0" bIns="0" anchor="t">
            <a:noAutofit/>
          </a:bodyPr>
          <a:lstStyle/>
          <a:p>
            <a:pPr algn="l"/>
            <a:r>
              <a:rPr sz="1500" b="1">
                <a:solidFill>
                  <a:srgbClr val="18212B"/>
                </a:solidFill>
                <a:latin typeface="Malgun Gothic"/>
              </a:rPr>
              <a:t>Vansh Sehrawat</a:t>
            </a:r>
          </a:p>
        </p:txBody>
      </p:sp>
      <p:sp>
        <p:nvSpPr>
          <p:cNvPr id="15" name="TextBox 14"/>
          <p:cNvSpPr txBox="1"/>
          <p:nvPr/>
        </p:nvSpPr>
        <p:spPr>
          <a:xfrm>
            <a:off x="941832" y="6181344"/>
            <a:ext cx="7772400" cy="256032"/>
          </a:xfrm>
          <a:prstGeom prst="rect">
            <a:avLst/>
          </a:prstGeom>
          <a:noFill/>
        </p:spPr>
        <p:txBody>
          <a:bodyPr wrap="square" lIns="0" rIns="0" tIns="0" bIns="0" anchor="t">
            <a:noAutofit/>
          </a:bodyPr>
          <a:lstStyle/>
          <a:p>
            <a:pPr algn="l"/>
            <a:r>
              <a:rPr sz="1200" b="0">
                <a:solidFill>
                  <a:srgbClr val="667085"/>
                </a:solidFill>
                <a:latin typeface="Malgun Gothic"/>
              </a:rPr>
              <a:t>August 4th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THE TASK</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Why this exists</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2</a:t>
            </a:r>
          </a:p>
        </p:txBody>
      </p:sp>
      <p:sp>
        <p:nvSpPr>
          <p:cNvPr id="6" name="Rounded Rectangle 5"/>
          <p:cNvSpPr/>
          <p:nvPr/>
        </p:nvSpPr>
        <p:spPr>
          <a:xfrm>
            <a:off x="658368" y="1371600"/>
            <a:ext cx="5285232" cy="2395728"/>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600200"/>
            <a:ext cx="4754880" cy="310896"/>
          </a:xfrm>
          <a:prstGeom prst="rect">
            <a:avLst/>
          </a:prstGeom>
          <a:noFill/>
        </p:spPr>
        <p:txBody>
          <a:bodyPr wrap="square" lIns="0" rIns="0" tIns="0" bIns="0" anchor="t">
            <a:noAutofit/>
          </a:bodyPr>
          <a:lstStyle/>
          <a:p>
            <a:pPr algn="l"/>
            <a:r>
              <a:rPr sz="1800" b="1">
                <a:solidFill>
                  <a:srgbClr val="18212B"/>
                </a:solidFill>
                <a:latin typeface="Malgun Gothic"/>
              </a:rPr>
              <a:t>EnzymeX today</a:t>
            </a:r>
          </a:p>
        </p:txBody>
      </p:sp>
      <p:sp>
        <p:nvSpPr>
          <p:cNvPr id="8" name="TextBox 7"/>
          <p:cNvSpPr txBox="1"/>
          <p:nvPr/>
        </p:nvSpPr>
        <p:spPr>
          <a:xfrm>
            <a:off x="896112" y="2048256"/>
            <a:ext cx="4754880" cy="1325880"/>
          </a:xfrm>
          <a:prstGeom prst="rect">
            <a:avLst/>
          </a:prstGeom>
          <a:noFill/>
        </p:spPr>
        <p:txBody>
          <a:bodyPr wrap="square" lIns="18288" rIns="18288" tIns="18288" bIns="18288">
            <a:noAutofit/>
          </a:bodyPr>
          <a:lstStyle/>
          <a:p>
            <a:pPr>
              <a:lnSpc>
                <a:spcPct val="105000"/>
              </a:lnSpc>
              <a:spcAft>
                <a:spcPts val="700"/>
              </a:spcAft>
            </a:pPr>
            <a:r>
              <a:rPr sz="1350">
                <a:solidFill>
                  <a:srgbClr val="18212B"/>
                </a:solidFill>
                <a:latin typeface="Malgun Gothic"/>
              </a:rPr>
              <a:t>•  Three models predict EC numbers: ECPICK, HIT-EC, CLEAN.</a:t>
            </a:r>
          </a:p>
          <a:p>
            <a:pPr>
              <a:lnSpc>
                <a:spcPct val="105000"/>
              </a:lnSpc>
              <a:spcAft>
                <a:spcPts val="700"/>
              </a:spcAft>
            </a:pPr>
            <a:r>
              <a:rPr sz="1350">
                <a:solidFill>
                  <a:srgbClr val="18212B"/>
                </a:solidFill>
                <a:latin typeface="Malgun Gothic"/>
              </a:rPr>
              <a:t>•  DIAMOND is the only sequence-similarity tool on the site.</a:t>
            </a:r>
          </a:p>
          <a:p>
            <a:pPr>
              <a:lnSpc>
                <a:spcPct val="105000"/>
              </a:lnSpc>
              <a:spcAft>
                <a:spcPts val="700"/>
              </a:spcAft>
            </a:pPr>
            <a:r>
              <a:rPr sz="1350">
                <a:solidFill>
                  <a:srgbClr val="18212B"/>
                </a:solidFill>
                <a:latin typeface="Malgun Gothic"/>
              </a:rPr>
              <a:t>•  The user sees a prediction, but little independent evidence for it.</a:t>
            </a:r>
          </a:p>
        </p:txBody>
      </p:sp>
      <p:sp>
        <p:nvSpPr>
          <p:cNvPr id="9" name="Rounded Rectangle 8"/>
          <p:cNvSpPr/>
          <p:nvPr/>
        </p:nvSpPr>
        <p:spPr>
          <a:xfrm>
            <a:off x="6245352" y="1371600"/>
            <a:ext cx="5294376" cy="2395728"/>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83096" y="1600200"/>
            <a:ext cx="4754880" cy="310896"/>
          </a:xfrm>
          <a:prstGeom prst="rect">
            <a:avLst/>
          </a:prstGeom>
          <a:noFill/>
        </p:spPr>
        <p:txBody>
          <a:bodyPr wrap="square" lIns="0" rIns="0" tIns="0" bIns="0" anchor="t">
            <a:noAutofit/>
          </a:bodyPr>
          <a:lstStyle/>
          <a:p>
            <a:pPr algn="l"/>
            <a:r>
              <a:rPr sz="1800" b="1">
                <a:solidFill>
                  <a:srgbClr val="B71A1A"/>
                </a:solidFill>
                <a:latin typeface="Malgun Gothic"/>
              </a:rPr>
              <a:t>What was asked</a:t>
            </a:r>
          </a:p>
        </p:txBody>
      </p:sp>
      <p:sp>
        <p:nvSpPr>
          <p:cNvPr id="11" name="TextBox 10"/>
          <p:cNvSpPr txBox="1"/>
          <p:nvPr/>
        </p:nvSpPr>
        <p:spPr>
          <a:xfrm>
            <a:off x="6483096" y="2048256"/>
            <a:ext cx="4754880" cy="1325880"/>
          </a:xfrm>
          <a:prstGeom prst="rect">
            <a:avLst/>
          </a:prstGeom>
          <a:noFill/>
        </p:spPr>
        <p:txBody>
          <a:bodyPr wrap="square" lIns="18288" rIns="18288" tIns="18288" bIns="18288">
            <a:noAutofit/>
          </a:bodyPr>
          <a:lstStyle/>
          <a:p>
            <a:pPr>
              <a:lnSpc>
                <a:spcPct val="105000"/>
              </a:lnSpc>
              <a:spcAft>
                <a:spcPts val="700"/>
              </a:spcAft>
            </a:pPr>
            <a:r>
              <a:rPr sz="1350">
                <a:solidFill>
                  <a:srgbClr val="18212B"/>
                </a:solidFill>
                <a:latin typeface="Malgun Gothic"/>
              </a:rPr>
              <a:t>•  Suhyeong's July 20 handoff, future work: "BLAST and HMMER should be implemented on it."</a:t>
            </a:r>
          </a:p>
          <a:p>
            <a:pPr>
              <a:lnSpc>
                <a:spcPct val="105000"/>
              </a:lnSpc>
              <a:spcAft>
                <a:spcPts val="700"/>
              </a:spcAft>
            </a:pPr>
            <a:r>
              <a:rPr sz="1350">
                <a:solidFill>
                  <a:srgbClr val="18212B"/>
                </a:solidFill>
                <a:latin typeface="Malgun Gothic"/>
              </a:rPr>
              <a:t>•  Dr. Kang: add them to the result page, build on a separate test server, use a copy of the database.</a:t>
            </a:r>
          </a:p>
          <a:p>
            <a:pPr>
              <a:lnSpc>
                <a:spcPct val="105000"/>
              </a:lnSpc>
              <a:spcAft>
                <a:spcPts val="700"/>
              </a:spcAft>
            </a:pPr>
            <a:r>
              <a:rPr sz="1350">
                <a:solidFill>
                  <a:srgbClr val="18212B"/>
                </a:solidFill>
                <a:latin typeface="Malgun Gothic"/>
              </a:rPr>
              <a:t>•  Later: use Swiss-Prot and PDB together.</a:t>
            </a:r>
          </a:p>
        </p:txBody>
      </p:sp>
      <p:sp>
        <p:nvSpPr>
          <p:cNvPr id="12" name="Rounded Rectangle 11"/>
          <p:cNvSpPr/>
          <p:nvPr/>
        </p:nvSpPr>
        <p:spPr>
          <a:xfrm>
            <a:off x="658368" y="4005072"/>
            <a:ext cx="10881360" cy="960120"/>
          </a:xfrm>
          <a:prstGeom prst="roundRect">
            <a:avLst/>
          </a:prstGeom>
          <a:solidFill>
            <a:srgbClr val="FFFFFF"/>
          </a:solidFill>
          <a:ln w="19050">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197096"/>
            <a:ext cx="10424160" cy="310896"/>
          </a:xfrm>
          <a:prstGeom prst="rect">
            <a:avLst/>
          </a:prstGeom>
          <a:noFill/>
        </p:spPr>
        <p:txBody>
          <a:bodyPr wrap="square" lIns="0" rIns="0" tIns="0" bIns="0" anchor="t">
            <a:noAutofit/>
          </a:bodyPr>
          <a:lstStyle/>
          <a:p>
            <a:pPr algn="ctr"/>
            <a:r>
              <a:rPr sz="1900" b="1">
                <a:solidFill>
                  <a:srgbClr val="B71A1A"/>
                </a:solidFill>
                <a:latin typeface="Malgun Gothic"/>
              </a:rPr>
              <a:t>This is evidence, not prediction.</a:t>
            </a:r>
          </a:p>
        </p:txBody>
      </p:sp>
      <p:sp>
        <p:nvSpPr>
          <p:cNvPr id="14" name="TextBox 13"/>
          <p:cNvSpPr txBox="1"/>
          <p:nvPr/>
        </p:nvSpPr>
        <p:spPr>
          <a:xfrm>
            <a:off x="896112" y="4562856"/>
            <a:ext cx="10424160" cy="274320"/>
          </a:xfrm>
          <a:prstGeom prst="rect">
            <a:avLst/>
          </a:prstGeom>
          <a:noFill/>
        </p:spPr>
        <p:txBody>
          <a:bodyPr wrap="square" lIns="0" rIns="0" tIns="0" bIns="0" anchor="t">
            <a:noAutofit/>
          </a:bodyPr>
          <a:lstStyle/>
          <a:p>
            <a:pPr algn="ctr"/>
            <a:r>
              <a:rPr sz="1350" b="0">
                <a:solidFill>
                  <a:srgbClr val="52565B"/>
                </a:solidFill>
                <a:latin typeface="Malgun Gothic"/>
              </a:rPr>
              <a:t>BLAST and HMMER answer a different question than the models: which known proteins does this look like, and what do they do?</a:t>
            </a:r>
          </a:p>
        </p:txBody>
      </p:sp>
      <p:sp>
        <p:nvSpPr>
          <p:cNvPr id="15" name="TextBox 14"/>
          <p:cNvSpPr txBox="1"/>
          <p:nvPr/>
        </p:nvSpPr>
        <p:spPr>
          <a:xfrm>
            <a:off x="658368" y="5230368"/>
            <a:ext cx="4572000" cy="274320"/>
          </a:xfrm>
          <a:prstGeom prst="rect">
            <a:avLst/>
          </a:prstGeom>
          <a:noFill/>
        </p:spPr>
        <p:txBody>
          <a:bodyPr wrap="square" lIns="0" rIns="0" tIns="0" bIns="0" anchor="t">
            <a:noAutofit/>
          </a:bodyPr>
          <a:lstStyle/>
          <a:p>
            <a:pPr algn="l"/>
            <a:r>
              <a:rPr sz="1500" b="1">
                <a:solidFill>
                  <a:srgbClr val="18212B"/>
                </a:solidFill>
                <a:latin typeface="Malgun Gothic"/>
              </a:rPr>
              <a:t>Scope of this talk</a:t>
            </a:r>
          </a:p>
        </p:txBody>
      </p:sp>
      <p:sp>
        <p:nvSpPr>
          <p:cNvPr id="16" name="Rounded Rectangle 15"/>
          <p:cNvSpPr/>
          <p:nvPr/>
        </p:nvSpPr>
        <p:spPr>
          <a:xfrm>
            <a:off x="658368" y="5596128"/>
            <a:ext cx="2578608" cy="56692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5596128"/>
            <a:ext cx="82296" cy="566928"/>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5715000"/>
            <a:ext cx="2194560" cy="274320"/>
          </a:xfrm>
          <a:prstGeom prst="rect">
            <a:avLst/>
          </a:prstGeom>
          <a:noFill/>
        </p:spPr>
        <p:txBody>
          <a:bodyPr wrap="square" lIns="0" rIns="0" tIns="0" bIns="0" anchor="t">
            <a:noAutofit/>
          </a:bodyPr>
          <a:lstStyle/>
          <a:p>
            <a:pPr algn="l"/>
            <a:r>
              <a:rPr sz="1400" b="1">
                <a:solidFill>
                  <a:srgbClr val="B71A1A"/>
                </a:solidFill>
                <a:latin typeface="Malgun Gothic"/>
              </a:rPr>
              <a:t>What I built</a:t>
            </a:r>
          </a:p>
        </p:txBody>
      </p:sp>
      <p:sp>
        <p:nvSpPr>
          <p:cNvPr id="19" name="Rounded Rectangle 18"/>
          <p:cNvSpPr/>
          <p:nvPr/>
        </p:nvSpPr>
        <p:spPr>
          <a:xfrm>
            <a:off x="3419856" y="5596128"/>
            <a:ext cx="2578608" cy="56692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19856" y="5596128"/>
            <a:ext cx="82296" cy="566928"/>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48456" y="5715000"/>
            <a:ext cx="2194560" cy="274320"/>
          </a:xfrm>
          <a:prstGeom prst="rect">
            <a:avLst/>
          </a:prstGeom>
          <a:noFill/>
        </p:spPr>
        <p:txBody>
          <a:bodyPr wrap="square" lIns="0" rIns="0" tIns="0" bIns="0" anchor="t">
            <a:noAutofit/>
          </a:bodyPr>
          <a:lstStyle/>
          <a:p>
            <a:pPr algn="l"/>
            <a:r>
              <a:rPr sz="1400" b="1">
                <a:solidFill>
                  <a:srgbClr val="176B87"/>
                </a:solidFill>
                <a:latin typeface="Malgun Gothic"/>
              </a:rPr>
              <a:t>How it works</a:t>
            </a:r>
          </a:p>
        </p:txBody>
      </p:sp>
      <p:sp>
        <p:nvSpPr>
          <p:cNvPr id="22" name="Rounded Rectangle 21"/>
          <p:cNvSpPr/>
          <p:nvPr/>
        </p:nvSpPr>
        <p:spPr>
          <a:xfrm>
            <a:off x="6181344" y="5596128"/>
            <a:ext cx="2578608" cy="56692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81344" y="5596128"/>
            <a:ext cx="82296" cy="566928"/>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5715000"/>
            <a:ext cx="2194560" cy="274320"/>
          </a:xfrm>
          <a:prstGeom prst="rect">
            <a:avLst/>
          </a:prstGeom>
          <a:noFill/>
        </p:spPr>
        <p:txBody>
          <a:bodyPr wrap="square" lIns="0" rIns="0" tIns="0" bIns="0" anchor="t">
            <a:noAutofit/>
          </a:bodyPr>
          <a:lstStyle/>
          <a:p>
            <a:pPr algn="l"/>
            <a:r>
              <a:rPr sz="1400" b="1">
                <a:solidFill>
                  <a:srgbClr val="167C5A"/>
                </a:solidFill>
                <a:latin typeface="Malgun Gothic"/>
              </a:rPr>
              <a:t>Does it work</a:t>
            </a:r>
          </a:p>
        </p:txBody>
      </p:sp>
      <p:sp>
        <p:nvSpPr>
          <p:cNvPr id="25" name="Rounded Rectangle 24"/>
          <p:cNvSpPr/>
          <p:nvPr/>
        </p:nvSpPr>
        <p:spPr>
          <a:xfrm>
            <a:off x="8942832" y="5596128"/>
            <a:ext cx="2578608" cy="56692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2832" y="5596128"/>
            <a:ext cx="82296" cy="566928"/>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71432" y="5715000"/>
            <a:ext cx="2194560" cy="274320"/>
          </a:xfrm>
          <a:prstGeom prst="rect">
            <a:avLst/>
          </a:prstGeom>
          <a:noFill/>
        </p:spPr>
        <p:txBody>
          <a:bodyPr wrap="square" lIns="0" rIns="0" tIns="0" bIns="0" anchor="t">
            <a:noAutofit/>
          </a:bodyPr>
          <a:lstStyle/>
          <a:p>
            <a:pPr algn="l"/>
            <a:r>
              <a:rPr sz="1400" b="1">
                <a:solidFill>
                  <a:srgbClr val="6554A4"/>
                </a:solidFill>
                <a:latin typeface="Malgun Gothic"/>
              </a:rPr>
              <a:t>What's next</a:t>
            </a:r>
          </a:p>
        </p:txBody>
      </p:sp>
      <p:cxnSp>
        <p:nvCxnSpPr>
          <p:cNvPr id="28" name="Connector 27"/>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WHAT I BUILT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A working search layer, end to end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3</a:t>
            </a:r>
          </a:p>
        </p:txBody>
      </p:sp>
      <p:sp>
        <p:nvSpPr>
          <p:cNvPr id="6" name="Rounded Rectangle 5"/>
          <p:cNvSpPr/>
          <p:nvPr/>
        </p:nvSpPr>
        <p:spPr>
          <a:xfrm>
            <a:off x="658368" y="1554480"/>
            <a:ext cx="1773936" cy="11704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4672" y="1801368"/>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874519"/>
            <a:ext cx="438912"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sp>
        <p:nvSpPr>
          <p:cNvPr id="9" name="TextBox 8"/>
          <p:cNvSpPr txBox="1"/>
          <p:nvPr/>
        </p:nvSpPr>
        <p:spPr>
          <a:xfrm>
            <a:off x="1316736" y="1719072"/>
            <a:ext cx="1042415" cy="274320"/>
          </a:xfrm>
          <a:prstGeom prst="rect">
            <a:avLst/>
          </a:prstGeom>
          <a:noFill/>
        </p:spPr>
        <p:txBody>
          <a:bodyPr wrap="square" lIns="0" rIns="0" tIns="0" bIns="0" anchor="t">
            <a:noAutofit/>
          </a:bodyPr>
          <a:lstStyle/>
          <a:p>
            <a:pPr algn="l"/>
            <a:r>
              <a:rPr sz="1200" b="1">
                <a:solidFill>
                  <a:srgbClr val="18212B"/>
                </a:solidFill>
                <a:latin typeface="Malgun Gothic"/>
              </a:rPr>
              <a:t>Copied DB</a:t>
            </a:r>
          </a:p>
        </p:txBody>
      </p:sp>
      <p:sp>
        <p:nvSpPr>
          <p:cNvPr id="10" name="TextBox 9"/>
          <p:cNvSpPr txBox="1"/>
          <p:nvPr/>
        </p:nvSpPr>
        <p:spPr>
          <a:xfrm>
            <a:off x="1316736" y="2048256"/>
            <a:ext cx="1042415" cy="365760"/>
          </a:xfrm>
          <a:prstGeom prst="rect">
            <a:avLst/>
          </a:prstGeom>
          <a:noFill/>
        </p:spPr>
        <p:txBody>
          <a:bodyPr wrap="square" lIns="0" rIns="0" tIns="0" bIns="0" anchor="t">
            <a:noAutofit/>
          </a:bodyPr>
          <a:lstStyle/>
          <a:p>
            <a:pPr algn="l"/>
            <a:r>
              <a:rPr sz="950" b="0">
                <a:solidFill>
                  <a:srgbClr val="667085"/>
                </a:solidFill>
                <a:latin typeface="Malgun Gothic"/>
              </a:rPr>
              <a:t>read-only</a:t>
            </a:r>
          </a:p>
        </p:txBody>
      </p:sp>
      <p:sp>
        <p:nvSpPr>
          <p:cNvPr id="11" name="Right Arrow 10"/>
          <p:cNvSpPr/>
          <p:nvPr/>
        </p:nvSpPr>
        <p:spPr>
          <a:xfrm>
            <a:off x="2496311" y="1984248"/>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71215" y="1554480"/>
            <a:ext cx="1773936" cy="11704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017520" y="1801368"/>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26663" y="1874519"/>
            <a:ext cx="438912"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sp>
        <p:nvSpPr>
          <p:cNvPr id="15" name="TextBox 14"/>
          <p:cNvSpPr txBox="1"/>
          <p:nvPr/>
        </p:nvSpPr>
        <p:spPr>
          <a:xfrm>
            <a:off x="3529583" y="1719072"/>
            <a:ext cx="1042415" cy="274320"/>
          </a:xfrm>
          <a:prstGeom prst="rect">
            <a:avLst/>
          </a:prstGeom>
          <a:noFill/>
        </p:spPr>
        <p:txBody>
          <a:bodyPr wrap="square" lIns="0" rIns="0" tIns="0" bIns="0" anchor="t">
            <a:noAutofit/>
          </a:bodyPr>
          <a:lstStyle/>
          <a:p>
            <a:pPr algn="l"/>
            <a:r>
              <a:rPr sz="1200" b="1">
                <a:solidFill>
                  <a:srgbClr val="18212B"/>
                </a:solidFill>
                <a:latin typeface="Malgun Gothic"/>
              </a:rPr>
              <a:t>Offline build</a:t>
            </a:r>
          </a:p>
        </p:txBody>
      </p:sp>
      <p:sp>
        <p:nvSpPr>
          <p:cNvPr id="16" name="TextBox 15"/>
          <p:cNvSpPr txBox="1"/>
          <p:nvPr/>
        </p:nvSpPr>
        <p:spPr>
          <a:xfrm>
            <a:off x="3529583" y="2048256"/>
            <a:ext cx="1042415" cy="365760"/>
          </a:xfrm>
          <a:prstGeom prst="rect">
            <a:avLst/>
          </a:prstGeom>
          <a:noFill/>
        </p:spPr>
        <p:txBody>
          <a:bodyPr wrap="square" lIns="0" rIns="0" tIns="0" bIns="0" anchor="t">
            <a:noAutofit/>
          </a:bodyPr>
          <a:lstStyle/>
          <a:p>
            <a:pPr algn="l"/>
            <a:r>
              <a:rPr sz="950" b="0">
                <a:solidFill>
                  <a:srgbClr val="667085"/>
                </a:solidFill>
                <a:latin typeface="Malgun Gothic"/>
              </a:rPr>
              <a:t>FASTA + indexes</a:t>
            </a:r>
          </a:p>
        </p:txBody>
      </p:sp>
      <p:sp>
        <p:nvSpPr>
          <p:cNvPr id="17" name="Right Arrow 16"/>
          <p:cNvSpPr/>
          <p:nvPr/>
        </p:nvSpPr>
        <p:spPr>
          <a:xfrm>
            <a:off x="4709159" y="1984248"/>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84064" y="1554480"/>
            <a:ext cx="1773936" cy="11704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230368" y="1801368"/>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39512" y="1874519"/>
            <a:ext cx="438912"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sp>
        <p:nvSpPr>
          <p:cNvPr id="21" name="TextBox 20"/>
          <p:cNvSpPr txBox="1"/>
          <p:nvPr/>
        </p:nvSpPr>
        <p:spPr>
          <a:xfrm>
            <a:off x="5742431" y="1719072"/>
            <a:ext cx="1042415" cy="274320"/>
          </a:xfrm>
          <a:prstGeom prst="rect">
            <a:avLst/>
          </a:prstGeom>
          <a:noFill/>
        </p:spPr>
        <p:txBody>
          <a:bodyPr wrap="square" lIns="0" rIns="0" tIns="0" bIns="0" anchor="t">
            <a:noAutofit/>
          </a:bodyPr>
          <a:lstStyle/>
          <a:p>
            <a:pPr algn="l"/>
            <a:r>
              <a:rPr sz="1200" b="1">
                <a:solidFill>
                  <a:srgbClr val="18212B"/>
                </a:solidFill>
                <a:latin typeface="Malgun Gothic"/>
              </a:rPr>
              <a:t>Sequence in</a:t>
            </a:r>
          </a:p>
        </p:txBody>
      </p:sp>
      <p:sp>
        <p:nvSpPr>
          <p:cNvPr id="22" name="TextBox 21"/>
          <p:cNvSpPr txBox="1"/>
          <p:nvPr/>
        </p:nvSpPr>
        <p:spPr>
          <a:xfrm>
            <a:off x="5742431" y="2048256"/>
            <a:ext cx="1042415" cy="365760"/>
          </a:xfrm>
          <a:prstGeom prst="rect">
            <a:avLst/>
          </a:prstGeom>
          <a:noFill/>
        </p:spPr>
        <p:txBody>
          <a:bodyPr wrap="square" lIns="0" rIns="0" tIns="0" bIns="0" anchor="t">
            <a:noAutofit/>
          </a:bodyPr>
          <a:lstStyle/>
          <a:p>
            <a:pPr algn="l"/>
            <a:r>
              <a:rPr sz="950" b="0">
                <a:solidFill>
                  <a:srgbClr val="667085"/>
                </a:solidFill>
                <a:latin typeface="Malgun Gothic"/>
              </a:rPr>
              <a:t>web submission</a:t>
            </a:r>
          </a:p>
        </p:txBody>
      </p:sp>
      <p:sp>
        <p:nvSpPr>
          <p:cNvPr id="23" name="Right Arrow 22"/>
          <p:cNvSpPr/>
          <p:nvPr/>
        </p:nvSpPr>
        <p:spPr>
          <a:xfrm>
            <a:off x="6922007" y="1984248"/>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96912" y="1554480"/>
            <a:ext cx="1773936" cy="11704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43215" y="1801368"/>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0" y="1874519"/>
            <a:ext cx="438912"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sp>
        <p:nvSpPr>
          <p:cNvPr id="27" name="TextBox 26"/>
          <p:cNvSpPr txBox="1"/>
          <p:nvPr/>
        </p:nvSpPr>
        <p:spPr>
          <a:xfrm>
            <a:off x="7955279" y="1719072"/>
            <a:ext cx="1042415" cy="274320"/>
          </a:xfrm>
          <a:prstGeom prst="rect">
            <a:avLst/>
          </a:prstGeom>
          <a:noFill/>
        </p:spPr>
        <p:txBody>
          <a:bodyPr wrap="square" lIns="0" rIns="0" tIns="0" bIns="0" anchor="t">
            <a:noAutofit/>
          </a:bodyPr>
          <a:lstStyle/>
          <a:p>
            <a:pPr algn="l"/>
            <a:r>
              <a:rPr sz="1200" b="1">
                <a:solidFill>
                  <a:srgbClr val="18212B"/>
                </a:solidFill>
                <a:latin typeface="Malgun Gothic"/>
              </a:rPr>
              <a:t>Three searches</a:t>
            </a:r>
          </a:p>
        </p:txBody>
      </p:sp>
      <p:sp>
        <p:nvSpPr>
          <p:cNvPr id="28" name="TextBox 27"/>
          <p:cNvSpPr txBox="1"/>
          <p:nvPr/>
        </p:nvSpPr>
        <p:spPr>
          <a:xfrm>
            <a:off x="7955279" y="2048256"/>
            <a:ext cx="1042415" cy="365760"/>
          </a:xfrm>
          <a:prstGeom prst="rect">
            <a:avLst/>
          </a:prstGeom>
          <a:noFill/>
        </p:spPr>
        <p:txBody>
          <a:bodyPr wrap="square" lIns="0" rIns="0" tIns="0" bIns="0" anchor="t">
            <a:noAutofit/>
          </a:bodyPr>
          <a:lstStyle/>
          <a:p>
            <a:pPr algn="l"/>
            <a:r>
              <a:rPr sz="950" b="0">
                <a:solidFill>
                  <a:srgbClr val="667085"/>
                </a:solidFill>
                <a:latin typeface="Malgun Gothic"/>
              </a:rPr>
              <a:t>BLAST + HMMER</a:t>
            </a:r>
          </a:p>
        </p:txBody>
      </p:sp>
      <p:sp>
        <p:nvSpPr>
          <p:cNvPr id="29" name="Right Arrow 28"/>
          <p:cNvSpPr/>
          <p:nvPr/>
        </p:nvSpPr>
        <p:spPr>
          <a:xfrm>
            <a:off x="9134855" y="1984248"/>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09760" y="1554480"/>
            <a:ext cx="1773936" cy="11704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56064" y="1801368"/>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65208" y="1874519"/>
            <a:ext cx="438912" cy="201168"/>
          </a:xfrm>
          <a:prstGeom prst="rect">
            <a:avLst/>
          </a:prstGeom>
          <a:noFill/>
        </p:spPr>
        <p:txBody>
          <a:bodyPr wrap="square" lIns="0" rIns="0" tIns="0" bIns="0" anchor="t">
            <a:noAutofit/>
          </a:bodyPr>
          <a:lstStyle/>
          <a:p>
            <a:pPr algn="ctr"/>
            <a:r>
              <a:rPr sz="1200" b="1">
                <a:solidFill>
                  <a:srgbClr val="FFFFFF"/>
                </a:solidFill>
                <a:latin typeface="Malgun Gothic"/>
              </a:rPr>
              <a:t>5</a:t>
            </a:r>
          </a:p>
        </p:txBody>
      </p:sp>
      <p:sp>
        <p:nvSpPr>
          <p:cNvPr id="33" name="TextBox 32"/>
          <p:cNvSpPr txBox="1"/>
          <p:nvPr/>
        </p:nvSpPr>
        <p:spPr>
          <a:xfrm>
            <a:off x="10168128" y="1719072"/>
            <a:ext cx="1042415" cy="274320"/>
          </a:xfrm>
          <a:prstGeom prst="rect">
            <a:avLst/>
          </a:prstGeom>
          <a:noFill/>
        </p:spPr>
        <p:txBody>
          <a:bodyPr wrap="square" lIns="0" rIns="0" tIns="0" bIns="0" anchor="t">
            <a:noAutofit/>
          </a:bodyPr>
          <a:lstStyle/>
          <a:p>
            <a:pPr algn="l"/>
            <a:r>
              <a:rPr sz="1200" b="1">
                <a:solidFill>
                  <a:srgbClr val="18212B"/>
                </a:solidFill>
                <a:latin typeface="Malgun Gothic"/>
              </a:rPr>
              <a:t>Result page</a:t>
            </a:r>
          </a:p>
        </p:txBody>
      </p:sp>
      <p:sp>
        <p:nvSpPr>
          <p:cNvPr id="34" name="TextBox 33"/>
          <p:cNvSpPr txBox="1"/>
          <p:nvPr/>
        </p:nvSpPr>
        <p:spPr>
          <a:xfrm>
            <a:off x="10168128" y="2048256"/>
            <a:ext cx="1042415" cy="365760"/>
          </a:xfrm>
          <a:prstGeom prst="rect">
            <a:avLst/>
          </a:prstGeom>
          <a:noFill/>
        </p:spPr>
        <p:txBody>
          <a:bodyPr wrap="square" lIns="0" rIns="0" tIns="0" bIns="0" anchor="t">
            <a:noAutofit/>
          </a:bodyPr>
          <a:lstStyle/>
          <a:p>
            <a:pPr algn="l"/>
            <a:r>
              <a:rPr sz="950" b="0">
                <a:solidFill>
                  <a:srgbClr val="667085"/>
                </a:solidFill>
                <a:latin typeface="Malgun Gothic"/>
              </a:rPr>
              <a:t>HTML, CSV, JSON</a:t>
            </a:r>
          </a:p>
        </p:txBody>
      </p:sp>
      <p:sp>
        <p:nvSpPr>
          <p:cNvPr id="35" name="Rounded Rectangle 34"/>
          <p:cNvSpPr/>
          <p:nvPr/>
        </p:nvSpPr>
        <p:spPr>
          <a:xfrm>
            <a:off x="658368" y="3063240"/>
            <a:ext cx="3474720" cy="237744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58368" y="3063240"/>
            <a:ext cx="3474720" cy="100584"/>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968" y="3337560"/>
            <a:ext cx="3017520" cy="329184"/>
          </a:xfrm>
          <a:prstGeom prst="rect">
            <a:avLst/>
          </a:prstGeom>
          <a:noFill/>
        </p:spPr>
        <p:txBody>
          <a:bodyPr wrap="square" lIns="0" rIns="0" tIns="0" bIns="0" anchor="t">
            <a:noAutofit/>
          </a:bodyPr>
          <a:lstStyle/>
          <a:p>
            <a:pPr algn="l"/>
            <a:r>
              <a:rPr sz="1700" b="1">
                <a:solidFill>
                  <a:srgbClr val="B71A1A"/>
                </a:solidFill>
                <a:latin typeface="Malgun Gothic"/>
              </a:rPr>
              <a:t>Reference builder</a:t>
            </a:r>
          </a:p>
        </p:txBody>
      </p:sp>
      <p:sp>
        <p:nvSpPr>
          <p:cNvPr id="38" name="TextBox 37"/>
          <p:cNvSpPr txBox="1"/>
          <p:nvPr/>
        </p:nvSpPr>
        <p:spPr>
          <a:xfrm>
            <a:off x="886968" y="3840480"/>
            <a:ext cx="3017520" cy="1371600"/>
          </a:xfrm>
          <a:prstGeom prst="rect">
            <a:avLst/>
          </a:prstGeom>
          <a:noFill/>
        </p:spPr>
        <p:txBody>
          <a:bodyPr wrap="square" lIns="0" rIns="0" tIns="0" bIns="0" anchor="t">
            <a:noAutofit/>
          </a:bodyPr>
          <a:lstStyle/>
          <a:p>
            <a:pPr algn="l">
              <a:lnSpc>
                <a:spcPct val="110000"/>
              </a:lnSpc>
            </a:pPr>
            <a:r>
              <a:rPr sz="1250" b="0">
                <a:solidFill>
                  <a:srgbClr val="52565B"/>
                </a:solidFill>
                <a:latin typeface="Malgun Gothic"/>
              </a:rPr>
              <a:t>Reads the copied database once. Filters to Swiss-Prot and PDB, drops bad sequences, removes duplicates, and writes the files the searches use.</a:t>
            </a:r>
          </a:p>
        </p:txBody>
      </p:sp>
      <p:sp>
        <p:nvSpPr>
          <p:cNvPr id="39" name="Rounded Rectangle 38"/>
          <p:cNvSpPr/>
          <p:nvPr/>
        </p:nvSpPr>
        <p:spPr>
          <a:xfrm>
            <a:off x="4334255" y="3063240"/>
            <a:ext cx="3474720" cy="237744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34255" y="3063240"/>
            <a:ext cx="3474720" cy="100584"/>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62855" y="3337560"/>
            <a:ext cx="3017520" cy="329184"/>
          </a:xfrm>
          <a:prstGeom prst="rect">
            <a:avLst/>
          </a:prstGeom>
          <a:noFill/>
        </p:spPr>
        <p:txBody>
          <a:bodyPr wrap="square" lIns="0" rIns="0" tIns="0" bIns="0" anchor="t">
            <a:noAutofit/>
          </a:bodyPr>
          <a:lstStyle/>
          <a:p>
            <a:pPr algn="l"/>
            <a:r>
              <a:rPr sz="1700" b="1">
                <a:solidFill>
                  <a:srgbClr val="176B87"/>
                </a:solidFill>
                <a:latin typeface="Malgun Gothic"/>
              </a:rPr>
              <a:t>Search service</a:t>
            </a:r>
          </a:p>
        </p:txBody>
      </p:sp>
      <p:sp>
        <p:nvSpPr>
          <p:cNvPr id="42" name="TextBox 41"/>
          <p:cNvSpPr txBox="1"/>
          <p:nvPr/>
        </p:nvSpPr>
        <p:spPr>
          <a:xfrm>
            <a:off x="4562855" y="3840480"/>
            <a:ext cx="3017520" cy="1371600"/>
          </a:xfrm>
          <a:prstGeom prst="rect">
            <a:avLst/>
          </a:prstGeom>
          <a:noFill/>
        </p:spPr>
        <p:txBody>
          <a:bodyPr wrap="square" lIns="0" rIns="0" tIns="0" bIns="0" anchor="t">
            <a:noAutofit/>
          </a:bodyPr>
          <a:lstStyle/>
          <a:p>
            <a:pPr algn="l">
              <a:lnSpc>
                <a:spcPct val="110000"/>
              </a:lnSpc>
            </a:pPr>
            <a:r>
              <a:rPr sz="1250" b="0">
                <a:solidFill>
                  <a:srgbClr val="52565B"/>
                </a:solidFill>
                <a:latin typeface="Malgun Gothic"/>
              </a:rPr>
              <a:t>Runs blastp, phmmer and hmmscan through one plain function. It knows nothing about the web framework, so EnzymeX can call it directly.</a:t>
            </a:r>
          </a:p>
        </p:txBody>
      </p:sp>
      <p:sp>
        <p:nvSpPr>
          <p:cNvPr id="43" name="Rounded Rectangle 42"/>
          <p:cNvSpPr/>
          <p:nvPr/>
        </p:nvSpPr>
        <p:spPr>
          <a:xfrm>
            <a:off x="8010144" y="3063240"/>
            <a:ext cx="3474720" cy="237744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10144" y="3063240"/>
            <a:ext cx="3474720" cy="100584"/>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38744" y="3337560"/>
            <a:ext cx="3017520" cy="329184"/>
          </a:xfrm>
          <a:prstGeom prst="rect">
            <a:avLst/>
          </a:prstGeom>
          <a:noFill/>
        </p:spPr>
        <p:txBody>
          <a:bodyPr wrap="square" lIns="0" rIns="0" tIns="0" bIns="0" anchor="t">
            <a:noAutofit/>
          </a:bodyPr>
          <a:lstStyle/>
          <a:p>
            <a:pPr algn="l"/>
            <a:r>
              <a:rPr sz="1700" b="1">
                <a:solidFill>
                  <a:srgbClr val="167C5A"/>
                </a:solidFill>
                <a:latin typeface="Malgun Gothic"/>
              </a:rPr>
              <a:t>Result interface</a:t>
            </a:r>
          </a:p>
        </p:txBody>
      </p:sp>
      <p:sp>
        <p:nvSpPr>
          <p:cNvPr id="46" name="TextBox 45"/>
          <p:cNvSpPr txBox="1"/>
          <p:nvPr/>
        </p:nvSpPr>
        <p:spPr>
          <a:xfrm>
            <a:off x="8238744" y="3840480"/>
            <a:ext cx="3017520" cy="1371600"/>
          </a:xfrm>
          <a:prstGeom prst="rect">
            <a:avLst/>
          </a:prstGeom>
          <a:noFill/>
        </p:spPr>
        <p:txBody>
          <a:bodyPr wrap="square" lIns="0" rIns="0" tIns="0" bIns="0" anchor="t">
            <a:noAutofit/>
          </a:bodyPr>
          <a:lstStyle/>
          <a:p>
            <a:pPr algn="l">
              <a:lnSpc>
                <a:spcPct val="110000"/>
              </a:lnSpc>
            </a:pPr>
            <a:r>
              <a:rPr sz="1250" b="0">
                <a:solidFill>
                  <a:srgbClr val="52565B"/>
                </a:solidFill>
                <a:latin typeface="Malgun Gothic"/>
              </a:rPr>
              <a:t>One table per method with the EC number, source and description attached. Exports to CSV and JSON. Says explicitly when a method found nothing.</a:t>
            </a:r>
          </a:p>
        </p:txBody>
      </p:sp>
      <p:sp>
        <p:nvSpPr>
          <p:cNvPr id="47" name="Rounded Rectangle 46"/>
          <p:cNvSpPr/>
          <p:nvPr/>
        </p:nvSpPr>
        <p:spPr>
          <a:xfrm>
            <a:off x="658368" y="5623560"/>
            <a:ext cx="10881360" cy="475488"/>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5751576"/>
            <a:ext cx="10479024" cy="237744"/>
          </a:xfrm>
          <a:prstGeom prst="rect">
            <a:avLst/>
          </a:prstGeom>
          <a:noFill/>
        </p:spPr>
        <p:txBody>
          <a:bodyPr wrap="square" lIns="0" rIns="0" tIns="0" bIns="0" anchor="t">
            <a:noAutofit/>
          </a:bodyPr>
          <a:lstStyle/>
          <a:p>
            <a:pPr algn="ctr"/>
            <a:r>
              <a:rPr sz="1250" b="1">
                <a:solidFill>
                  <a:srgbClr val="B71A1A"/>
                </a:solidFill>
                <a:latin typeface="Malgun Gothic"/>
              </a:rPr>
              <a:t>All of it runs today on a standalone server. The live EnzymeX service and repository are untouched.</a:t>
            </a:r>
          </a:p>
        </p:txBody>
      </p:sp>
      <p:cxnSp>
        <p:nvCxnSpPr>
          <p:cNvPr id="49" name="Connector 48"/>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HOW IT WORKS</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Build once, then search many times</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4</a:t>
            </a:r>
          </a:p>
        </p:txBody>
      </p:sp>
      <p:sp>
        <p:nvSpPr>
          <p:cNvPr id="6" name="Rounded Rectangle 5"/>
          <p:cNvSpPr/>
          <p:nvPr/>
        </p:nvSpPr>
        <p:spPr>
          <a:xfrm>
            <a:off x="658368" y="1417320"/>
            <a:ext cx="5285232" cy="338328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1645920"/>
            <a:ext cx="3108960" cy="310896"/>
          </a:xfrm>
          <a:prstGeom prst="roundRect">
            <a:avLst/>
          </a:prstGeom>
          <a:solidFill>
            <a:srgbClr val="FFFFFF"/>
          </a:solidFill>
          <a:ln w="8890">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655064"/>
            <a:ext cx="3035808" cy="256032"/>
          </a:xfrm>
          <a:prstGeom prst="rect">
            <a:avLst/>
          </a:prstGeom>
          <a:noFill/>
        </p:spPr>
        <p:txBody>
          <a:bodyPr wrap="square" lIns="0" rIns="0" tIns="0" bIns="0" anchor="ctr">
            <a:noAutofit/>
          </a:bodyPr>
          <a:lstStyle/>
          <a:p>
            <a:pPr algn="ctr"/>
            <a:r>
              <a:rPr sz="1050" b="1">
                <a:solidFill>
                  <a:srgbClr val="176B87"/>
                </a:solidFill>
                <a:latin typeface="Malgun Gothic"/>
              </a:rPr>
              <a:t>OFFLINE  |  MINUTES  |  RUN RARELY</a:t>
            </a:r>
          </a:p>
        </p:txBody>
      </p:sp>
      <p:sp>
        <p:nvSpPr>
          <p:cNvPr id="9" name="TextBox 8"/>
          <p:cNvSpPr txBox="1"/>
          <p:nvPr/>
        </p:nvSpPr>
        <p:spPr>
          <a:xfrm>
            <a:off x="896112" y="2103120"/>
            <a:ext cx="4809744" cy="365760"/>
          </a:xfrm>
          <a:prstGeom prst="rect">
            <a:avLst/>
          </a:prstGeom>
          <a:noFill/>
        </p:spPr>
        <p:txBody>
          <a:bodyPr wrap="square" lIns="0" rIns="0" tIns="0" bIns="0" anchor="t">
            <a:noAutofit/>
          </a:bodyPr>
          <a:lstStyle/>
          <a:p>
            <a:pPr algn="l"/>
            <a:r>
              <a:rPr sz="2200" b="1">
                <a:solidFill>
                  <a:srgbClr val="176B87"/>
                </a:solidFill>
                <a:latin typeface="Malgun Gothic"/>
              </a:rPr>
              <a:t>Reference build</a:t>
            </a:r>
          </a:p>
        </p:txBody>
      </p:sp>
      <p:sp>
        <p:nvSpPr>
          <p:cNvPr id="10" name="TextBox 9"/>
          <p:cNvSpPr txBox="1"/>
          <p:nvPr/>
        </p:nvSpPr>
        <p:spPr>
          <a:xfrm>
            <a:off x="896112" y="2615184"/>
            <a:ext cx="4809744" cy="2011680"/>
          </a:xfrm>
          <a:prstGeom prst="rect">
            <a:avLst/>
          </a:prstGeom>
          <a:noFill/>
        </p:spPr>
        <p:txBody>
          <a:bodyPr wrap="square" lIns="18288" rIns="18288" tIns="18288" bIns="18288">
            <a:noAutofit/>
          </a:bodyPr>
          <a:lstStyle/>
          <a:p>
            <a:pPr>
              <a:lnSpc>
                <a:spcPct val="105000"/>
              </a:lnSpc>
              <a:spcAft>
                <a:spcPts val="700"/>
              </a:spcAft>
            </a:pPr>
            <a:r>
              <a:rPr sz="1350">
                <a:solidFill>
                  <a:srgbClr val="18212B"/>
                </a:solidFill>
                <a:latin typeface="Malgun Gothic"/>
              </a:rPr>
              <a:t>•  The only step that opens the database.</a:t>
            </a:r>
          </a:p>
          <a:p>
            <a:pPr>
              <a:lnSpc>
                <a:spcPct val="105000"/>
              </a:lnSpc>
              <a:spcAft>
                <a:spcPts val="700"/>
              </a:spcAft>
            </a:pPr>
            <a:r>
              <a:rPr sz="1350">
                <a:solidFill>
                  <a:srgbClr val="18212B"/>
                </a:solidFill>
                <a:latin typeface="Malgun Gothic"/>
              </a:rPr>
              <a:t>•  Exports the sequences to a FASTA file.</a:t>
            </a:r>
          </a:p>
          <a:p>
            <a:pPr>
              <a:lnSpc>
                <a:spcPct val="105000"/>
              </a:lnSpc>
              <a:spcAft>
                <a:spcPts val="700"/>
              </a:spcAft>
            </a:pPr>
            <a:r>
              <a:rPr sz="1350">
                <a:solidFill>
                  <a:srgbClr val="18212B"/>
                </a:solidFill>
                <a:latin typeface="Malgun Gothic"/>
              </a:rPr>
              <a:t>•  Builds the BLAST index and the family profiles.</a:t>
            </a:r>
          </a:p>
          <a:p>
            <a:pPr>
              <a:lnSpc>
                <a:spcPct val="105000"/>
              </a:lnSpc>
              <a:spcAft>
                <a:spcPts val="700"/>
              </a:spcAft>
            </a:pPr>
            <a:r>
              <a:rPr sz="1350">
                <a:solidFill>
                  <a:srgbClr val="18212B"/>
                </a:solidFill>
                <a:latin typeface="Malgun Gothic"/>
              </a:rPr>
              <a:t>•  Writes EC number, source and description to a small local file.</a:t>
            </a:r>
          </a:p>
          <a:p>
            <a:pPr>
              <a:lnSpc>
                <a:spcPct val="105000"/>
              </a:lnSpc>
              <a:spcAft>
                <a:spcPts val="700"/>
              </a:spcAft>
            </a:pPr>
            <a:r>
              <a:rPr sz="1350">
                <a:solidFill>
                  <a:srgbClr val="18212B"/>
                </a:solidFill>
                <a:latin typeface="Malgun Gothic"/>
              </a:rPr>
              <a:t>•  Stamps everything with one build ID.</a:t>
            </a:r>
          </a:p>
        </p:txBody>
      </p:sp>
      <p:sp>
        <p:nvSpPr>
          <p:cNvPr id="11" name="Rounded Rectangle 10"/>
          <p:cNvSpPr/>
          <p:nvPr/>
        </p:nvSpPr>
        <p:spPr>
          <a:xfrm>
            <a:off x="6245352" y="1417320"/>
            <a:ext cx="5294376" cy="3383280"/>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83096" y="1645920"/>
            <a:ext cx="3246120" cy="310896"/>
          </a:xfrm>
          <a:prstGeom prst="roundRect">
            <a:avLst/>
          </a:prstGeom>
          <a:solidFill>
            <a:srgbClr val="FFFFFF"/>
          </a:solidFill>
          <a:ln w="8890">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655064"/>
            <a:ext cx="3172968" cy="256032"/>
          </a:xfrm>
          <a:prstGeom prst="rect">
            <a:avLst/>
          </a:prstGeom>
          <a:noFill/>
        </p:spPr>
        <p:txBody>
          <a:bodyPr wrap="square" lIns="0" rIns="0" tIns="0" bIns="0" anchor="ctr">
            <a:noAutofit/>
          </a:bodyPr>
          <a:lstStyle/>
          <a:p>
            <a:pPr algn="ctr"/>
            <a:r>
              <a:rPr sz="1050" b="1">
                <a:solidFill>
                  <a:srgbClr val="167C5A"/>
                </a:solidFill>
                <a:latin typeface="Malgun Gothic"/>
              </a:rPr>
              <a:t>ONLINE  |  SECONDS  |  EVERY REQUEST</a:t>
            </a:r>
          </a:p>
        </p:txBody>
      </p:sp>
      <p:sp>
        <p:nvSpPr>
          <p:cNvPr id="14" name="TextBox 13"/>
          <p:cNvSpPr txBox="1"/>
          <p:nvPr/>
        </p:nvSpPr>
        <p:spPr>
          <a:xfrm>
            <a:off x="6483096" y="2103120"/>
            <a:ext cx="4809744" cy="365760"/>
          </a:xfrm>
          <a:prstGeom prst="rect">
            <a:avLst/>
          </a:prstGeom>
          <a:noFill/>
        </p:spPr>
        <p:txBody>
          <a:bodyPr wrap="square" lIns="0" rIns="0" tIns="0" bIns="0" anchor="t">
            <a:noAutofit/>
          </a:bodyPr>
          <a:lstStyle/>
          <a:p>
            <a:pPr algn="l"/>
            <a:r>
              <a:rPr sz="2200" b="1">
                <a:solidFill>
                  <a:srgbClr val="167C5A"/>
                </a:solidFill>
                <a:latin typeface="Malgun Gothic"/>
              </a:rPr>
              <a:t>The search</a:t>
            </a:r>
          </a:p>
        </p:txBody>
      </p:sp>
      <p:sp>
        <p:nvSpPr>
          <p:cNvPr id="15" name="TextBox 14"/>
          <p:cNvSpPr txBox="1"/>
          <p:nvPr/>
        </p:nvSpPr>
        <p:spPr>
          <a:xfrm>
            <a:off x="6483096" y="2615184"/>
            <a:ext cx="4809744" cy="2011680"/>
          </a:xfrm>
          <a:prstGeom prst="rect">
            <a:avLst/>
          </a:prstGeom>
          <a:noFill/>
        </p:spPr>
        <p:txBody>
          <a:bodyPr wrap="square" lIns="18288" rIns="18288" tIns="18288" bIns="18288">
            <a:noAutofit/>
          </a:bodyPr>
          <a:lstStyle/>
          <a:p>
            <a:pPr>
              <a:lnSpc>
                <a:spcPct val="105000"/>
              </a:lnSpc>
              <a:spcAft>
                <a:spcPts val="700"/>
              </a:spcAft>
            </a:pPr>
            <a:r>
              <a:rPr sz="1350">
                <a:solidFill>
                  <a:srgbClr val="18212B"/>
                </a:solidFill>
                <a:latin typeface="Malgun Gothic"/>
              </a:rPr>
              <a:t>•  Validates the submitted sequence.</a:t>
            </a:r>
          </a:p>
          <a:p>
            <a:pPr>
              <a:lnSpc>
                <a:spcPct val="105000"/>
              </a:lnSpc>
              <a:spcAft>
                <a:spcPts val="700"/>
              </a:spcAft>
            </a:pPr>
            <a:r>
              <a:rPr sz="1350">
                <a:solidFill>
                  <a:srgbClr val="18212B"/>
                </a:solidFill>
                <a:latin typeface="Malgun Gothic"/>
              </a:rPr>
              <a:t>•  Runs the three searches against the built files.</a:t>
            </a:r>
          </a:p>
          <a:p>
            <a:pPr>
              <a:lnSpc>
                <a:spcPct val="105000"/>
              </a:lnSpc>
              <a:spcAft>
                <a:spcPts val="700"/>
              </a:spcAft>
            </a:pPr>
            <a:r>
              <a:rPr sz="1350">
                <a:solidFill>
                  <a:srgbClr val="18212B"/>
                </a:solidFill>
                <a:latin typeface="Malgun Gothic"/>
              </a:rPr>
              <a:t>•  Reads the EC and source from that same local file.</a:t>
            </a:r>
          </a:p>
          <a:p>
            <a:pPr>
              <a:lnSpc>
                <a:spcPct val="105000"/>
              </a:lnSpc>
              <a:spcAft>
                <a:spcPts val="700"/>
              </a:spcAft>
            </a:pPr>
            <a:r>
              <a:rPr sz="1350">
                <a:solidFill>
                  <a:srgbClr val="18212B"/>
                </a:solidFill>
                <a:latin typeface="Malgun Gothic"/>
              </a:rPr>
              <a:t>•  Renders the tables.</a:t>
            </a:r>
          </a:p>
          <a:p>
            <a:pPr>
              <a:lnSpc>
                <a:spcPct val="105000"/>
              </a:lnSpc>
              <a:spcAft>
                <a:spcPts val="700"/>
              </a:spcAft>
            </a:pPr>
            <a:r>
              <a:rPr sz="1350">
                <a:solidFill>
                  <a:srgbClr val="18212B"/>
                </a:solidFill>
                <a:latin typeface="Malgun Gothic"/>
              </a:rPr>
              <a:t>•  Never opens a database connection.</a:t>
            </a:r>
          </a:p>
        </p:txBody>
      </p:sp>
      <p:sp>
        <p:nvSpPr>
          <p:cNvPr id="16" name="TextBox 15"/>
          <p:cNvSpPr txBox="1"/>
          <p:nvPr/>
        </p:nvSpPr>
        <p:spPr>
          <a:xfrm>
            <a:off x="658368" y="5029200"/>
            <a:ext cx="4572000" cy="292608"/>
          </a:xfrm>
          <a:prstGeom prst="rect">
            <a:avLst/>
          </a:prstGeom>
          <a:noFill/>
        </p:spPr>
        <p:txBody>
          <a:bodyPr wrap="square" lIns="0" rIns="0" tIns="0" bIns="0" anchor="t">
            <a:noAutofit/>
          </a:bodyPr>
          <a:lstStyle/>
          <a:p>
            <a:pPr algn="l"/>
            <a:r>
              <a:rPr sz="1600" b="1">
                <a:solidFill>
                  <a:srgbClr val="18212B"/>
                </a:solidFill>
                <a:latin typeface="Malgun Gothic"/>
              </a:rPr>
              <a:t>Why split it this way</a:t>
            </a:r>
          </a:p>
        </p:txBody>
      </p:sp>
      <p:sp>
        <p:nvSpPr>
          <p:cNvPr id="17" name="Rounded Rectangle 16"/>
          <p:cNvSpPr/>
          <p:nvPr/>
        </p:nvSpPr>
        <p:spPr>
          <a:xfrm>
            <a:off x="658368" y="5394960"/>
            <a:ext cx="3474720" cy="86868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394960"/>
            <a:ext cx="82296" cy="868680"/>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6968" y="5522976"/>
            <a:ext cx="3063240" cy="256032"/>
          </a:xfrm>
          <a:prstGeom prst="rect">
            <a:avLst/>
          </a:prstGeom>
          <a:noFill/>
        </p:spPr>
        <p:txBody>
          <a:bodyPr wrap="square" lIns="0" rIns="0" tIns="0" bIns="0" anchor="t">
            <a:noAutofit/>
          </a:bodyPr>
          <a:lstStyle/>
          <a:p>
            <a:pPr algn="l"/>
            <a:r>
              <a:rPr sz="1300" b="1">
                <a:solidFill>
                  <a:srgbClr val="B71A1A"/>
                </a:solidFill>
                <a:latin typeface="Malgun Gothic"/>
              </a:rPr>
              <a:t>No database at request time</a:t>
            </a:r>
          </a:p>
        </p:txBody>
      </p:sp>
      <p:sp>
        <p:nvSpPr>
          <p:cNvPr id="20" name="TextBox 19"/>
          <p:cNvSpPr txBox="1"/>
          <p:nvPr/>
        </p:nvSpPr>
        <p:spPr>
          <a:xfrm>
            <a:off x="886968" y="5806440"/>
            <a:ext cx="3063240" cy="365760"/>
          </a:xfrm>
          <a:prstGeom prst="rect">
            <a:avLst/>
          </a:prstGeom>
          <a:noFill/>
        </p:spPr>
        <p:txBody>
          <a:bodyPr wrap="square" lIns="0" rIns="0" tIns="0" bIns="0" anchor="t">
            <a:noAutofit/>
          </a:bodyPr>
          <a:lstStyle/>
          <a:p>
            <a:pPr algn="l"/>
            <a:r>
              <a:rPr sz="1050" b="0">
                <a:solidFill>
                  <a:srgbClr val="52565B"/>
                </a:solidFill>
                <a:latin typeface="Malgun Gothic"/>
              </a:rPr>
              <a:t>A user search cannot touch, slow down or leak the database.</a:t>
            </a:r>
          </a:p>
        </p:txBody>
      </p:sp>
      <p:sp>
        <p:nvSpPr>
          <p:cNvPr id="21" name="Rounded Rectangle 20"/>
          <p:cNvSpPr/>
          <p:nvPr/>
        </p:nvSpPr>
        <p:spPr>
          <a:xfrm>
            <a:off x="4334255" y="5394960"/>
            <a:ext cx="3474720" cy="86868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5" y="5394960"/>
            <a:ext cx="82296" cy="868680"/>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2855" y="5522976"/>
            <a:ext cx="3063240" cy="256032"/>
          </a:xfrm>
          <a:prstGeom prst="rect">
            <a:avLst/>
          </a:prstGeom>
          <a:noFill/>
        </p:spPr>
        <p:txBody>
          <a:bodyPr wrap="square" lIns="0" rIns="0" tIns="0" bIns="0" anchor="t">
            <a:noAutofit/>
          </a:bodyPr>
          <a:lstStyle/>
          <a:p>
            <a:pPr algn="l"/>
            <a:r>
              <a:rPr sz="1300" b="1">
                <a:solidFill>
                  <a:srgbClr val="176B87"/>
                </a:solidFill>
                <a:latin typeface="Malgun Gothic"/>
              </a:rPr>
              <a:t>One build ID on everything</a:t>
            </a:r>
          </a:p>
        </p:txBody>
      </p:sp>
      <p:sp>
        <p:nvSpPr>
          <p:cNvPr id="24" name="TextBox 23"/>
          <p:cNvSpPr txBox="1"/>
          <p:nvPr/>
        </p:nvSpPr>
        <p:spPr>
          <a:xfrm>
            <a:off x="4562855" y="5806440"/>
            <a:ext cx="3063240" cy="365760"/>
          </a:xfrm>
          <a:prstGeom prst="rect">
            <a:avLst/>
          </a:prstGeom>
          <a:noFill/>
        </p:spPr>
        <p:txBody>
          <a:bodyPr wrap="square" lIns="0" rIns="0" tIns="0" bIns="0" anchor="t">
            <a:noAutofit/>
          </a:bodyPr>
          <a:lstStyle/>
          <a:p>
            <a:pPr algn="l"/>
            <a:r>
              <a:rPr sz="1050" b="0">
                <a:solidFill>
                  <a:srgbClr val="52565B"/>
                </a:solidFill>
                <a:latin typeface="Malgun Gothic"/>
              </a:rPr>
              <a:t>A hit and its EC label always come from the same snapshot.</a:t>
            </a:r>
          </a:p>
        </p:txBody>
      </p:sp>
      <p:sp>
        <p:nvSpPr>
          <p:cNvPr id="25" name="Rounded Rectangle 24"/>
          <p:cNvSpPr/>
          <p:nvPr/>
        </p:nvSpPr>
        <p:spPr>
          <a:xfrm>
            <a:off x="8010144" y="5394960"/>
            <a:ext cx="3474720" cy="86868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10144" y="5394960"/>
            <a:ext cx="82296" cy="868680"/>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38744" y="5522976"/>
            <a:ext cx="3063240" cy="256032"/>
          </a:xfrm>
          <a:prstGeom prst="rect">
            <a:avLst/>
          </a:prstGeom>
          <a:noFill/>
        </p:spPr>
        <p:txBody>
          <a:bodyPr wrap="square" lIns="0" rIns="0" tIns="0" bIns="0" anchor="t">
            <a:noAutofit/>
          </a:bodyPr>
          <a:lstStyle/>
          <a:p>
            <a:pPr algn="l"/>
            <a:r>
              <a:rPr sz="1300" b="1">
                <a:solidFill>
                  <a:srgbClr val="167C5A"/>
                </a:solidFill>
                <a:latin typeface="Malgun Gothic"/>
              </a:rPr>
              <a:t>The slow work is done once</a:t>
            </a:r>
          </a:p>
        </p:txBody>
      </p:sp>
      <p:sp>
        <p:nvSpPr>
          <p:cNvPr id="28" name="TextBox 27"/>
          <p:cNvSpPr txBox="1"/>
          <p:nvPr/>
        </p:nvSpPr>
        <p:spPr>
          <a:xfrm>
            <a:off x="8238744" y="5806440"/>
            <a:ext cx="3063240" cy="365760"/>
          </a:xfrm>
          <a:prstGeom prst="rect">
            <a:avLst/>
          </a:prstGeom>
          <a:noFill/>
        </p:spPr>
        <p:txBody>
          <a:bodyPr wrap="square" lIns="0" rIns="0" tIns="0" bIns="0" anchor="t">
            <a:noAutofit/>
          </a:bodyPr>
          <a:lstStyle/>
          <a:p>
            <a:pPr algn="l"/>
            <a:r>
              <a:rPr sz="1050" b="0">
                <a:solidFill>
                  <a:srgbClr val="52565B"/>
                </a:solidFill>
                <a:latin typeface="Malgun Gothic"/>
              </a:rPr>
              <a:t>Indexing runs on a schedule, not while a user waits.</a:t>
            </a:r>
          </a:p>
        </p:txBody>
      </p:sp>
      <p:cxnSp>
        <p:nvCxnSpPr>
          <p:cNvPr id="29" name="Connector 28"/>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HOW IT WORKS</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Three searches, three different questions</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5</a:t>
            </a:r>
          </a:p>
        </p:txBody>
      </p:sp>
      <p:sp>
        <p:nvSpPr>
          <p:cNvPr id="6" name="Rounded Rectangle 5"/>
          <p:cNvSpPr/>
          <p:nvPr/>
        </p:nvSpPr>
        <p:spPr>
          <a:xfrm>
            <a:off x="658368" y="1417320"/>
            <a:ext cx="3520440" cy="320040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417320"/>
            <a:ext cx="3520440" cy="109728"/>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00784"/>
            <a:ext cx="3063240" cy="347472"/>
          </a:xfrm>
          <a:prstGeom prst="rect">
            <a:avLst/>
          </a:prstGeom>
          <a:noFill/>
        </p:spPr>
        <p:txBody>
          <a:bodyPr wrap="square" lIns="0" rIns="0" tIns="0" bIns="0" anchor="t">
            <a:noAutofit/>
          </a:bodyPr>
          <a:lstStyle/>
          <a:p>
            <a:pPr algn="l"/>
            <a:r>
              <a:rPr sz="2100" b="1">
                <a:solidFill>
                  <a:srgbClr val="176B87"/>
                </a:solidFill>
                <a:latin typeface="Malgun Gothic"/>
              </a:rPr>
              <a:t>blastp</a:t>
            </a:r>
          </a:p>
        </p:txBody>
      </p:sp>
      <p:sp>
        <p:nvSpPr>
          <p:cNvPr id="9" name="TextBox 8"/>
          <p:cNvSpPr txBox="1"/>
          <p:nvPr/>
        </p:nvSpPr>
        <p:spPr>
          <a:xfrm>
            <a:off x="886968"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Compares the sequence letter by letter against every known protein.</a:t>
            </a:r>
          </a:p>
        </p:txBody>
      </p:sp>
      <p:sp>
        <p:nvSpPr>
          <p:cNvPr id="10" name="TextBox 9"/>
          <p:cNvSpPr txBox="1"/>
          <p:nvPr/>
        </p:nvSpPr>
        <p:spPr>
          <a:xfrm>
            <a:off x="886968"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The default. Fast.</a:t>
            </a:r>
          </a:p>
        </p:txBody>
      </p:sp>
      <p:sp>
        <p:nvSpPr>
          <p:cNvPr id="11" name="TextBox 10"/>
          <p:cNvSpPr txBox="1"/>
          <p:nvPr/>
        </p:nvSpPr>
        <p:spPr>
          <a:xfrm>
            <a:off x="886968" y="3054096"/>
            <a:ext cx="3063240" cy="310896"/>
          </a:xfrm>
          <a:prstGeom prst="rect">
            <a:avLst/>
          </a:prstGeom>
          <a:noFill/>
        </p:spPr>
        <p:txBody>
          <a:bodyPr wrap="square" lIns="0" rIns="0" tIns="0" bIns="0" anchor="t">
            <a:noAutofit/>
          </a:bodyPr>
          <a:lstStyle/>
          <a:p>
            <a:pPr algn="l"/>
            <a:r>
              <a:rPr sz="1250" b="0">
                <a:solidFill>
                  <a:srgbClr val="18212B"/>
                </a:solidFill>
                <a:latin typeface="Malgun Gothic"/>
              </a:rPr>
              <a:t>Gives identity and coverage.</a:t>
            </a:r>
          </a:p>
        </p:txBody>
      </p:sp>
      <p:sp>
        <p:nvSpPr>
          <p:cNvPr id="12" name="TextBox 11"/>
          <p:cNvSpPr txBox="1"/>
          <p:nvPr/>
        </p:nvSpPr>
        <p:spPr>
          <a:xfrm>
            <a:off x="886968"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Best for close relatives.</a:t>
            </a:r>
          </a:p>
        </p:txBody>
      </p:sp>
      <p:sp>
        <p:nvSpPr>
          <p:cNvPr id="13" name="Rounded Rectangle 12"/>
          <p:cNvSpPr/>
          <p:nvPr/>
        </p:nvSpPr>
        <p:spPr>
          <a:xfrm>
            <a:off x="886968" y="3986783"/>
            <a:ext cx="889711"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3995927"/>
            <a:ext cx="816559" cy="256032"/>
          </a:xfrm>
          <a:prstGeom prst="rect">
            <a:avLst/>
          </a:prstGeom>
          <a:noFill/>
        </p:spPr>
        <p:txBody>
          <a:bodyPr wrap="square" lIns="0" rIns="0" tIns="0" bIns="0" anchor="ctr">
            <a:noAutofit/>
          </a:bodyPr>
          <a:lstStyle/>
          <a:p>
            <a:pPr algn="ctr"/>
            <a:r>
              <a:rPr sz="1050" b="1">
                <a:solidFill>
                  <a:srgbClr val="176B87"/>
                </a:solidFill>
                <a:latin typeface="Malgun Gothic"/>
              </a:rPr>
              <a:t>always on</a:t>
            </a:r>
          </a:p>
        </p:txBody>
      </p:sp>
      <p:sp>
        <p:nvSpPr>
          <p:cNvPr id="15" name="Rounded Rectangle 14"/>
          <p:cNvSpPr/>
          <p:nvPr/>
        </p:nvSpPr>
        <p:spPr>
          <a:xfrm>
            <a:off x="4334256" y="1417320"/>
            <a:ext cx="3520440" cy="320040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4256" y="1417320"/>
            <a:ext cx="3520440" cy="109728"/>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2856" y="1700784"/>
            <a:ext cx="3063240" cy="347472"/>
          </a:xfrm>
          <a:prstGeom prst="rect">
            <a:avLst/>
          </a:prstGeom>
          <a:noFill/>
        </p:spPr>
        <p:txBody>
          <a:bodyPr wrap="square" lIns="0" rIns="0" tIns="0" bIns="0" anchor="t">
            <a:noAutofit/>
          </a:bodyPr>
          <a:lstStyle/>
          <a:p>
            <a:pPr algn="l"/>
            <a:r>
              <a:rPr sz="2100" b="1">
                <a:solidFill>
                  <a:srgbClr val="167C5A"/>
                </a:solidFill>
                <a:latin typeface="Malgun Gothic"/>
              </a:rPr>
              <a:t>phmmer</a:t>
            </a:r>
          </a:p>
        </p:txBody>
      </p:sp>
      <p:sp>
        <p:nvSpPr>
          <p:cNvPr id="18" name="TextBox 17"/>
          <p:cNvSpPr txBox="1"/>
          <p:nvPr/>
        </p:nvSpPr>
        <p:spPr>
          <a:xfrm>
            <a:off x="4562856"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Same coverage as BLAST, different statistics. An independent second opinion.</a:t>
            </a:r>
          </a:p>
        </p:txBody>
      </p:sp>
      <p:sp>
        <p:nvSpPr>
          <p:cNvPr id="19" name="TextBox 18"/>
          <p:cNvSpPr txBox="1"/>
          <p:nvPr/>
        </p:nvSpPr>
        <p:spPr>
          <a:xfrm>
            <a:off x="4562856"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Agrees with BLAST in testing.</a:t>
            </a:r>
          </a:p>
        </p:txBody>
      </p:sp>
      <p:sp>
        <p:nvSpPr>
          <p:cNvPr id="20" name="TextBox 19"/>
          <p:cNvSpPr txBox="1"/>
          <p:nvPr/>
        </p:nvSpPr>
        <p:spPr>
          <a:xfrm>
            <a:off x="4562856" y="3054096"/>
            <a:ext cx="3063240" cy="310896"/>
          </a:xfrm>
          <a:prstGeom prst="rect">
            <a:avLst/>
          </a:prstGeom>
          <a:noFill/>
        </p:spPr>
        <p:txBody>
          <a:bodyPr wrap="square" lIns="0" rIns="0" tIns="0" bIns="0" anchor="t">
            <a:noAutofit/>
          </a:bodyPr>
          <a:lstStyle/>
          <a:p>
            <a:pPr algn="l"/>
            <a:r>
              <a:rPr sz="1250" b="0">
                <a:solidFill>
                  <a:srgbClr val="18212B"/>
                </a:solidFill>
                <a:latin typeface="Malgun Gothic"/>
              </a:rPr>
              <a:t>Much slower at scale.</a:t>
            </a:r>
          </a:p>
        </p:txBody>
      </p:sp>
      <p:sp>
        <p:nvSpPr>
          <p:cNvPr id="21" name="TextBox 20"/>
          <p:cNvSpPr txBox="1"/>
          <p:nvPr/>
        </p:nvSpPr>
        <p:spPr>
          <a:xfrm>
            <a:off x="4562856"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Recommend keeping it optional.</a:t>
            </a:r>
          </a:p>
        </p:txBody>
      </p:sp>
      <p:sp>
        <p:nvSpPr>
          <p:cNvPr id="22" name="Rounded Rectangle 21"/>
          <p:cNvSpPr/>
          <p:nvPr/>
        </p:nvSpPr>
        <p:spPr>
          <a:xfrm>
            <a:off x="4562856" y="3986783"/>
            <a:ext cx="819302"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3995927"/>
            <a:ext cx="746150" cy="256032"/>
          </a:xfrm>
          <a:prstGeom prst="rect">
            <a:avLst/>
          </a:prstGeom>
          <a:noFill/>
        </p:spPr>
        <p:txBody>
          <a:bodyPr wrap="square" lIns="0" rIns="0" tIns="0" bIns="0" anchor="ctr">
            <a:noAutofit/>
          </a:bodyPr>
          <a:lstStyle/>
          <a:p>
            <a:pPr algn="ctr"/>
            <a:r>
              <a:rPr sz="1050" b="1">
                <a:solidFill>
                  <a:srgbClr val="167C5A"/>
                </a:solidFill>
                <a:latin typeface="Malgun Gothic"/>
              </a:rPr>
              <a:t>optional</a:t>
            </a:r>
          </a:p>
        </p:txBody>
      </p:sp>
      <p:sp>
        <p:nvSpPr>
          <p:cNvPr id="24" name="Rounded Rectangle 23"/>
          <p:cNvSpPr/>
          <p:nvPr/>
        </p:nvSpPr>
        <p:spPr>
          <a:xfrm>
            <a:off x="8010144" y="1417320"/>
            <a:ext cx="3520440" cy="320040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10144" y="1417320"/>
            <a:ext cx="3520440" cy="109728"/>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38744" y="1700784"/>
            <a:ext cx="3063240" cy="347472"/>
          </a:xfrm>
          <a:prstGeom prst="rect">
            <a:avLst/>
          </a:prstGeom>
          <a:noFill/>
        </p:spPr>
        <p:txBody>
          <a:bodyPr wrap="square" lIns="0" rIns="0" tIns="0" bIns="0" anchor="t">
            <a:noAutofit/>
          </a:bodyPr>
          <a:lstStyle/>
          <a:p>
            <a:pPr algn="l"/>
            <a:r>
              <a:rPr sz="2100" b="1">
                <a:solidFill>
                  <a:srgbClr val="6554A4"/>
                </a:solidFill>
                <a:latin typeface="Malgun Gothic"/>
              </a:rPr>
              <a:t>hmmscan</a:t>
            </a:r>
          </a:p>
        </p:txBody>
      </p:sp>
      <p:sp>
        <p:nvSpPr>
          <p:cNvPr id="27" name="TextBox 26"/>
          <p:cNvSpPr txBox="1"/>
          <p:nvPr/>
        </p:nvSpPr>
        <p:spPr>
          <a:xfrm>
            <a:off x="8238744"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Compares against family profiles instead of individual proteins.</a:t>
            </a:r>
          </a:p>
        </p:txBody>
      </p:sp>
      <p:sp>
        <p:nvSpPr>
          <p:cNvPr id="28" name="TextBox 27"/>
          <p:cNvSpPr txBox="1"/>
          <p:nvPr/>
        </p:nvSpPr>
        <p:spPr>
          <a:xfrm>
            <a:off x="8238744"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Catches distant relatives.</a:t>
            </a:r>
          </a:p>
        </p:txBody>
      </p:sp>
      <p:sp>
        <p:nvSpPr>
          <p:cNvPr id="29" name="TextBox 28"/>
          <p:cNvSpPr txBox="1"/>
          <p:nvPr/>
        </p:nvSpPr>
        <p:spPr>
          <a:xfrm>
            <a:off x="8238744" y="3054096"/>
            <a:ext cx="3063240" cy="310896"/>
          </a:xfrm>
          <a:prstGeom prst="rect">
            <a:avLst/>
          </a:prstGeom>
          <a:noFill/>
        </p:spPr>
        <p:txBody>
          <a:bodyPr wrap="square" lIns="0" rIns="0" tIns="0" bIns="0" anchor="t">
            <a:noAutofit/>
          </a:bodyPr>
          <a:lstStyle/>
          <a:p>
            <a:pPr algn="l"/>
            <a:r>
              <a:rPr sz="1250" b="0">
                <a:solidFill>
                  <a:srgbClr val="18212B"/>
                </a:solidFill>
                <a:latin typeface="Malgun Gothic"/>
              </a:rPr>
              <a:t>Answers with a family, not a hit.</a:t>
            </a:r>
          </a:p>
        </p:txBody>
      </p:sp>
      <p:sp>
        <p:nvSpPr>
          <p:cNvPr id="30" name="TextBox 29"/>
          <p:cNvSpPr txBox="1"/>
          <p:nvPr/>
        </p:nvSpPr>
        <p:spPr>
          <a:xfrm>
            <a:off x="8238744"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Only covers families I could build.</a:t>
            </a:r>
          </a:p>
        </p:txBody>
      </p:sp>
      <p:sp>
        <p:nvSpPr>
          <p:cNvPr id="31" name="Rounded Rectangle 30"/>
          <p:cNvSpPr/>
          <p:nvPr/>
        </p:nvSpPr>
        <p:spPr>
          <a:xfrm>
            <a:off x="8238744" y="3986783"/>
            <a:ext cx="1382572"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19" y="3995927"/>
            <a:ext cx="1309420" cy="256032"/>
          </a:xfrm>
          <a:prstGeom prst="rect">
            <a:avLst/>
          </a:prstGeom>
          <a:noFill/>
        </p:spPr>
        <p:txBody>
          <a:bodyPr wrap="square" lIns="0" rIns="0" tIns="0" bIns="0" anchor="ctr">
            <a:noAutofit/>
          </a:bodyPr>
          <a:lstStyle/>
          <a:p>
            <a:pPr algn="ctr"/>
            <a:r>
              <a:rPr sz="1050" b="1">
                <a:solidFill>
                  <a:srgbClr val="6554A4"/>
                </a:solidFill>
                <a:latin typeface="Malgun Gothic"/>
              </a:rPr>
              <a:t>partial coverage</a:t>
            </a:r>
          </a:p>
        </p:txBody>
      </p:sp>
      <p:sp>
        <p:nvSpPr>
          <p:cNvPr id="33" name="Rounded Rectangle 32"/>
          <p:cNvSpPr/>
          <p:nvPr/>
        </p:nvSpPr>
        <p:spPr>
          <a:xfrm>
            <a:off x="658368" y="5029200"/>
            <a:ext cx="10881360" cy="960120"/>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257800"/>
            <a:ext cx="10479024" cy="548640"/>
          </a:xfrm>
          <a:prstGeom prst="rect">
            <a:avLst/>
          </a:prstGeom>
          <a:noFill/>
        </p:spPr>
        <p:txBody>
          <a:bodyPr wrap="square" lIns="0" rIns="0" tIns="0" bIns="0" anchor="t">
            <a:noAutofit/>
          </a:bodyPr>
          <a:lstStyle/>
          <a:p>
            <a:pPr algn="ctr"/>
            <a:r>
              <a:rPr sz="1400" b="1">
                <a:solidFill>
                  <a:srgbClr val="A76500"/>
                </a:solidFill>
                <a:latin typeface="Malgun Gothic"/>
              </a:rPr>
              <a:t>The three results are shown as three separate tables, never merged.</a:t>
            </a:r>
            <a:br/>
            <a:r>
              <a:rPr sz="1400" b="1">
                <a:solidFill>
                  <a:srgbClr val="A76500"/>
                </a:solidFill>
                <a:latin typeface="Malgun Gothic"/>
              </a:rPr>
              <a:t>Their scores are not the same quantity and must not be ranked against each other.</a:t>
            </a:r>
          </a:p>
        </p:txBody>
      </p:sp>
      <p:cxnSp>
        <p:nvCxnSpPr>
          <p:cNvPr id="35" name="Connector 34"/>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THE ONE DESIGN DECISION</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Family profiles are built by sequence, not by EC number</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6</a:t>
            </a:r>
          </a:p>
        </p:txBody>
      </p:sp>
      <p:sp>
        <p:nvSpPr>
          <p:cNvPr id="6" name="Rounded Rectangle 5"/>
          <p:cNvSpPr/>
          <p:nvPr/>
        </p:nvSpPr>
        <p:spPr>
          <a:xfrm>
            <a:off x="658368" y="1417320"/>
            <a:ext cx="5285232" cy="2286000"/>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1645920"/>
            <a:ext cx="2148840" cy="310896"/>
          </a:xfrm>
          <a:prstGeom prst="roundRect">
            <a:avLst/>
          </a:prstGeom>
          <a:solidFill>
            <a:srgbClr val="FFFFFF"/>
          </a:solidFill>
          <a:ln w="8890">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655064"/>
            <a:ext cx="2075688" cy="256032"/>
          </a:xfrm>
          <a:prstGeom prst="rect">
            <a:avLst/>
          </a:prstGeom>
          <a:noFill/>
        </p:spPr>
        <p:txBody>
          <a:bodyPr wrap="square" lIns="0" rIns="0" tIns="0" bIns="0" anchor="ctr">
            <a:noAutofit/>
          </a:bodyPr>
          <a:lstStyle/>
          <a:p>
            <a:pPr algn="ctr"/>
            <a:r>
              <a:rPr sz="1050" b="1">
                <a:solidFill>
                  <a:srgbClr val="B71A1A"/>
                </a:solidFill>
                <a:latin typeface="Malgun Gothic"/>
              </a:rPr>
              <a:t>THE OBVIOUS APPROACH</a:t>
            </a:r>
          </a:p>
        </p:txBody>
      </p:sp>
      <p:sp>
        <p:nvSpPr>
          <p:cNvPr id="9" name="TextBox 8"/>
          <p:cNvSpPr txBox="1"/>
          <p:nvPr/>
        </p:nvSpPr>
        <p:spPr>
          <a:xfrm>
            <a:off x="896112" y="2103120"/>
            <a:ext cx="4809744" cy="347472"/>
          </a:xfrm>
          <a:prstGeom prst="rect">
            <a:avLst/>
          </a:prstGeom>
          <a:noFill/>
        </p:spPr>
        <p:txBody>
          <a:bodyPr wrap="square" lIns="0" rIns="0" tIns="0" bIns="0" anchor="t">
            <a:noAutofit/>
          </a:bodyPr>
          <a:lstStyle/>
          <a:p>
            <a:pPr algn="l"/>
            <a:r>
              <a:rPr sz="2000" b="1">
                <a:solidFill>
                  <a:srgbClr val="B71A1A"/>
                </a:solidFill>
                <a:latin typeface="Malgun Gothic"/>
              </a:rPr>
              <a:t>One profile per EC number</a:t>
            </a:r>
          </a:p>
        </p:txBody>
      </p:sp>
      <p:sp>
        <p:nvSpPr>
          <p:cNvPr id="10" name="TextBox 9"/>
          <p:cNvSpPr txBox="1"/>
          <p:nvPr/>
        </p:nvSpPr>
        <p:spPr>
          <a:xfrm>
            <a:off x="896112" y="2560320"/>
            <a:ext cx="4809744" cy="548640"/>
          </a:xfrm>
          <a:prstGeom prst="rect">
            <a:avLst/>
          </a:prstGeom>
          <a:noFill/>
        </p:spPr>
        <p:txBody>
          <a:bodyPr wrap="square" lIns="0" rIns="0" tIns="0" bIns="0" anchor="t">
            <a:noAutofit/>
          </a:bodyPr>
          <a:lstStyle/>
          <a:p>
            <a:pPr algn="l">
              <a:lnSpc>
                <a:spcPct val="110000"/>
              </a:lnSpc>
            </a:pPr>
            <a:r>
              <a:rPr sz="1350" b="0">
                <a:solidFill>
                  <a:srgbClr val="18212B"/>
                </a:solidFill>
                <a:latin typeface="Malgun Gothic"/>
              </a:rPr>
              <a:t>Group every protein that shares an EC number and build one family model from the group.</a:t>
            </a:r>
          </a:p>
        </p:txBody>
      </p:sp>
      <p:sp>
        <p:nvSpPr>
          <p:cNvPr id="11" name="TextBox 10"/>
          <p:cNvSpPr txBox="1"/>
          <p:nvPr/>
        </p:nvSpPr>
        <p:spPr>
          <a:xfrm>
            <a:off x="896112" y="3218688"/>
            <a:ext cx="4809744" cy="292608"/>
          </a:xfrm>
          <a:prstGeom prst="rect">
            <a:avLst/>
          </a:prstGeom>
          <a:noFill/>
        </p:spPr>
        <p:txBody>
          <a:bodyPr wrap="square" lIns="0" rIns="0" tIns="0" bIns="0" anchor="t">
            <a:noAutofit/>
          </a:bodyPr>
          <a:lstStyle/>
          <a:p>
            <a:pPr algn="l"/>
            <a:r>
              <a:rPr sz="1600" b="1">
                <a:solidFill>
                  <a:srgbClr val="B71A1A"/>
                </a:solidFill>
                <a:latin typeface="Malgun Gothic"/>
              </a:rPr>
              <a:t>This is wrong.</a:t>
            </a:r>
          </a:p>
        </p:txBody>
      </p:sp>
      <p:sp>
        <p:nvSpPr>
          <p:cNvPr id="12" name="Rounded Rectangle 11"/>
          <p:cNvSpPr/>
          <p:nvPr/>
        </p:nvSpPr>
        <p:spPr>
          <a:xfrm>
            <a:off x="6245352" y="1417320"/>
            <a:ext cx="5294376" cy="2286000"/>
          </a:xfrm>
          <a:prstGeom prst="roundRect">
            <a:avLst/>
          </a:prstGeom>
          <a:solidFill>
            <a:srgbClr val="F1EEFA"/>
          </a:solidFill>
          <a:ln w="1270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83096" y="1645920"/>
            <a:ext cx="2011680" cy="310896"/>
          </a:xfrm>
          <a:prstGeom prst="roundRect">
            <a:avLst/>
          </a:prstGeom>
          <a:solidFill>
            <a:srgbClr val="FFFFFF"/>
          </a:solidFill>
          <a:ln w="8890">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9672" y="1655064"/>
            <a:ext cx="1938528" cy="256032"/>
          </a:xfrm>
          <a:prstGeom prst="rect">
            <a:avLst/>
          </a:prstGeom>
          <a:noFill/>
        </p:spPr>
        <p:txBody>
          <a:bodyPr wrap="square" lIns="0" rIns="0" tIns="0" bIns="0" anchor="ctr">
            <a:noAutofit/>
          </a:bodyPr>
          <a:lstStyle/>
          <a:p>
            <a:pPr algn="ctr"/>
            <a:r>
              <a:rPr sz="1050" b="1">
                <a:solidFill>
                  <a:srgbClr val="6554A4"/>
                </a:solidFill>
                <a:latin typeface="Malgun Gothic"/>
              </a:rPr>
              <a:t>WHAT I DID INSTEAD</a:t>
            </a:r>
          </a:p>
        </p:txBody>
      </p:sp>
      <p:sp>
        <p:nvSpPr>
          <p:cNvPr id="15" name="TextBox 14"/>
          <p:cNvSpPr txBox="1"/>
          <p:nvPr/>
        </p:nvSpPr>
        <p:spPr>
          <a:xfrm>
            <a:off x="6483096" y="2103120"/>
            <a:ext cx="4809744" cy="347472"/>
          </a:xfrm>
          <a:prstGeom prst="rect">
            <a:avLst/>
          </a:prstGeom>
          <a:noFill/>
        </p:spPr>
        <p:txBody>
          <a:bodyPr wrap="square" lIns="0" rIns="0" tIns="0" bIns="0" anchor="t">
            <a:noAutofit/>
          </a:bodyPr>
          <a:lstStyle/>
          <a:p>
            <a:pPr algn="l"/>
            <a:r>
              <a:rPr sz="2000" b="1">
                <a:solidFill>
                  <a:srgbClr val="6554A4"/>
                </a:solidFill>
                <a:latin typeface="Malgun Gothic"/>
              </a:rPr>
              <a:t>Cluster first, label after</a:t>
            </a:r>
          </a:p>
        </p:txBody>
      </p:sp>
      <p:sp>
        <p:nvSpPr>
          <p:cNvPr id="16" name="TextBox 15"/>
          <p:cNvSpPr txBox="1"/>
          <p:nvPr/>
        </p:nvSpPr>
        <p:spPr>
          <a:xfrm>
            <a:off x="6483096" y="2560320"/>
            <a:ext cx="4809744" cy="640080"/>
          </a:xfrm>
          <a:prstGeom prst="rect">
            <a:avLst/>
          </a:prstGeom>
          <a:noFill/>
        </p:spPr>
        <p:txBody>
          <a:bodyPr wrap="square" lIns="0" rIns="0" tIns="0" bIns="0" anchor="t">
            <a:noAutofit/>
          </a:bodyPr>
          <a:lstStyle/>
          <a:p>
            <a:pPr algn="l">
              <a:lnSpc>
                <a:spcPct val="110000"/>
              </a:lnSpc>
            </a:pPr>
            <a:r>
              <a:rPr sz="1350" b="0">
                <a:solidFill>
                  <a:srgbClr val="18212B"/>
                </a:solidFill>
                <a:latin typeface="Malgun Gothic"/>
              </a:rPr>
              <a:t>Group by actual sequence similarity, then read off which EC labels landed in each group and report how consistent they are.</a:t>
            </a:r>
          </a:p>
        </p:txBody>
      </p:sp>
      <p:sp>
        <p:nvSpPr>
          <p:cNvPr id="17" name="TextBox 16"/>
          <p:cNvSpPr txBox="1"/>
          <p:nvPr/>
        </p:nvSpPr>
        <p:spPr>
          <a:xfrm>
            <a:off x="6483096" y="3310128"/>
            <a:ext cx="4809744" cy="292608"/>
          </a:xfrm>
          <a:prstGeom prst="rect">
            <a:avLst/>
          </a:prstGeom>
          <a:noFill/>
        </p:spPr>
        <p:txBody>
          <a:bodyPr wrap="square" lIns="0" rIns="0" tIns="0" bIns="0" anchor="t">
            <a:noAutofit/>
          </a:bodyPr>
          <a:lstStyle/>
          <a:p>
            <a:pPr algn="l"/>
            <a:r>
              <a:rPr sz="1300" b="1">
                <a:solidFill>
                  <a:srgbClr val="6554A4"/>
                </a:solidFill>
                <a:latin typeface="Malgun Gothic"/>
              </a:rPr>
              <a:t>Consistency is measured, not assumed.</a:t>
            </a:r>
          </a:p>
        </p:txBody>
      </p:sp>
      <p:sp>
        <p:nvSpPr>
          <p:cNvPr id="18" name="Rounded Rectangle 17"/>
          <p:cNvSpPr/>
          <p:nvPr/>
        </p:nvSpPr>
        <p:spPr>
          <a:xfrm>
            <a:off x="658368" y="3886200"/>
            <a:ext cx="10881360" cy="196596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096512"/>
            <a:ext cx="10424160" cy="310896"/>
          </a:xfrm>
          <a:prstGeom prst="rect">
            <a:avLst/>
          </a:prstGeom>
          <a:noFill/>
        </p:spPr>
        <p:txBody>
          <a:bodyPr wrap="square" lIns="0" rIns="0" tIns="0" bIns="0" anchor="t">
            <a:noAutofit/>
          </a:bodyPr>
          <a:lstStyle/>
          <a:p>
            <a:pPr algn="l"/>
            <a:r>
              <a:rPr sz="1700" b="1">
                <a:solidFill>
                  <a:srgbClr val="18212B"/>
                </a:solidFill>
                <a:latin typeface="Malgun Gothic"/>
              </a:rPr>
              <a:t>Why:  an EC number names a chemical reaction, not a protein family</a:t>
            </a:r>
          </a:p>
        </p:txBody>
      </p:sp>
      <p:sp>
        <p:nvSpPr>
          <p:cNvPr id="20" name="TextBox 19"/>
          <p:cNvSpPr txBox="1"/>
          <p:nvPr/>
        </p:nvSpPr>
        <p:spPr>
          <a:xfrm>
            <a:off x="896112" y="4480560"/>
            <a:ext cx="10424160" cy="868680"/>
          </a:xfrm>
          <a:prstGeom prst="rect">
            <a:avLst/>
          </a:prstGeom>
          <a:noFill/>
        </p:spPr>
        <p:txBody>
          <a:bodyPr wrap="square" lIns="0" rIns="0" tIns="0" bIns="0" anchor="t">
            <a:noAutofit/>
          </a:bodyPr>
          <a:lstStyle/>
          <a:p>
            <a:pPr algn="l">
              <a:lnSpc>
                <a:spcPct val="115000"/>
              </a:lnSpc>
            </a:pPr>
            <a:r>
              <a:rPr sz="1300" b="0">
                <a:solidFill>
                  <a:srgbClr val="52565B"/>
                </a:solidFill>
                <a:latin typeface="Malgun Gothic"/>
              </a:rPr>
              <a:t>Nature solved the same reaction more than once with completely unrelated proteins. Superoxide dismutase, EC 1.15.1.1, exists as a copper/zinc enzyme and as a manganese/iron enzyme. Same job, nothing alike. Averaging them into one profile produces a model of nothing, and the dangerous part is that it still outputs confident-looking scores.</a:t>
            </a:r>
          </a:p>
        </p:txBody>
      </p:sp>
      <p:sp>
        <p:nvSpPr>
          <p:cNvPr id="21" name="Rounded Rectangle 20"/>
          <p:cNvSpPr/>
          <p:nvPr/>
        </p:nvSpPr>
        <p:spPr>
          <a:xfrm>
            <a:off x="896112" y="5303520"/>
            <a:ext cx="10405872" cy="566928"/>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5394960"/>
            <a:ext cx="10076688" cy="420624"/>
          </a:xfrm>
          <a:prstGeom prst="rect">
            <a:avLst/>
          </a:prstGeom>
          <a:noFill/>
        </p:spPr>
        <p:txBody>
          <a:bodyPr wrap="square" lIns="0" rIns="0" tIns="0" bIns="0" anchor="t">
            <a:noAutofit/>
          </a:bodyPr>
          <a:lstStyle/>
          <a:p>
            <a:pPr algn="ctr"/>
            <a:r>
              <a:rPr sz="1200" b="1">
                <a:solidFill>
                  <a:srgbClr val="167C5A"/>
                </a:solidFill>
                <a:latin typeface="Malgun Gothic"/>
              </a:rPr>
              <a:t>Check that it works: submitting a human Mn-SOD matches only the manganese/iron</a:t>
            </a:r>
            <a:br/>
            <a:r>
              <a:rPr sz="1200" b="1">
                <a:solidFill>
                  <a:srgbClr val="167C5A"/>
                </a:solidFill>
                <a:latin typeface="Malgun Gothic"/>
              </a:rPr>
              <a:t>families and none of the copper/zinc ones, despite the identical EC number.</a:t>
            </a:r>
          </a:p>
        </p:txBody>
      </p:sp>
      <p:cxnSp>
        <p:nvCxnSpPr>
          <p:cNvPr id="23" name="Connector 22"/>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DOES IT WORK</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It reproduces the existing BLAST result exactly</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7</a:t>
            </a:r>
          </a:p>
        </p:txBody>
      </p:sp>
      <p:sp>
        <p:nvSpPr>
          <p:cNvPr id="6" name="Rounded Rectangle 5"/>
          <p:cNvSpPr/>
          <p:nvPr/>
        </p:nvSpPr>
        <p:spPr>
          <a:xfrm>
            <a:off x="658368" y="1371600"/>
            <a:ext cx="10881360" cy="1481328"/>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72768"/>
            <a:ext cx="2834640" cy="676656"/>
          </a:xfrm>
          <a:prstGeom prst="rect">
            <a:avLst/>
          </a:prstGeom>
          <a:noFill/>
        </p:spPr>
        <p:txBody>
          <a:bodyPr wrap="square" lIns="0" rIns="0" tIns="0" bIns="0" anchor="t">
            <a:noAutofit/>
          </a:bodyPr>
          <a:lstStyle/>
          <a:p>
            <a:pPr algn="l"/>
            <a:r>
              <a:rPr sz="4600" b="1">
                <a:solidFill>
                  <a:srgbClr val="176B87"/>
                </a:solidFill>
                <a:latin typeface="Malgun Gothic"/>
              </a:rPr>
              <a:t>452 / 452</a:t>
            </a:r>
          </a:p>
        </p:txBody>
      </p:sp>
      <p:sp>
        <p:nvSpPr>
          <p:cNvPr id="8" name="TextBox 7"/>
          <p:cNvSpPr txBox="1"/>
          <p:nvPr/>
        </p:nvSpPr>
        <p:spPr>
          <a:xfrm>
            <a:off x="987552" y="2286000"/>
            <a:ext cx="3108960" cy="365760"/>
          </a:xfrm>
          <a:prstGeom prst="rect">
            <a:avLst/>
          </a:prstGeom>
          <a:noFill/>
        </p:spPr>
        <p:txBody>
          <a:bodyPr wrap="square" lIns="0" rIns="0" tIns="0" bIns="0" anchor="t">
            <a:noAutofit/>
          </a:bodyPr>
          <a:lstStyle/>
          <a:p>
            <a:pPr algn="l"/>
            <a:r>
              <a:rPr sz="1250" b="1">
                <a:solidFill>
                  <a:srgbClr val="176B87"/>
                </a:solidFill>
                <a:latin typeface="Malgun Gothic"/>
              </a:rPr>
              <a:t>queries returned the identical top hit</a:t>
            </a:r>
          </a:p>
        </p:txBody>
      </p:sp>
      <p:sp>
        <p:nvSpPr>
          <p:cNvPr id="9" name="TextBox 8"/>
          <p:cNvSpPr txBox="1"/>
          <p:nvPr/>
        </p:nvSpPr>
        <p:spPr>
          <a:xfrm>
            <a:off x="4297680" y="1609344"/>
            <a:ext cx="6949440" cy="310896"/>
          </a:xfrm>
          <a:prstGeom prst="rect">
            <a:avLst/>
          </a:prstGeom>
          <a:noFill/>
        </p:spPr>
        <p:txBody>
          <a:bodyPr wrap="square" lIns="0" rIns="0" tIns="0" bIns="0" anchor="t">
            <a:noAutofit/>
          </a:bodyPr>
          <a:lstStyle/>
          <a:p>
            <a:pPr algn="l"/>
            <a:r>
              <a:rPr sz="1450" b="1">
                <a:solidFill>
                  <a:srgbClr val="18212B"/>
                </a:solidFill>
                <a:latin typeface="Malgun Gothic"/>
              </a:rPr>
              <a:t>I ran Beomsu's query set through my pipeline with his parameters.</a:t>
            </a:r>
          </a:p>
        </p:txBody>
      </p:sp>
      <p:sp>
        <p:nvSpPr>
          <p:cNvPr id="10" name="TextBox 9"/>
          <p:cNvSpPr txBox="1"/>
          <p:nvPr/>
        </p:nvSpPr>
        <p:spPr>
          <a:xfrm>
            <a:off x="4297680" y="2011680"/>
            <a:ext cx="6967728" cy="822960"/>
          </a:xfrm>
          <a:prstGeom prst="rect">
            <a:avLst/>
          </a:prstGeom>
          <a:noFill/>
        </p:spPr>
        <p:txBody>
          <a:bodyPr wrap="square" lIns="18288" rIns="18288" tIns="18288" bIns="18288">
            <a:noAutofit/>
          </a:bodyPr>
          <a:lstStyle/>
          <a:p>
            <a:pPr>
              <a:lnSpc>
                <a:spcPct val="105000"/>
              </a:lnSpc>
              <a:spcAft>
                <a:spcPts val="300"/>
              </a:spcAft>
            </a:pPr>
            <a:r>
              <a:rPr sz="1250">
                <a:solidFill>
                  <a:srgbClr val="18212B"/>
                </a:solidFill>
                <a:latin typeface="Malgun Gothic"/>
              </a:rPr>
              <a:t>•  Every comparable query agreed on the top hit, across two different BLAST versions.</a:t>
            </a:r>
          </a:p>
          <a:p>
            <a:pPr>
              <a:lnSpc>
                <a:spcPct val="105000"/>
              </a:lnSpc>
              <a:spcAft>
                <a:spcPts val="300"/>
              </a:spcAft>
            </a:pPr>
            <a:r>
              <a:rPr sz="1250">
                <a:solidFill>
                  <a:srgbClr val="18212B"/>
                </a:solidFill>
                <a:latin typeface="Malgun Gothic"/>
              </a:rPr>
              <a:t>•  This proves the pipeline is wired correctly. It is a correctness check, not an accuracy score.</a:t>
            </a:r>
          </a:p>
          <a:p>
            <a:pPr>
              <a:lnSpc>
                <a:spcPct val="105000"/>
              </a:lnSpc>
              <a:spcAft>
                <a:spcPts val="300"/>
              </a:spcAft>
            </a:pPr>
            <a:r>
              <a:rPr sz="1250">
                <a:solidFill>
                  <a:srgbClr val="18212B"/>
                </a:solidFill>
                <a:latin typeface="Malgun Gothic"/>
              </a:rPr>
              <a:t>•  Full test suite passes, including checks that references, FASTA and metadata stay in sync.</a:t>
            </a:r>
          </a:p>
        </p:txBody>
      </p:sp>
      <p:sp>
        <p:nvSpPr>
          <p:cNvPr id="11" name="TextBox 10"/>
          <p:cNvSpPr txBox="1"/>
          <p:nvPr/>
        </p:nvSpPr>
        <p:spPr>
          <a:xfrm>
            <a:off x="658368" y="3108960"/>
            <a:ext cx="5486400" cy="292608"/>
          </a:xfrm>
          <a:prstGeom prst="rect">
            <a:avLst/>
          </a:prstGeom>
          <a:noFill/>
        </p:spPr>
        <p:txBody>
          <a:bodyPr wrap="square" lIns="0" rIns="0" tIns="0" bIns="0" anchor="t">
            <a:noAutofit/>
          </a:bodyPr>
          <a:lstStyle/>
          <a:p>
            <a:pPr algn="l"/>
            <a:r>
              <a:rPr sz="1600" b="1">
                <a:solidFill>
                  <a:srgbClr val="18212B"/>
                </a:solidFill>
                <a:latin typeface="Malgun Gothic"/>
              </a:rPr>
              <a:t>Two questions people confuse</a:t>
            </a:r>
          </a:p>
        </p:txBody>
      </p:sp>
      <p:sp>
        <p:nvSpPr>
          <p:cNvPr id="12" name="Rounded Rectangle 11"/>
          <p:cNvSpPr/>
          <p:nvPr/>
        </p:nvSpPr>
        <p:spPr>
          <a:xfrm>
            <a:off x="658368" y="3520440"/>
            <a:ext cx="5285232" cy="137160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520440"/>
            <a:ext cx="82296" cy="1371600"/>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03320"/>
            <a:ext cx="4846320" cy="274320"/>
          </a:xfrm>
          <a:prstGeom prst="rect">
            <a:avLst/>
          </a:prstGeom>
          <a:noFill/>
        </p:spPr>
        <p:txBody>
          <a:bodyPr wrap="square" lIns="0" rIns="0" tIns="0" bIns="0" anchor="t">
            <a:noAutofit/>
          </a:bodyPr>
          <a:lstStyle/>
          <a:p>
            <a:pPr algn="l"/>
            <a:r>
              <a:rPr sz="1400" b="1">
                <a:solidFill>
                  <a:srgbClr val="167C5A"/>
                </a:solidFill>
                <a:latin typeface="Malgun Gothic"/>
              </a:rPr>
              <a:t>Does my BLAST behave like his BLAST?</a:t>
            </a:r>
          </a:p>
        </p:txBody>
      </p:sp>
      <p:sp>
        <p:nvSpPr>
          <p:cNvPr id="15" name="TextBox 14"/>
          <p:cNvSpPr txBox="1"/>
          <p:nvPr/>
        </p:nvSpPr>
        <p:spPr>
          <a:xfrm>
            <a:off x="932688" y="4041648"/>
            <a:ext cx="4846320" cy="640080"/>
          </a:xfrm>
          <a:prstGeom prst="rect">
            <a:avLst/>
          </a:prstGeom>
          <a:noFill/>
        </p:spPr>
        <p:txBody>
          <a:bodyPr wrap="square" lIns="0" rIns="0" tIns="0" bIns="0" anchor="t">
            <a:noAutofit/>
          </a:bodyPr>
          <a:lstStyle/>
          <a:p>
            <a:pPr algn="l">
              <a:lnSpc>
                <a:spcPct val="110000"/>
              </a:lnSpc>
            </a:pPr>
            <a:r>
              <a:rPr sz="1200" b="0">
                <a:solidFill>
                  <a:srgbClr val="52565B"/>
                </a:solidFill>
                <a:latin typeface="Malgun Gothic"/>
              </a:rPr>
              <a:t>Yes, exactly. Same queries, same parameters, same top hit every time. This is the number above.</a:t>
            </a:r>
          </a:p>
        </p:txBody>
      </p:sp>
      <p:sp>
        <p:nvSpPr>
          <p:cNvPr id="16" name="Rounded Rectangle 15"/>
          <p:cNvSpPr/>
          <p:nvPr/>
        </p:nvSpPr>
        <p:spPr>
          <a:xfrm>
            <a:off x="6245352" y="3520440"/>
            <a:ext cx="5294376" cy="137160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3520440"/>
            <a:ext cx="82296" cy="1371600"/>
          </a:xfrm>
          <a:prstGeom prst="rect">
            <a:avLst/>
          </a:prstGeom>
          <a:solidFill>
            <a:srgbClr val="A76500"/>
          </a:solidFill>
          <a:ln>
            <a:solidFill>
              <a:srgbClr val="A76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3703320"/>
            <a:ext cx="4846320" cy="274320"/>
          </a:xfrm>
          <a:prstGeom prst="rect">
            <a:avLst/>
          </a:prstGeom>
          <a:noFill/>
        </p:spPr>
        <p:txBody>
          <a:bodyPr wrap="square" lIns="0" rIns="0" tIns="0" bIns="0" anchor="t">
            <a:noAutofit/>
          </a:bodyPr>
          <a:lstStyle/>
          <a:p>
            <a:pPr algn="l"/>
            <a:r>
              <a:rPr sz="1400" b="1">
                <a:solidFill>
                  <a:srgbClr val="A76500"/>
                </a:solidFill>
                <a:latin typeface="Malgun Gothic"/>
              </a:rPr>
              <a:t>Does the top hit have the right EC?</a:t>
            </a:r>
          </a:p>
        </p:txBody>
      </p:sp>
      <p:sp>
        <p:nvSpPr>
          <p:cNvPr id="19" name="TextBox 18"/>
          <p:cNvSpPr txBox="1"/>
          <p:nvPr/>
        </p:nvSpPr>
        <p:spPr>
          <a:xfrm>
            <a:off x="6519672" y="4041648"/>
            <a:ext cx="4846320" cy="777240"/>
          </a:xfrm>
          <a:prstGeom prst="rect">
            <a:avLst/>
          </a:prstGeom>
          <a:noFill/>
        </p:spPr>
        <p:txBody>
          <a:bodyPr wrap="square" lIns="0" rIns="0" tIns="0" bIns="0" anchor="t">
            <a:noAutofit/>
          </a:bodyPr>
          <a:lstStyle/>
          <a:p>
            <a:pPr algn="l">
              <a:lnSpc>
                <a:spcPct val="110000"/>
              </a:lnSpc>
            </a:pPr>
            <a:r>
              <a:rPr sz="1200" b="0">
                <a:solidFill>
                  <a:srgbClr val="52565B"/>
                </a:solidFill>
                <a:latin typeface="Malgun Gothic"/>
              </a:rPr>
              <a:t>Measured separately, after removing anything identical to a test sequence so it could not find itself. Narrow slice, so not an EnzymeX accuracy figure.</a:t>
            </a:r>
          </a:p>
        </p:txBody>
      </p:sp>
      <p:sp>
        <p:nvSpPr>
          <p:cNvPr id="20" name="Rounded Rectangle 19"/>
          <p:cNvSpPr/>
          <p:nvPr/>
        </p:nvSpPr>
        <p:spPr>
          <a:xfrm>
            <a:off x="658368" y="5120640"/>
            <a:ext cx="10881360" cy="96012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5285232"/>
            <a:ext cx="5029200" cy="274320"/>
          </a:xfrm>
          <a:prstGeom prst="rect">
            <a:avLst/>
          </a:prstGeom>
          <a:noFill/>
        </p:spPr>
        <p:txBody>
          <a:bodyPr wrap="square" lIns="0" rIns="0" tIns="0" bIns="0" anchor="t">
            <a:noAutofit/>
          </a:bodyPr>
          <a:lstStyle/>
          <a:p>
            <a:pPr algn="l"/>
            <a:r>
              <a:rPr sz="1400" b="1">
                <a:solidFill>
                  <a:srgbClr val="18212B"/>
                </a:solidFill>
                <a:latin typeface="Malgun Gothic"/>
              </a:rPr>
              <a:t>Sanity checks on the browser workflow</a:t>
            </a:r>
          </a:p>
        </p:txBody>
      </p:sp>
      <p:sp>
        <p:nvSpPr>
          <p:cNvPr id="22" name="TextBox 21"/>
          <p:cNvSpPr txBox="1"/>
          <p:nvPr/>
        </p:nvSpPr>
        <p:spPr>
          <a:xfrm>
            <a:off x="896112" y="5596128"/>
            <a:ext cx="10424160" cy="411480"/>
          </a:xfrm>
          <a:prstGeom prst="rect">
            <a:avLst/>
          </a:prstGeom>
          <a:noFill/>
        </p:spPr>
        <p:txBody>
          <a:bodyPr wrap="square" lIns="0" rIns="0" tIns="0" bIns="0" anchor="t">
            <a:noAutofit/>
          </a:bodyPr>
          <a:lstStyle/>
          <a:p>
            <a:pPr algn="l">
              <a:lnSpc>
                <a:spcPct val="110000"/>
              </a:lnSpc>
            </a:pPr>
            <a:r>
              <a:rPr sz="1200" b="0">
                <a:solidFill>
                  <a:srgbClr val="52565B"/>
                </a:solidFill>
                <a:latin typeface="Malgun Gothic"/>
              </a:rPr>
              <a:t>A known enzyme returns strong, mutually consistent hits from all three methods. An unrelated non-enzyme returns nothing. "No hit" means this reference set has no detectable relative. It does not mean the protein is not an enzyme, and the page says so.</a:t>
            </a:r>
          </a:p>
        </p:txBody>
      </p:sp>
      <p:cxnSp>
        <p:nvCxnSpPr>
          <p:cNvPr id="23" name="Connector 22"/>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DOES IT WORK</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Rebuilt on real Swiss-Prot and PDB data</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8</a:t>
            </a:r>
          </a:p>
        </p:txBody>
      </p:sp>
      <p:sp>
        <p:nvSpPr>
          <p:cNvPr id="6" name="Rounded Rectangle 5"/>
          <p:cNvSpPr/>
          <p:nvPr/>
        </p:nvSpPr>
        <p:spPr>
          <a:xfrm>
            <a:off x="658368" y="1371600"/>
            <a:ext cx="329184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371600"/>
            <a:ext cx="82296" cy="1042415"/>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99616"/>
            <a:ext cx="2971800" cy="384048"/>
          </a:xfrm>
          <a:prstGeom prst="rect">
            <a:avLst/>
          </a:prstGeom>
          <a:noFill/>
        </p:spPr>
        <p:txBody>
          <a:bodyPr wrap="square" lIns="0" rIns="0" tIns="0" bIns="0" anchor="t">
            <a:noAutofit/>
          </a:bodyPr>
          <a:lstStyle/>
          <a:p>
            <a:pPr algn="l"/>
            <a:r>
              <a:rPr sz="2400" b="1">
                <a:solidFill>
                  <a:srgbClr val="B71A1A"/>
                </a:solidFill>
                <a:latin typeface="Malgun Gothic"/>
              </a:rPr>
              <a:t>272,112</a:t>
            </a:r>
          </a:p>
        </p:txBody>
      </p:sp>
      <p:sp>
        <p:nvSpPr>
          <p:cNvPr id="9" name="TextBox 8"/>
          <p:cNvSpPr txBox="1"/>
          <p:nvPr/>
        </p:nvSpPr>
        <p:spPr>
          <a:xfrm>
            <a:off x="868680" y="1901952"/>
            <a:ext cx="2971800" cy="256032"/>
          </a:xfrm>
          <a:prstGeom prst="rect">
            <a:avLst/>
          </a:prstGeom>
          <a:noFill/>
        </p:spPr>
        <p:txBody>
          <a:bodyPr wrap="square" lIns="0" rIns="0" tIns="0" bIns="0" anchor="t">
            <a:noAutofit/>
          </a:bodyPr>
          <a:lstStyle/>
          <a:p>
            <a:pPr algn="l"/>
            <a:r>
              <a:rPr sz="1150" b="1">
                <a:solidFill>
                  <a:srgbClr val="18212B"/>
                </a:solidFill>
                <a:latin typeface="Malgun Gothic"/>
              </a:rPr>
              <a:t>references built</a:t>
            </a:r>
          </a:p>
        </p:txBody>
      </p:sp>
      <p:sp>
        <p:nvSpPr>
          <p:cNvPr id="10" name="TextBox 9"/>
          <p:cNvSpPr txBox="1"/>
          <p:nvPr/>
        </p:nvSpPr>
        <p:spPr>
          <a:xfrm>
            <a:off x="868680" y="2167128"/>
            <a:ext cx="2971800" cy="164592"/>
          </a:xfrm>
          <a:prstGeom prst="rect">
            <a:avLst/>
          </a:prstGeom>
          <a:noFill/>
        </p:spPr>
        <p:txBody>
          <a:bodyPr wrap="square" lIns="0" rIns="0" tIns="0" bIns="0" anchor="t">
            <a:noAutofit/>
          </a:bodyPr>
          <a:lstStyle/>
          <a:p>
            <a:pPr algn="l"/>
            <a:r>
              <a:rPr sz="850" b="0">
                <a:solidFill>
                  <a:srgbClr val="667085"/>
                </a:solidFill>
                <a:latin typeface="Malgun Gothic"/>
              </a:rPr>
              <a:t>Swiss-Prot + PDB, public proxy dataset</a:t>
            </a:r>
          </a:p>
        </p:txBody>
      </p:sp>
      <p:sp>
        <p:nvSpPr>
          <p:cNvPr id="11" name="Rounded Rectangle 10"/>
          <p:cNvSpPr/>
          <p:nvPr/>
        </p:nvSpPr>
        <p:spPr>
          <a:xfrm>
            <a:off x="4114800" y="1371600"/>
            <a:ext cx="329184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0" y="1371600"/>
            <a:ext cx="82296" cy="1042415"/>
          </a:xfrm>
          <a:prstGeom prst="rect">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25112" y="1499616"/>
            <a:ext cx="2971800" cy="384048"/>
          </a:xfrm>
          <a:prstGeom prst="rect">
            <a:avLst/>
          </a:prstGeom>
          <a:noFill/>
        </p:spPr>
        <p:txBody>
          <a:bodyPr wrap="square" lIns="0" rIns="0" tIns="0" bIns="0" anchor="t">
            <a:noAutofit/>
          </a:bodyPr>
          <a:lstStyle/>
          <a:p>
            <a:pPr algn="l"/>
            <a:r>
              <a:rPr sz="2400" b="1">
                <a:solidFill>
                  <a:srgbClr val="52565B"/>
                </a:solidFill>
                <a:latin typeface="Malgun Gothic"/>
              </a:rPr>
              <a:t>~4.5 min</a:t>
            </a:r>
          </a:p>
        </p:txBody>
      </p:sp>
      <p:sp>
        <p:nvSpPr>
          <p:cNvPr id="14" name="TextBox 13"/>
          <p:cNvSpPr txBox="1"/>
          <p:nvPr/>
        </p:nvSpPr>
        <p:spPr>
          <a:xfrm>
            <a:off x="4325112" y="1901952"/>
            <a:ext cx="2971800" cy="256032"/>
          </a:xfrm>
          <a:prstGeom prst="rect">
            <a:avLst/>
          </a:prstGeom>
          <a:noFill/>
        </p:spPr>
        <p:txBody>
          <a:bodyPr wrap="square" lIns="0" rIns="0" tIns="0" bIns="0" anchor="t">
            <a:noAutofit/>
          </a:bodyPr>
          <a:lstStyle/>
          <a:p>
            <a:pPr algn="l"/>
            <a:r>
              <a:rPr sz="1150" b="1">
                <a:solidFill>
                  <a:srgbClr val="18212B"/>
                </a:solidFill>
                <a:latin typeface="Malgun Gothic"/>
              </a:rPr>
              <a:t>full offline build</a:t>
            </a:r>
          </a:p>
        </p:txBody>
      </p:sp>
      <p:sp>
        <p:nvSpPr>
          <p:cNvPr id="15" name="TextBox 14"/>
          <p:cNvSpPr txBox="1"/>
          <p:nvPr/>
        </p:nvSpPr>
        <p:spPr>
          <a:xfrm>
            <a:off x="4325112" y="2167128"/>
            <a:ext cx="2971800" cy="164592"/>
          </a:xfrm>
          <a:prstGeom prst="rect">
            <a:avLst/>
          </a:prstGeom>
          <a:noFill/>
        </p:spPr>
        <p:txBody>
          <a:bodyPr wrap="square" lIns="0" rIns="0" tIns="0" bIns="0" anchor="t">
            <a:noAutofit/>
          </a:bodyPr>
          <a:lstStyle/>
          <a:p>
            <a:pPr algn="l"/>
            <a:r>
              <a:rPr sz="850" b="0">
                <a:solidFill>
                  <a:srgbClr val="667085"/>
                </a:solidFill>
                <a:latin typeface="Malgun Gothic"/>
              </a:rPr>
              <a:t>one-time, not per request</a:t>
            </a:r>
          </a:p>
        </p:txBody>
      </p:sp>
      <p:sp>
        <p:nvSpPr>
          <p:cNvPr id="16" name="Rounded Rectangle 15"/>
          <p:cNvSpPr/>
          <p:nvPr/>
        </p:nvSpPr>
        <p:spPr>
          <a:xfrm>
            <a:off x="7571231" y="1371600"/>
            <a:ext cx="3968496"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71231" y="1371600"/>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81544" y="1499616"/>
            <a:ext cx="3648456" cy="384048"/>
          </a:xfrm>
          <a:prstGeom prst="rect">
            <a:avLst/>
          </a:prstGeom>
          <a:noFill/>
        </p:spPr>
        <p:txBody>
          <a:bodyPr wrap="square" lIns="0" rIns="0" tIns="0" bIns="0" anchor="t">
            <a:noAutofit/>
          </a:bodyPr>
          <a:lstStyle/>
          <a:p>
            <a:pPr algn="l"/>
            <a:r>
              <a:rPr sz="2400" b="1">
                <a:solidFill>
                  <a:srgbClr val="167C5A"/>
                </a:solidFill>
                <a:latin typeface="Malgun Gothic"/>
              </a:rPr>
              <a:t>0</a:t>
            </a:r>
          </a:p>
        </p:txBody>
      </p:sp>
      <p:sp>
        <p:nvSpPr>
          <p:cNvPr id="19" name="TextBox 18"/>
          <p:cNvSpPr txBox="1"/>
          <p:nvPr/>
        </p:nvSpPr>
        <p:spPr>
          <a:xfrm>
            <a:off x="7781544" y="1901952"/>
            <a:ext cx="3648456" cy="256032"/>
          </a:xfrm>
          <a:prstGeom prst="rect">
            <a:avLst/>
          </a:prstGeom>
          <a:noFill/>
        </p:spPr>
        <p:txBody>
          <a:bodyPr wrap="square" lIns="0" rIns="0" tIns="0" bIns="0" anchor="t">
            <a:noAutofit/>
          </a:bodyPr>
          <a:lstStyle/>
          <a:p>
            <a:pPr algn="l"/>
            <a:r>
              <a:rPr sz="1150" b="1">
                <a:solidFill>
                  <a:srgbClr val="18212B"/>
                </a:solidFill>
                <a:latin typeface="Malgun Gothic"/>
              </a:rPr>
              <a:t>changes to the search code</a:t>
            </a:r>
          </a:p>
        </p:txBody>
      </p:sp>
      <p:sp>
        <p:nvSpPr>
          <p:cNvPr id="20" name="TextBox 19"/>
          <p:cNvSpPr txBox="1"/>
          <p:nvPr/>
        </p:nvSpPr>
        <p:spPr>
          <a:xfrm>
            <a:off x="7781544" y="2167128"/>
            <a:ext cx="3648456" cy="164592"/>
          </a:xfrm>
          <a:prstGeom prst="rect">
            <a:avLst/>
          </a:prstGeom>
          <a:noFill/>
        </p:spPr>
        <p:txBody>
          <a:bodyPr wrap="square" lIns="0" rIns="0" tIns="0" bIns="0" anchor="t">
            <a:noAutofit/>
          </a:bodyPr>
          <a:lstStyle/>
          <a:p>
            <a:pPr algn="l"/>
            <a:r>
              <a:rPr sz="850" b="0">
                <a:solidFill>
                  <a:srgbClr val="667085"/>
                </a:solidFill>
                <a:latin typeface="Malgun Gothic"/>
              </a:rPr>
              <a:t>only a new loader script</a:t>
            </a:r>
          </a:p>
        </p:txBody>
      </p:sp>
      <p:sp>
        <p:nvSpPr>
          <p:cNvPr id="21" name="Rounded Rectangle 20"/>
          <p:cNvSpPr/>
          <p:nvPr/>
        </p:nvSpPr>
        <p:spPr>
          <a:xfrm>
            <a:off x="658368" y="2697480"/>
            <a:ext cx="5285232" cy="3108960"/>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6112" y="2907792"/>
            <a:ext cx="2194560" cy="310896"/>
          </a:xfrm>
          <a:prstGeom prst="roundRect">
            <a:avLst/>
          </a:prstGeom>
          <a:solidFill>
            <a:srgbClr val="FFFFFF"/>
          </a:solidFill>
          <a:ln w="8890">
            <a:solidFill>
              <a:srgbClr val="A76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2916936"/>
            <a:ext cx="2121408" cy="256032"/>
          </a:xfrm>
          <a:prstGeom prst="rect">
            <a:avLst/>
          </a:prstGeom>
          <a:noFill/>
        </p:spPr>
        <p:txBody>
          <a:bodyPr wrap="square" lIns="0" rIns="0" tIns="0" bIns="0" anchor="ctr">
            <a:noAutofit/>
          </a:bodyPr>
          <a:lstStyle/>
          <a:p>
            <a:pPr algn="ctr"/>
            <a:r>
              <a:rPr sz="1050" b="1">
                <a:solidFill>
                  <a:srgbClr val="A76500"/>
                </a:solidFill>
                <a:latin typeface="Malgun Gothic"/>
              </a:rPr>
              <a:t>WHAT REAL DATA EXPOSED</a:t>
            </a:r>
          </a:p>
        </p:txBody>
      </p:sp>
      <p:sp>
        <p:nvSpPr>
          <p:cNvPr id="24" name="TextBox 23"/>
          <p:cNvSpPr txBox="1"/>
          <p:nvPr/>
        </p:nvSpPr>
        <p:spPr>
          <a:xfrm>
            <a:off x="896112" y="3364992"/>
            <a:ext cx="4809744" cy="347472"/>
          </a:xfrm>
          <a:prstGeom prst="rect">
            <a:avLst/>
          </a:prstGeom>
          <a:noFill/>
        </p:spPr>
        <p:txBody>
          <a:bodyPr wrap="square" lIns="0" rIns="0" tIns="0" bIns="0" anchor="t">
            <a:noAutofit/>
          </a:bodyPr>
          <a:lstStyle/>
          <a:p>
            <a:pPr algn="l"/>
            <a:r>
              <a:rPr sz="1800" b="1">
                <a:solidFill>
                  <a:srgbClr val="A76500"/>
                </a:solidFill>
                <a:latin typeface="Malgun Gothic"/>
              </a:rPr>
              <a:t>A trap the small test set could not show</a:t>
            </a:r>
          </a:p>
        </p:txBody>
      </p:sp>
      <p:sp>
        <p:nvSpPr>
          <p:cNvPr id="25" name="TextBox 24"/>
          <p:cNvSpPr txBox="1"/>
          <p:nvPr/>
        </p:nvSpPr>
        <p:spPr>
          <a:xfrm>
            <a:off x="896112" y="3822191"/>
            <a:ext cx="4809744" cy="1828800"/>
          </a:xfrm>
          <a:prstGeom prst="rect">
            <a:avLst/>
          </a:prstGeom>
          <a:noFill/>
        </p:spPr>
        <p:txBody>
          <a:bodyPr wrap="square" lIns="18288" rIns="18288" tIns="18288" bIns="18288">
            <a:noAutofit/>
          </a:bodyPr>
          <a:lstStyle/>
          <a:p>
            <a:pPr>
              <a:lnSpc>
                <a:spcPct val="105000"/>
              </a:lnSpc>
              <a:spcAft>
                <a:spcPts val="600"/>
              </a:spcAft>
            </a:pPr>
            <a:r>
              <a:rPr sz="1250">
                <a:solidFill>
                  <a:srgbClr val="18212B"/>
                </a:solidFill>
                <a:latin typeface="Malgun Gothic"/>
              </a:rPr>
              <a:t>•  GFP is the jellyfish protein that glows green. It is not an enzyme.</a:t>
            </a:r>
          </a:p>
          <a:p>
            <a:pPr>
              <a:lnSpc>
                <a:spcPct val="105000"/>
              </a:lnSpc>
              <a:spcAft>
                <a:spcPts val="600"/>
              </a:spcAft>
            </a:pPr>
            <a:r>
              <a:rPr sz="1250">
                <a:solidFill>
                  <a:srgbClr val="18212B"/>
                </a:solidFill>
                <a:latin typeface="Malgun Gothic"/>
              </a:rPr>
              <a:t>•  On real data it returns 25 near-perfect BLAST hits.</a:t>
            </a:r>
          </a:p>
          <a:p>
            <a:pPr>
              <a:lnSpc>
                <a:spcPct val="105000"/>
              </a:lnSpc>
              <a:spcAft>
                <a:spcPts val="600"/>
              </a:spcAft>
            </a:pPr>
            <a:r>
              <a:rPr sz="1250">
                <a:solidFill>
                  <a:srgbClr val="18212B"/>
                </a:solidFill>
                <a:latin typeface="Malgun Gothic"/>
              </a:rPr>
              <a:t>•  All of them are PDB structures where GFP was glued onto another protein for imaging.</a:t>
            </a:r>
          </a:p>
          <a:p>
            <a:pPr>
              <a:lnSpc>
                <a:spcPct val="105000"/>
              </a:lnSpc>
              <a:spcAft>
                <a:spcPts val="600"/>
              </a:spcAft>
            </a:pPr>
            <a:r>
              <a:rPr sz="1250">
                <a:solidFill>
                  <a:srgbClr val="18212B"/>
                </a:solidFill>
                <a:latin typeface="Malgun Gothic"/>
              </a:rPr>
              <a:t>•  15 carry an EC number, spanning eight different values. None belong to GFP.</a:t>
            </a:r>
          </a:p>
        </p:txBody>
      </p:sp>
      <p:sp>
        <p:nvSpPr>
          <p:cNvPr id="26" name="Rounded Rectangle 25"/>
          <p:cNvSpPr/>
          <p:nvPr/>
        </p:nvSpPr>
        <p:spPr>
          <a:xfrm>
            <a:off x="6245352" y="2697480"/>
            <a:ext cx="5294376" cy="310896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83096" y="2907792"/>
            <a:ext cx="2514600" cy="310896"/>
          </a:xfrm>
          <a:prstGeom prst="roundRect">
            <a:avLst/>
          </a:prstGeom>
          <a:solidFill>
            <a:srgbClr val="FFFFFF"/>
          </a:solidFill>
          <a:ln w="8890">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19672" y="2916936"/>
            <a:ext cx="2441448" cy="256032"/>
          </a:xfrm>
          <a:prstGeom prst="rect">
            <a:avLst/>
          </a:prstGeom>
          <a:noFill/>
        </p:spPr>
        <p:txBody>
          <a:bodyPr wrap="square" lIns="0" rIns="0" tIns="0" bIns="0" anchor="ctr">
            <a:noAutofit/>
          </a:bodyPr>
          <a:lstStyle/>
          <a:p>
            <a:pPr algn="ctr"/>
            <a:r>
              <a:rPr sz="1050" b="1">
                <a:solidFill>
                  <a:srgbClr val="176B87"/>
                </a:solidFill>
                <a:latin typeface="Malgun Gothic"/>
              </a:rPr>
              <a:t>THE PAGE ALREADY CATCHES IT</a:t>
            </a:r>
          </a:p>
        </p:txBody>
      </p:sp>
      <p:sp>
        <p:nvSpPr>
          <p:cNvPr id="29" name="TextBox 28"/>
          <p:cNvSpPr txBox="1"/>
          <p:nvPr/>
        </p:nvSpPr>
        <p:spPr>
          <a:xfrm>
            <a:off x="6483096" y="3364992"/>
            <a:ext cx="4809744" cy="347472"/>
          </a:xfrm>
          <a:prstGeom prst="rect">
            <a:avLst/>
          </a:prstGeom>
          <a:noFill/>
        </p:spPr>
        <p:txBody>
          <a:bodyPr wrap="square" lIns="0" rIns="0" tIns="0" bIns="0" anchor="t">
            <a:noAutofit/>
          </a:bodyPr>
          <a:lstStyle/>
          <a:p>
            <a:pPr algn="l"/>
            <a:r>
              <a:rPr sz="1800" b="1">
                <a:solidFill>
                  <a:srgbClr val="176B87"/>
                </a:solidFill>
                <a:latin typeface="Malgun Gothic"/>
              </a:rPr>
              <a:t>Full query, partial subject</a:t>
            </a:r>
          </a:p>
        </p:txBody>
      </p:sp>
      <p:sp>
        <p:nvSpPr>
          <p:cNvPr id="30" name="TextBox 29"/>
          <p:cNvSpPr txBox="1"/>
          <p:nvPr/>
        </p:nvSpPr>
        <p:spPr>
          <a:xfrm>
            <a:off x="6483096" y="3822191"/>
            <a:ext cx="4809744" cy="1828800"/>
          </a:xfrm>
          <a:prstGeom prst="rect">
            <a:avLst/>
          </a:prstGeom>
          <a:noFill/>
        </p:spPr>
        <p:txBody>
          <a:bodyPr wrap="square" lIns="18288" rIns="18288" tIns="18288" bIns="18288">
            <a:noAutofit/>
          </a:bodyPr>
          <a:lstStyle/>
          <a:p>
            <a:pPr>
              <a:lnSpc>
                <a:spcPct val="105000"/>
              </a:lnSpc>
              <a:spcAft>
                <a:spcPts val="600"/>
              </a:spcAft>
            </a:pPr>
            <a:r>
              <a:rPr sz="1250">
                <a:solidFill>
                  <a:srgbClr val="18212B"/>
                </a:solidFill>
                <a:latin typeface="Malgun Gothic"/>
              </a:rPr>
              <a:t>•  The match covers all of the submitted sequence but only about half of the thing it matched.</a:t>
            </a:r>
          </a:p>
          <a:p>
            <a:pPr>
              <a:lnSpc>
                <a:spcPct val="105000"/>
              </a:lnSpc>
              <a:spcAft>
                <a:spcPts val="600"/>
              </a:spcAft>
            </a:pPr>
            <a:r>
              <a:rPr sz="1250">
                <a:solidFill>
                  <a:srgbClr val="18212B"/>
                </a:solidFill>
                <a:latin typeface="Malgun Gothic"/>
              </a:rPr>
              <a:t>•  That lopsidedness is the signature of matching one half of a fused protein.</a:t>
            </a:r>
          </a:p>
          <a:p>
            <a:pPr>
              <a:lnSpc>
                <a:spcPct val="105000"/>
              </a:lnSpc>
              <a:spcAft>
                <a:spcPts val="600"/>
              </a:spcAft>
            </a:pPr>
            <a:r>
              <a:rPr sz="1250">
                <a:solidFill>
                  <a:srgbClr val="18212B"/>
                </a:solidFill>
                <a:latin typeface="Malgun Gothic"/>
              </a:rPr>
              <a:t>•  BLAST does not report it, so the pipeline computes it and shows it on every row.</a:t>
            </a:r>
          </a:p>
          <a:p>
            <a:pPr>
              <a:lnSpc>
                <a:spcPct val="105000"/>
              </a:lnSpc>
              <a:spcAft>
                <a:spcPts val="600"/>
              </a:spcAft>
            </a:pPr>
            <a:r>
              <a:rPr sz="1250">
                <a:solidFill>
                  <a:srgbClr val="18212B"/>
                </a:solidFill>
                <a:latin typeface="Malgun Gothic"/>
              </a:rPr>
              <a:t>•  Without it, the page would hand the user the wrong protein's EC number with full confidence.</a:t>
            </a:r>
          </a:p>
        </p:txBody>
      </p:sp>
      <p:cxnSp>
        <p:nvCxnSpPr>
          <p:cNvPr id="31" name="Connector 30"/>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WHAT'S NEXT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Next steps, and what I need to start them</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9</a:t>
            </a:r>
          </a:p>
        </p:txBody>
      </p:sp>
      <p:sp>
        <p:nvSpPr>
          <p:cNvPr id="6" name="Oval 5"/>
          <p:cNvSpPr/>
          <p:nvPr/>
        </p:nvSpPr>
        <p:spPr>
          <a:xfrm>
            <a:off x="749808" y="1508760"/>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581912"/>
            <a:ext cx="438912"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cxnSp>
        <p:nvCxnSpPr>
          <p:cNvPr id="8" name="Connector 7"/>
          <p:cNvCxnSpPr/>
          <p:nvPr/>
        </p:nvCxnSpPr>
        <p:spPr>
          <a:xfrm>
            <a:off x="978408" y="1984248"/>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1417320"/>
            <a:ext cx="6309360" cy="274320"/>
          </a:xfrm>
          <a:prstGeom prst="rect">
            <a:avLst/>
          </a:prstGeom>
          <a:noFill/>
        </p:spPr>
        <p:txBody>
          <a:bodyPr wrap="square" lIns="0" rIns="0" tIns="0" bIns="0" anchor="t">
            <a:noAutofit/>
          </a:bodyPr>
          <a:lstStyle/>
          <a:p>
            <a:pPr algn="l"/>
            <a:r>
              <a:rPr sz="1500" b="1">
                <a:solidFill>
                  <a:srgbClr val="B71A1A"/>
                </a:solidFill>
                <a:latin typeface="Malgun Gothic"/>
              </a:rPr>
              <a:t>Get access</a:t>
            </a:r>
          </a:p>
        </p:txBody>
      </p:sp>
      <p:sp>
        <p:nvSpPr>
          <p:cNvPr id="10" name="TextBox 9"/>
          <p:cNvSpPr txBox="1"/>
          <p:nvPr/>
        </p:nvSpPr>
        <p:spPr>
          <a:xfrm>
            <a:off x="1417320" y="1746504"/>
            <a:ext cx="6309360" cy="411480"/>
          </a:xfrm>
          <a:prstGeom prst="rect">
            <a:avLst/>
          </a:prstGeom>
          <a:noFill/>
        </p:spPr>
        <p:txBody>
          <a:bodyPr wrap="square" lIns="0" rIns="0" tIns="0" bIns="0" anchor="t">
            <a:noAutofit/>
          </a:bodyPr>
          <a:lstStyle/>
          <a:p>
            <a:pPr algn="l"/>
            <a:r>
              <a:rPr sz="1150" b="0">
                <a:solidFill>
                  <a:srgbClr val="52565B"/>
                </a:solidFill>
                <a:latin typeface="Malgun Gothic"/>
              </a:rPr>
              <a:t>Read-only access to the copied database and to the EnzymeX repository. Everything below is blocked on this.</a:t>
            </a:r>
          </a:p>
        </p:txBody>
      </p:sp>
      <p:sp>
        <p:nvSpPr>
          <p:cNvPr id="11" name="Oval 10"/>
          <p:cNvSpPr/>
          <p:nvPr/>
        </p:nvSpPr>
        <p:spPr>
          <a:xfrm>
            <a:off x="749808" y="2624328"/>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697480"/>
            <a:ext cx="438912"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cxnSp>
        <p:nvCxnSpPr>
          <p:cNvPr id="13" name="Connector 12"/>
          <p:cNvCxnSpPr/>
          <p:nvPr/>
        </p:nvCxnSpPr>
        <p:spPr>
          <a:xfrm>
            <a:off x="978408" y="3099816"/>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17320" y="2532888"/>
            <a:ext cx="6309360" cy="274320"/>
          </a:xfrm>
          <a:prstGeom prst="rect">
            <a:avLst/>
          </a:prstGeom>
          <a:noFill/>
        </p:spPr>
        <p:txBody>
          <a:bodyPr wrap="square" lIns="0" rIns="0" tIns="0" bIns="0" anchor="t">
            <a:noAutofit/>
          </a:bodyPr>
          <a:lstStyle/>
          <a:p>
            <a:pPr algn="l"/>
            <a:r>
              <a:rPr sz="1500" b="1">
                <a:solidFill>
                  <a:srgbClr val="52565B"/>
                </a:solidFill>
                <a:latin typeface="Malgun Gothic"/>
              </a:rPr>
              <a:t>Check the real schema</a:t>
            </a:r>
          </a:p>
        </p:txBody>
      </p:sp>
      <p:sp>
        <p:nvSpPr>
          <p:cNvPr id="15" name="TextBox 14"/>
          <p:cNvSpPr txBox="1"/>
          <p:nvPr/>
        </p:nvSpPr>
        <p:spPr>
          <a:xfrm>
            <a:off x="1417320" y="2862072"/>
            <a:ext cx="6309360" cy="411480"/>
          </a:xfrm>
          <a:prstGeom prst="rect">
            <a:avLst/>
          </a:prstGeom>
          <a:noFill/>
        </p:spPr>
        <p:txBody>
          <a:bodyPr wrap="square" lIns="0" rIns="0" tIns="0" bIns="0" anchor="t">
            <a:noAutofit/>
          </a:bodyPr>
          <a:lstStyle/>
          <a:p>
            <a:pPr algn="l"/>
            <a:r>
              <a:rPr sz="1150" b="0">
                <a:solidFill>
                  <a:srgbClr val="52565B"/>
                </a:solidFill>
                <a:latin typeface="Malgun Gothic"/>
              </a:rPr>
              <a:t>Confirm column names, a stable key and the actual source labels. My code was written against documentation, not the real table.</a:t>
            </a:r>
          </a:p>
        </p:txBody>
      </p:sp>
      <p:sp>
        <p:nvSpPr>
          <p:cNvPr id="16" name="Oval 15"/>
          <p:cNvSpPr/>
          <p:nvPr/>
        </p:nvSpPr>
        <p:spPr>
          <a:xfrm>
            <a:off x="749808" y="37398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38130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cxnSp>
        <p:nvCxnSpPr>
          <p:cNvPr id="18" name="Connector 17"/>
          <p:cNvCxnSpPr/>
          <p:nvPr/>
        </p:nvCxnSpPr>
        <p:spPr>
          <a:xfrm>
            <a:off x="978408" y="4215384"/>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417320" y="3648456"/>
            <a:ext cx="6309360" cy="274320"/>
          </a:xfrm>
          <a:prstGeom prst="rect">
            <a:avLst/>
          </a:prstGeom>
          <a:noFill/>
        </p:spPr>
        <p:txBody>
          <a:bodyPr wrap="square" lIns="0" rIns="0" tIns="0" bIns="0" anchor="t">
            <a:noAutofit/>
          </a:bodyPr>
          <a:lstStyle/>
          <a:p>
            <a:pPr algn="l"/>
            <a:r>
              <a:rPr sz="1500" b="1">
                <a:solidFill>
                  <a:srgbClr val="52565B"/>
                </a:solidFill>
                <a:latin typeface="Malgun Gothic"/>
              </a:rPr>
              <a:t>Rebuild on the real copy</a:t>
            </a:r>
          </a:p>
        </p:txBody>
      </p:sp>
      <p:sp>
        <p:nvSpPr>
          <p:cNvPr id="20" name="TextBox 19"/>
          <p:cNvSpPr txBox="1"/>
          <p:nvPr/>
        </p:nvSpPr>
        <p:spPr>
          <a:xfrm>
            <a:off x="1417320" y="3977640"/>
            <a:ext cx="6309360" cy="411480"/>
          </a:xfrm>
          <a:prstGeom prst="rect">
            <a:avLst/>
          </a:prstGeom>
          <a:noFill/>
        </p:spPr>
        <p:txBody>
          <a:bodyPr wrap="square" lIns="0" rIns="0" tIns="0" bIns="0" anchor="t">
            <a:noAutofit/>
          </a:bodyPr>
          <a:lstStyle/>
          <a:p>
            <a:pPr algn="l"/>
            <a:r>
              <a:rPr sz="1150" b="0">
                <a:solidFill>
                  <a:srgbClr val="52565B"/>
                </a:solidFill>
                <a:latin typeface="Malgun Gothic"/>
              </a:rPr>
              <a:t>Run the same pipeline against genuine EnzymeX data and re-measure. Current figures come from a stand-in dataset.</a:t>
            </a:r>
          </a:p>
        </p:txBody>
      </p:sp>
      <p:sp>
        <p:nvSpPr>
          <p:cNvPr id="21" name="Oval 20"/>
          <p:cNvSpPr/>
          <p:nvPr/>
        </p:nvSpPr>
        <p:spPr>
          <a:xfrm>
            <a:off x="749808" y="4855464"/>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928616"/>
            <a:ext cx="438912"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sp>
        <p:nvSpPr>
          <p:cNvPr id="23" name="TextBox 22"/>
          <p:cNvSpPr txBox="1"/>
          <p:nvPr/>
        </p:nvSpPr>
        <p:spPr>
          <a:xfrm>
            <a:off x="1417320" y="4764024"/>
            <a:ext cx="6309360" cy="274320"/>
          </a:xfrm>
          <a:prstGeom prst="rect">
            <a:avLst/>
          </a:prstGeom>
          <a:noFill/>
        </p:spPr>
        <p:txBody>
          <a:bodyPr wrap="square" lIns="0" rIns="0" tIns="0" bIns="0" anchor="t">
            <a:noAutofit/>
          </a:bodyPr>
          <a:lstStyle/>
          <a:p>
            <a:pPr algn="l"/>
            <a:r>
              <a:rPr sz="1500" b="1">
                <a:solidFill>
                  <a:srgbClr val="52565B"/>
                </a:solidFill>
                <a:latin typeface="Malgun Gothic"/>
              </a:rPr>
              <a:t>Wire into the existing job</a:t>
            </a:r>
          </a:p>
        </p:txBody>
      </p:sp>
      <p:sp>
        <p:nvSpPr>
          <p:cNvPr id="24" name="TextBox 23"/>
          <p:cNvSpPr txBox="1"/>
          <p:nvPr/>
        </p:nvSpPr>
        <p:spPr>
          <a:xfrm>
            <a:off x="1417320" y="5093208"/>
            <a:ext cx="6309360" cy="411480"/>
          </a:xfrm>
          <a:prstGeom prst="rect">
            <a:avLst/>
          </a:prstGeom>
          <a:noFill/>
        </p:spPr>
        <p:txBody>
          <a:bodyPr wrap="square" lIns="0" rIns="0" tIns="0" bIns="0" anchor="t">
            <a:noAutofit/>
          </a:bodyPr>
          <a:lstStyle/>
          <a:p>
            <a:pPr algn="l"/>
            <a:r>
              <a:rPr sz="1150" b="0">
                <a:solidFill>
                  <a:srgbClr val="52565B"/>
                </a:solidFill>
                <a:latin typeface="Malgun Gothic"/>
              </a:rPr>
              <a:t>Run the searches as extra steps in the scheduler that already runs ECPICK, HIT-EC and CLEAN, and add the tables to the result page.</a:t>
            </a:r>
          </a:p>
        </p:txBody>
      </p:sp>
      <p:sp>
        <p:nvSpPr>
          <p:cNvPr id="25" name="Rounded Rectangle 24"/>
          <p:cNvSpPr/>
          <p:nvPr/>
        </p:nvSpPr>
        <p:spPr>
          <a:xfrm>
            <a:off x="8485632" y="1371600"/>
            <a:ext cx="3054096" cy="4828032"/>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59952" y="1627632"/>
            <a:ext cx="2560320" cy="457200"/>
          </a:xfrm>
          <a:prstGeom prst="rect">
            <a:avLst/>
          </a:prstGeom>
          <a:noFill/>
        </p:spPr>
        <p:txBody>
          <a:bodyPr wrap="square" lIns="0" rIns="0" tIns="0" bIns="0" anchor="t">
            <a:noAutofit/>
          </a:bodyPr>
          <a:lstStyle/>
          <a:p>
            <a:pPr algn="l"/>
            <a:r>
              <a:rPr sz="1800" b="1">
                <a:solidFill>
                  <a:srgbClr val="B71A1A"/>
                </a:solidFill>
                <a:latin typeface="Malgun Gothic"/>
              </a:rPr>
              <a:t>Decisions I need</a:t>
            </a:r>
          </a:p>
        </p:txBody>
      </p:sp>
      <p:sp>
        <p:nvSpPr>
          <p:cNvPr id="27" name="Rounded Rectangle 26"/>
          <p:cNvSpPr/>
          <p:nvPr/>
        </p:nvSpPr>
        <p:spPr>
          <a:xfrm>
            <a:off x="8741664" y="2286000"/>
            <a:ext cx="2542032" cy="96012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06256" y="2615184"/>
            <a:ext cx="292608" cy="219456"/>
          </a:xfrm>
          <a:prstGeom prst="rect">
            <a:avLst/>
          </a:prstGeom>
          <a:noFill/>
        </p:spPr>
        <p:txBody>
          <a:bodyPr wrap="square" lIns="0" rIns="0" tIns="0" bIns="0" anchor="t">
            <a:noAutofit/>
          </a:bodyPr>
          <a:lstStyle/>
          <a:p>
            <a:pPr algn="ctr"/>
            <a:r>
              <a:rPr sz="1200" b="1">
                <a:solidFill>
                  <a:srgbClr val="B71A1A"/>
                </a:solidFill>
                <a:latin typeface="Malgun Gothic"/>
              </a:rPr>
              <a:t>1</a:t>
            </a:r>
          </a:p>
        </p:txBody>
      </p:sp>
      <p:sp>
        <p:nvSpPr>
          <p:cNvPr id="29" name="TextBox 28"/>
          <p:cNvSpPr txBox="1"/>
          <p:nvPr/>
        </p:nvSpPr>
        <p:spPr>
          <a:xfrm>
            <a:off x="9272016" y="2395728"/>
            <a:ext cx="1828800" cy="777240"/>
          </a:xfrm>
          <a:prstGeom prst="rect">
            <a:avLst/>
          </a:prstGeom>
          <a:noFill/>
        </p:spPr>
        <p:txBody>
          <a:bodyPr wrap="square" lIns="0" rIns="0" tIns="0" bIns="0" anchor="ctr">
            <a:noAutofit/>
          </a:bodyPr>
          <a:lstStyle/>
          <a:p>
            <a:pPr algn="l"/>
            <a:r>
              <a:rPr sz="1100" b="1">
                <a:solidFill>
                  <a:srgbClr val="18212B"/>
                </a:solidFill>
                <a:latin typeface="Malgun Gothic"/>
              </a:rPr>
              <a:t>Can I get repository and read-only database access?</a:t>
            </a:r>
          </a:p>
        </p:txBody>
      </p:sp>
      <p:sp>
        <p:nvSpPr>
          <p:cNvPr id="30" name="Rounded Rectangle 29"/>
          <p:cNvSpPr/>
          <p:nvPr/>
        </p:nvSpPr>
        <p:spPr>
          <a:xfrm>
            <a:off x="8741664" y="3419856"/>
            <a:ext cx="2542032" cy="96012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06256" y="3749040"/>
            <a:ext cx="292608" cy="219456"/>
          </a:xfrm>
          <a:prstGeom prst="rect">
            <a:avLst/>
          </a:prstGeom>
          <a:noFill/>
        </p:spPr>
        <p:txBody>
          <a:bodyPr wrap="square" lIns="0" rIns="0" tIns="0" bIns="0" anchor="t">
            <a:noAutofit/>
          </a:bodyPr>
          <a:lstStyle/>
          <a:p>
            <a:pPr algn="ctr"/>
            <a:r>
              <a:rPr sz="1200" b="1">
                <a:solidFill>
                  <a:srgbClr val="B71A1A"/>
                </a:solidFill>
                <a:latin typeface="Malgun Gothic"/>
              </a:rPr>
              <a:t>2</a:t>
            </a:r>
          </a:p>
        </p:txBody>
      </p:sp>
      <p:sp>
        <p:nvSpPr>
          <p:cNvPr id="32" name="TextBox 31"/>
          <p:cNvSpPr txBox="1"/>
          <p:nvPr/>
        </p:nvSpPr>
        <p:spPr>
          <a:xfrm>
            <a:off x="9272016" y="3529584"/>
            <a:ext cx="1828800" cy="777240"/>
          </a:xfrm>
          <a:prstGeom prst="rect">
            <a:avLst/>
          </a:prstGeom>
          <a:noFill/>
        </p:spPr>
        <p:txBody>
          <a:bodyPr wrap="square" lIns="0" rIns="0" tIns="0" bIns="0" anchor="ctr">
            <a:noAutofit/>
          </a:bodyPr>
          <a:lstStyle/>
          <a:p>
            <a:pPr algn="l"/>
            <a:r>
              <a:rPr sz="1100" b="1">
                <a:solidFill>
                  <a:srgbClr val="18212B"/>
                </a:solidFill>
                <a:latin typeface="Malgun Gothic"/>
              </a:rPr>
              <a:t>DIAMOND and BLAST answer the same question. Show both, or pick one?</a:t>
            </a:r>
          </a:p>
        </p:txBody>
      </p:sp>
      <p:sp>
        <p:nvSpPr>
          <p:cNvPr id="33" name="Rounded Rectangle 32"/>
          <p:cNvSpPr/>
          <p:nvPr/>
        </p:nvSpPr>
        <p:spPr>
          <a:xfrm>
            <a:off x="8741664" y="4553712"/>
            <a:ext cx="2542032" cy="960120"/>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06256" y="4882896"/>
            <a:ext cx="292608" cy="219456"/>
          </a:xfrm>
          <a:prstGeom prst="rect">
            <a:avLst/>
          </a:prstGeom>
          <a:noFill/>
        </p:spPr>
        <p:txBody>
          <a:bodyPr wrap="square" lIns="0" rIns="0" tIns="0" bIns="0" anchor="t">
            <a:noAutofit/>
          </a:bodyPr>
          <a:lstStyle/>
          <a:p>
            <a:pPr algn="ctr"/>
            <a:r>
              <a:rPr sz="1200" b="1">
                <a:solidFill>
                  <a:srgbClr val="B71A1A"/>
                </a:solidFill>
                <a:latin typeface="Malgun Gothic"/>
              </a:rPr>
              <a:t>3</a:t>
            </a:r>
          </a:p>
        </p:txBody>
      </p:sp>
      <p:sp>
        <p:nvSpPr>
          <p:cNvPr id="35" name="TextBox 34"/>
          <p:cNvSpPr txBox="1"/>
          <p:nvPr/>
        </p:nvSpPr>
        <p:spPr>
          <a:xfrm>
            <a:off x="9272016" y="4663440"/>
            <a:ext cx="1828800" cy="777240"/>
          </a:xfrm>
          <a:prstGeom prst="rect">
            <a:avLst/>
          </a:prstGeom>
          <a:noFill/>
        </p:spPr>
        <p:txBody>
          <a:bodyPr wrap="square" lIns="0" rIns="0" tIns="0" bIns="0" anchor="ctr">
            <a:noAutofit/>
          </a:bodyPr>
          <a:lstStyle/>
          <a:p>
            <a:pPr algn="l"/>
            <a:r>
              <a:rPr sz="1100" b="1">
                <a:solidFill>
                  <a:srgbClr val="18212B"/>
                </a:solidFill>
                <a:latin typeface="Malgun Gothic"/>
              </a:rPr>
              <a:t>Run phmmer for every job, or keep it optional?</a:t>
            </a:r>
          </a:p>
        </p:txBody>
      </p:sp>
      <p:sp>
        <p:nvSpPr>
          <p:cNvPr id="36" name="Rounded Rectangle 35"/>
          <p:cNvSpPr/>
          <p:nvPr/>
        </p:nvSpPr>
        <p:spPr>
          <a:xfrm>
            <a:off x="8741664" y="5705856"/>
            <a:ext cx="2542032" cy="365760"/>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9680" y="5769864"/>
            <a:ext cx="2286000" cy="256032"/>
          </a:xfrm>
          <a:prstGeom prst="rect">
            <a:avLst/>
          </a:prstGeom>
          <a:noFill/>
        </p:spPr>
        <p:txBody>
          <a:bodyPr wrap="square" lIns="0" rIns="0" tIns="0" bIns="0" anchor="t">
            <a:noAutofit/>
          </a:bodyPr>
          <a:lstStyle/>
          <a:p>
            <a:pPr algn="ctr"/>
            <a:r>
              <a:rPr sz="1150" b="1">
                <a:solidFill>
                  <a:srgbClr val="B71A1A"/>
                </a:solidFill>
                <a:latin typeface="Malgun Gothic"/>
              </a:rPr>
              <a:t>Access is the blocker</a:t>
            </a:r>
          </a:p>
        </p:txBody>
      </p:sp>
      <p:cxnSp>
        <p:nvCxnSpPr>
          <p:cNvPr id="38" name="Connector 37"/>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BLAST and HMMER for EnzymeX</dc:title>
  <dc:subject>Sequence-similarity evidence on the result page</dc:subject>
  <dc:creator>Vansh Sehrawat</dc:creator>
  <cp:keywords>EnzymeX, BLAST, HMMER, Swiss-Prot, PDB</cp:keywords>
  <dc:description/>
  <cp:lastModifiedBy>Vansh Sehrawat</cp:lastModifiedBy>
  <cp:revision>1</cp:revision>
  <dcterms:created xsi:type="dcterms:W3CDTF">2026-08-02T12:00:00Z</dcterms:created>
  <dcterms:modified xsi:type="dcterms:W3CDTF">2026-08-02T12:00:00Z</dcterms:modified>
  <cp:category/>
</cp:coreProperties>
</file>